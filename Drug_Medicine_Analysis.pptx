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notesSlides/notesSlide6.xml" ContentType="application/vnd.openxmlformats-officedocument.presentationml.notesSlide+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notesSlides/notesSlide7.xml" ContentType="application/vnd.openxmlformats-officedocument.presentationml.notesSlide+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notesSlides/notesSlide8.xml" ContentType="application/vnd.openxmlformats-officedocument.presentationml.notesSlide+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7" d="100"/>
          <a:sy n="117" d="100"/>
        </p:scale>
        <p:origin x="466" y="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Worksheet8.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Worksheet9.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Worksheet10.xlsx"/></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Worksheet1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100" b="0" i="0" u="none" strike="noStrike">
                <a:solidFill>
                  <a:srgbClr val="FFFFFF"/>
                </a:solidFill>
                <a:latin typeface="Arial"/>
              </a:defRPr>
            </a:pPr>
            <a:r>
              <a:rPr lang="en-IN" sz="1100" b="0" i="0" u="none" strike="noStrike">
                <a:solidFill>
                  <a:srgbClr val="FFFFFF"/>
                </a:solidFill>
                <a:latin typeface="Arial"/>
              </a:rPr>
              <a:t>Prescription Type Breakdown</a:t>
            </a:r>
          </a:p>
        </c:rich>
      </c:tx>
      <c:overlay val="0"/>
    </c:title>
    <c:autoTitleDeleted val="0"/>
    <c:plotArea>
      <c:layout/>
      <c:doughnutChart>
        <c:varyColors val="1"/>
        <c:ser>
          <c:idx val="0"/>
          <c:order val="0"/>
          <c:tx>
            <c:strRef>
              <c:f>Sheet1!$B$1</c:f>
              <c:strCache>
                <c:ptCount val="1"/>
                <c:pt idx="0">
                  <c:v>Type</c:v>
                </c:pt>
              </c:strCache>
            </c:strRef>
          </c:tx>
          <c:spPr>
            <a:solidFill>
              <a:schemeClr val="accent1"/>
            </a:solidFill>
            <a:ln w="9525" cap="flat">
              <a:solidFill>
                <a:srgbClr val="F9F9F9"/>
              </a:solidFill>
              <a:prstDash val="solid"/>
              <a:round/>
            </a:ln>
            <a:effectLst/>
          </c:spPr>
          <c:dPt>
            <c:idx val="0"/>
            <c:bubble3D val="0"/>
            <c:spPr>
              <a:solidFill>
                <a:srgbClr val="00B4D8"/>
              </a:solidFill>
              <a:effectLst/>
            </c:spPr>
            <c:extLst>
              <c:ext xmlns:c16="http://schemas.microsoft.com/office/drawing/2014/chart" uri="{C3380CC4-5D6E-409C-BE32-E72D297353CC}">
                <c16:uniqueId val="{00000001-D911-4DB0-8E84-143D7234841D}"/>
              </c:ext>
            </c:extLst>
          </c:dPt>
          <c:dPt>
            <c:idx val="1"/>
            <c:bubble3D val="0"/>
            <c:spPr>
              <a:solidFill>
                <a:srgbClr val="10B981"/>
              </a:solidFill>
              <a:effectLst/>
            </c:spPr>
            <c:extLst>
              <c:ext xmlns:c16="http://schemas.microsoft.com/office/drawing/2014/chart" uri="{C3380CC4-5D6E-409C-BE32-E72D297353CC}">
                <c16:uniqueId val="{00000003-D911-4DB0-8E84-143D7234841D}"/>
              </c:ext>
            </c:extLst>
          </c:dPt>
          <c:dPt>
            <c:idx val="2"/>
            <c:bubble3D val="0"/>
            <c:spPr>
              <a:solidFill>
                <a:srgbClr val="F59E0B"/>
              </a:solidFill>
              <a:effectLst/>
            </c:spPr>
            <c:extLst>
              <c:ext xmlns:c16="http://schemas.microsoft.com/office/drawing/2014/chart" uri="{C3380CC4-5D6E-409C-BE32-E72D297353CC}">
                <c16:uniqueId val="{00000005-D911-4DB0-8E84-143D7234841D}"/>
              </c:ext>
            </c:extLst>
          </c:dPt>
          <c:dLbls>
            <c:dLbl>
              <c:idx val="0"/>
              <c:numFmt formatCode="0%" sourceLinked="0"/>
              <c:spPr/>
              <c:txPr>
                <a:bodyPr/>
                <a:lstStyle/>
                <a:p>
                  <a:pPr>
                    <a:defRPr sz="900" b="0" i="0" u="none" strike="noStrike">
                      <a:solidFill>
                        <a:srgbClr val="FFFFFF"/>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1-D911-4DB0-8E84-143D7234841D}"/>
                </c:ext>
              </c:extLst>
            </c:dLbl>
            <c:dLbl>
              <c:idx val="1"/>
              <c:numFmt formatCode="0%" sourceLinked="0"/>
              <c:spPr/>
              <c:txPr>
                <a:bodyPr/>
                <a:lstStyle/>
                <a:p>
                  <a:pPr>
                    <a:defRPr sz="900" b="0" i="0" u="none" strike="noStrike">
                      <a:solidFill>
                        <a:srgbClr val="FFFFFF"/>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3-D911-4DB0-8E84-143D7234841D}"/>
                </c:ext>
              </c:extLst>
            </c:dLbl>
            <c:dLbl>
              <c:idx val="2"/>
              <c:numFmt formatCode="0%" sourceLinked="0"/>
              <c:spPr/>
              <c:txPr>
                <a:bodyPr/>
                <a:lstStyle/>
                <a:p>
                  <a:pPr>
                    <a:defRPr sz="900" b="0" i="0" u="none" strike="noStrike">
                      <a:solidFill>
                        <a:srgbClr val="FFFFFF"/>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5-D911-4DB0-8E84-143D7234841D}"/>
                </c:ext>
              </c:extLst>
            </c:dLbl>
            <c:numFmt formatCode="0%" sourceLinked="0"/>
            <c:spPr>
              <a:noFill/>
              <a:ln>
                <a:noFill/>
              </a:ln>
              <a:effectLst/>
            </c:spPr>
            <c:txPr>
              <a:bodyPr/>
              <a:lstStyle/>
              <a:p>
                <a:pPr>
                  <a:defRPr sz="1800" b="0" i="0" u="none" strike="noStrike">
                    <a:solidFill>
                      <a:srgbClr val="000000"/>
                    </a:solidFill>
                    <a:latin typeface="Arial"/>
                  </a:defRPr>
                </a:pPr>
                <a:endParaRPr lang="en-US"/>
              </a:p>
            </c:txPr>
            <c:showLegendKey val="0"/>
            <c:showVal val="0"/>
            <c:showCatName val="1"/>
            <c:showSerName val="0"/>
            <c:showPercent val="1"/>
            <c:showBubbleSize val="0"/>
            <c:showLeaderLines val="0"/>
            <c:extLst>
              <c:ext xmlns:c15="http://schemas.microsoft.com/office/drawing/2012/chart" uri="{CE6537A1-D6FC-4f65-9D91-7224C49458BB}"/>
            </c:extLst>
          </c:dLbls>
          <c:cat>
            <c:strRef>
              <c:f>Sheet1!$A$2:$A$4</c:f>
              <c:strCache>
                <c:ptCount val="3"/>
                <c:pt idx="0">
                  <c:v>Prescription Only</c:v>
                </c:pt>
                <c:pt idx="1">
                  <c:v>Both</c:v>
                </c:pt>
                <c:pt idx="2">
                  <c:v>Over The Counter</c:v>
                </c:pt>
              </c:strCache>
            </c:strRef>
          </c:cat>
          <c:val>
            <c:numRef>
              <c:f>Sheet1!$B$2:$B$4</c:f>
              <c:numCache>
                <c:formatCode>General</c:formatCode>
                <c:ptCount val="3"/>
                <c:pt idx="0">
                  <c:v>1999</c:v>
                </c:pt>
                <c:pt idx="1">
                  <c:v>604</c:v>
                </c:pt>
                <c:pt idx="2">
                  <c:v>328</c:v>
                </c:pt>
              </c:numCache>
            </c:numRef>
          </c:val>
          <c:extLst>
            <c:ext xmlns:c16="http://schemas.microsoft.com/office/drawing/2014/chart" uri="{C3380CC4-5D6E-409C-BE32-E72D297353CC}">
              <c16:uniqueId val="{00000006-D911-4DB0-8E84-143D7234841D}"/>
            </c:ext>
          </c:extLst>
        </c:ser>
        <c:dLbls>
          <c:showLegendKey val="0"/>
          <c:showVal val="0"/>
          <c:showCatName val="0"/>
          <c:showSerName val="0"/>
          <c:showPercent val="0"/>
          <c:showBubbleSize val="0"/>
          <c:showLeaderLines val="0"/>
        </c:dLbls>
        <c:firstSliceAng val="0"/>
        <c:holeSize val="50"/>
      </c:doughnutChart>
      <c:spPr>
        <a:noFill/>
        <a:ln>
          <a:noFill/>
        </a:ln>
        <a:effectLst/>
      </c:spPr>
    </c:plotArea>
    <c:legend>
      <c:legendPos val="b"/>
      <c:overlay val="0"/>
      <c:txPr>
        <a:bodyPr/>
        <a:lstStyle/>
        <a:p>
          <a:pPr>
            <a:defRPr sz="800">
              <a:solidFill>
                <a:srgbClr val="94A3B8"/>
              </a:solidFill>
            </a:defRPr>
          </a:pPr>
          <a:endParaRPr lang="en-US"/>
        </a:p>
      </c:txPr>
    </c:legend>
    <c:plotVisOnly val="1"/>
    <c:dispBlanksAs val="span"/>
    <c:showDLblsOverMax val="1"/>
  </c:chart>
  <c:spPr>
    <a:solidFill>
      <a:srgbClr val="1F2937"/>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100" b="0" i="0" u="none" strike="noStrike">
                <a:solidFill>
                  <a:srgbClr val="FFFFFF"/>
                </a:solidFill>
                <a:latin typeface="Arial"/>
              </a:defRPr>
            </a:pPr>
            <a:r>
              <a:rPr lang="en-US" sz="1100" b="0" i="0" u="none" strike="noStrike">
                <a:solidFill>
                  <a:srgbClr val="FFFFFF"/>
                </a:solidFill>
                <a:latin typeface="Arial"/>
              </a:rPr>
              <a:t>Top Conditions by Drug Count</a:t>
            </a:r>
          </a:p>
        </c:rich>
      </c:tx>
      <c:overlay val="0"/>
    </c:title>
    <c:autoTitleDeleted val="0"/>
    <c:plotArea>
      <c:layout/>
      <c:barChart>
        <c:barDir val="bar"/>
        <c:grouping val="clustered"/>
        <c:varyColors val="0"/>
        <c:ser>
          <c:idx val="0"/>
          <c:order val="0"/>
          <c:tx>
            <c:strRef>
              <c:f>Sheet1!$B$1</c:f>
              <c:strCache>
                <c:ptCount val="1"/>
                <c:pt idx="0">
                  <c:v>Drugs</c:v>
                </c:pt>
              </c:strCache>
            </c:strRef>
          </c:tx>
          <c:spPr>
            <a:solidFill>
              <a:srgbClr val="00B4D8"/>
            </a:solidFill>
            <a:effectLst/>
          </c:spPr>
          <c:invertIfNegative val="0"/>
          <c:dLbls>
            <c:numFmt formatCode="#,##0" sourceLinked="0"/>
            <c:spPr>
              <a:noFill/>
              <a:ln>
                <a:noFill/>
              </a:ln>
              <a:effectLst/>
            </c:spPr>
            <c:txPr>
              <a:bodyPr/>
              <a:lstStyle/>
              <a:p>
                <a:pPr>
                  <a:defRPr sz="800" b="0" i="0" u="none" strike="noStrike">
                    <a:solidFill>
                      <a:srgbClr val="FFFFFF"/>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Pain</c:v>
                </c:pt>
                <c:pt idx="1">
                  <c:v>Colds &amp; Flu</c:v>
                </c:pt>
                <c:pt idx="2">
                  <c:v>Acne</c:v>
                </c:pt>
                <c:pt idx="3">
                  <c:v>Hypertension</c:v>
                </c:pt>
                <c:pt idx="4">
                  <c:v>Osteoarthritis</c:v>
                </c:pt>
                <c:pt idx="5">
                  <c:v>Hayfever</c:v>
                </c:pt>
                <c:pt idx="6">
                  <c:v>Eczema</c:v>
                </c:pt>
                <c:pt idx="7">
                  <c:v>AIDS/HIV</c:v>
                </c:pt>
              </c:strCache>
            </c:strRef>
          </c:cat>
          <c:val>
            <c:numRef>
              <c:f>Sheet1!$B$2:$B$9</c:f>
              <c:numCache>
                <c:formatCode>General</c:formatCode>
                <c:ptCount val="8"/>
                <c:pt idx="0">
                  <c:v>264</c:v>
                </c:pt>
                <c:pt idx="1">
                  <c:v>245</c:v>
                </c:pt>
                <c:pt idx="2">
                  <c:v>238</c:v>
                </c:pt>
                <c:pt idx="3">
                  <c:v>177</c:v>
                </c:pt>
                <c:pt idx="4">
                  <c:v>129</c:v>
                </c:pt>
                <c:pt idx="5">
                  <c:v>124</c:v>
                </c:pt>
                <c:pt idx="6">
                  <c:v>122</c:v>
                </c:pt>
                <c:pt idx="7">
                  <c:v>109</c:v>
                </c:pt>
              </c:numCache>
            </c:numRef>
          </c:val>
          <c:extLst>
            <c:ext xmlns:c16="http://schemas.microsoft.com/office/drawing/2014/chart" uri="{C3380CC4-5D6E-409C-BE32-E72D297353CC}">
              <c16:uniqueId val="{00000000-F3AB-440B-98D9-767A680E854E}"/>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800" b="0" i="0" u="none" strike="noStrike">
                <a:solidFill>
                  <a:srgbClr val="94A3B8"/>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b"/>
        <c:majorGridlines>
          <c:spPr>
            <a:ln w="6350" cap="flat">
              <a:solidFill>
                <a:srgbClr val="374151"/>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800" b="0" i="0" u="none" strike="noStrike">
                <a:solidFill>
                  <a:srgbClr val="94A3B8"/>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1F2937"/>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100" b="0" i="0" u="none" strike="noStrike">
                <a:solidFill>
                  <a:srgbClr val="FFFFFF"/>
                </a:solidFill>
                <a:latin typeface="Arial"/>
              </a:defRPr>
            </a:pPr>
            <a:r>
              <a:rPr lang="en-IN" sz="1100" b="0" i="0" u="none" strike="noStrike">
                <a:solidFill>
                  <a:srgbClr val="FFFFFF"/>
                </a:solidFill>
                <a:latin typeface="Arial"/>
              </a:rPr>
              <a:t>Top Drug Classes</a:t>
            </a:r>
          </a:p>
        </c:rich>
      </c:tx>
      <c:overlay val="0"/>
    </c:title>
    <c:autoTitleDeleted val="0"/>
    <c:plotArea>
      <c:layout/>
      <c:barChart>
        <c:barDir val="bar"/>
        <c:grouping val="clustered"/>
        <c:varyColors val="0"/>
        <c:ser>
          <c:idx val="0"/>
          <c:order val="0"/>
          <c:tx>
            <c:strRef>
              <c:f>Sheet1!$B$1</c:f>
              <c:strCache>
                <c:ptCount val="1"/>
                <c:pt idx="0">
                  <c:v>Drugs</c:v>
                </c:pt>
              </c:strCache>
            </c:strRef>
          </c:tx>
          <c:spPr>
            <a:solidFill>
              <a:srgbClr val="F59E0B"/>
            </a:solidFill>
            <a:effectLst/>
          </c:spPr>
          <c:invertIfNegative val="0"/>
          <c:dLbls>
            <c:numFmt formatCode="#,##0" sourceLinked="0"/>
            <c:spPr>
              <a:noFill/>
              <a:ln>
                <a:noFill/>
              </a:ln>
              <a:effectLst/>
            </c:spPr>
            <c:txPr>
              <a:bodyPr/>
              <a:lstStyle/>
              <a:p>
                <a:pPr>
                  <a:defRPr sz="800" b="0" i="0" u="none" strike="noStrike">
                    <a:solidFill>
                      <a:srgbClr val="FFFFFF"/>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Upper Resp.</c:v>
                </c:pt>
                <c:pt idx="1">
                  <c:v>Topical Steroids</c:v>
                </c:pt>
                <c:pt idx="2">
                  <c:v>Topical Acne</c:v>
                </c:pt>
                <c:pt idx="3">
                  <c:v>Unclassified</c:v>
                </c:pt>
                <c:pt idx="4">
                  <c:v>NSAIDs</c:v>
                </c:pt>
                <c:pt idx="5">
                  <c:v>Misc Topical</c:v>
                </c:pt>
              </c:strCache>
            </c:strRef>
          </c:cat>
          <c:val>
            <c:numRef>
              <c:f>Sheet1!$B$2:$B$7</c:f>
              <c:numCache>
                <c:formatCode>General</c:formatCode>
                <c:ptCount val="6"/>
                <c:pt idx="0">
                  <c:v>245</c:v>
                </c:pt>
                <c:pt idx="1">
                  <c:v>94</c:v>
                </c:pt>
                <c:pt idx="2">
                  <c:v>88</c:v>
                </c:pt>
                <c:pt idx="3">
                  <c:v>82</c:v>
                </c:pt>
                <c:pt idx="4">
                  <c:v>70</c:v>
                </c:pt>
                <c:pt idx="5">
                  <c:v>56</c:v>
                </c:pt>
              </c:numCache>
            </c:numRef>
          </c:val>
          <c:extLst>
            <c:ext xmlns:c16="http://schemas.microsoft.com/office/drawing/2014/chart" uri="{C3380CC4-5D6E-409C-BE32-E72D297353CC}">
              <c16:uniqueId val="{00000000-A8AC-44E2-A0FE-EB4A1BDE482A}"/>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700" b="0" i="0" u="none" strike="noStrike">
                <a:solidFill>
                  <a:srgbClr val="94A3B8"/>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b"/>
        <c:majorGridlines>
          <c:spPr>
            <a:ln w="6350" cap="flat">
              <a:solidFill>
                <a:srgbClr val="374151"/>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800" b="0" i="0" u="none" strike="noStrike">
                <a:solidFill>
                  <a:srgbClr val="94A3B8"/>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1F2937"/>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100" b="0" i="0" u="none" strike="noStrike">
                <a:solidFill>
                  <a:srgbClr val="FFFFFF"/>
                </a:solidFill>
                <a:latin typeface="Arial"/>
              </a:defRPr>
            </a:pPr>
            <a:r>
              <a:rPr lang="en-IN" sz="1100" b="0" i="0" u="none" strike="noStrike">
                <a:solidFill>
                  <a:srgbClr val="FFFFFF"/>
                </a:solidFill>
                <a:latin typeface="Arial"/>
              </a:rPr>
              <a:t>Safety Tier Breakdown</a:t>
            </a:r>
          </a:p>
        </c:rich>
      </c:tx>
      <c:overlay val="0"/>
    </c:title>
    <c:autoTitleDeleted val="0"/>
    <c:plotArea>
      <c:layout/>
      <c:barChart>
        <c:barDir val="bar"/>
        <c:grouping val="clustered"/>
        <c:varyColors val="0"/>
        <c:ser>
          <c:idx val="0"/>
          <c:order val="0"/>
          <c:tx>
            <c:strRef>
              <c:f>Sheet1!$B$1</c:f>
              <c:strCache>
                <c:ptCount val="1"/>
                <c:pt idx="0">
                  <c:v>Count</c:v>
                </c:pt>
              </c:strCache>
            </c:strRef>
          </c:tx>
          <c:spPr>
            <a:solidFill>
              <a:srgbClr val="F59E0B"/>
            </a:solidFill>
            <a:effectLst/>
          </c:spPr>
          <c:invertIfNegative val="0"/>
          <c:dPt>
            <c:idx val="0"/>
            <c:invertIfNegative val="0"/>
            <c:bubble3D val="0"/>
            <c:extLst>
              <c:ext xmlns:c16="http://schemas.microsoft.com/office/drawing/2014/chart" uri="{C3380CC4-5D6E-409C-BE32-E72D297353CC}">
                <c16:uniqueId val="{00000001-71C2-49E1-AC69-C44C6A2848E1}"/>
              </c:ext>
            </c:extLst>
          </c:dPt>
          <c:dPt>
            <c:idx val="1"/>
            <c:invertIfNegative val="0"/>
            <c:bubble3D val="0"/>
            <c:spPr>
              <a:solidFill>
                <a:srgbClr val="94A3B8"/>
              </a:solidFill>
              <a:effectLst/>
            </c:spPr>
            <c:extLst>
              <c:ext xmlns:c16="http://schemas.microsoft.com/office/drawing/2014/chart" uri="{C3380CC4-5D6E-409C-BE32-E72D297353CC}">
                <c16:uniqueId val="{00000003-71C2-49E1-AC69-C44C6A2848E1}"/>
              </c:ext>
            </c:extLst>
          </c:dPt>
          <c:dPt>
            <c:idx val="2"/>
            <c:invertIfNegative val="0"/>
            <c:bubble3D val="0"/>
            <c:spPr>
              <a:solidFill>
                <a:srgbClr val="00B4D8"/>
              </a:solidFill>
              <a:effectLst/>
            </c:spPr>
            <c:extLst>
              <c:ext xmlns:c16="http://schemas.microsoft.com/office/drawing/2014/chart" uri="{C3380CC4-5D6E-409C-BE32-E72D297353CC}">
                <c16:uniqueId val="{00000005-71C2-49E1-AC69-C44C6A2848E1}"/>
              </c:ext>
            </c:extLst>
          </c:dPt>
          <c:dPt>
            <c:idx val="3"/>
            <c:invertIfNegative val="0"/>
            <c:bubble3D val="0"/>
            <c:spPr>
              <a:solidFill>
                <a:srgbClr val="EF4444"/>
              </a:solidFill>
              <a:effectLst/>
            </c:spPr>
            <c:extLst>
              <c:ext xmlns:c16="http://schemas.microsoft.com/office/drawing/2014/chart" uri="{C3380CC4-5D6E-409C-BE32-E72D297353CC}">
                <c16:uniqueId val="{00000007-71C2-49E1-AC69-C44C6A2848E1}"/>
              </c:ext>
            </c:extLst>
          </c:dPt>
          <c:dPt>
            <c:idx val="4"/>
            <c:invertIfNegative val="0"/>
            <c:bubble3D val="0"/>
            <c:spPr>
              <a:solidFill>
                <a:srgbClr val="8B5CF6"/>
              </a:solidFill>
              <a:effectLst/>
            </c:spPr>
            <c:extLst>
              <c:ext xmlns:c16="http://schemas.microsoft.com/office/drawing/2014/chart" uri="{C3380CC4-5D6E-409C-BE32-E72D297353CC}">
                <c16:uniqueId val="{00000009-71C2-49E1-AC69-C44C6A2848E1}"/>
              </c:ext>
            </c:extLst>
          </c:dPt>
          <c:dPt>
            <c:idx val="5"/>
            <c:invertIfNegative val="0"/>
            <c:bubble3D val="0"/>
            <c:spPr>
              <a:solidFill>
                <a:srgbClr val="10B981"/>
              </a:solidFill>
              <a:effectLst/>
            </c:spPr>
            <c:extLst>
              <c:ext xmlns:c16="http://schemas.microsoft.com/office/drawing/2014/chart" uri="{C3380CC4-5D6E-409C-BE32-E72D297353CC}">
                <c16:uniqueId val="{0000000B-71C2-49E1-AC69-C44C6A2848E1}"/>
              </c:ext>
            </c:extLst>
          </c:dPt>
          <c:dLbls>
            <c:numFmt formatCode="#,##0" sourceLinked="0"/>
            <c:spPr>
              <a:noFill/>
              <a:ln>
                <a:noFill/>
              </a:ln>
              <a:effectLst/>
            </c:spPr>
            <c:txPr>
              <a:bodyPr/>
              <a:lstStyle/>
              <a:p>
                <a:pPr>
                  <a:defRPr sz="900" b="0" i="0" u="none" strike="noStrike">
                    <a:solidFill>
                      <a:srgbClr val="FFFFFF"/>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Use with Caution (C)</c:v>
                </c:pt>
                <c:pt idx="1">
                  <c:v>Not Classified</c:v>
                </c:pt>
                <c:pt idx="2">
                  <c:v>Probably Safe (B)</c:v>
                </c:pt>
                <c:pt idx="3">
                  <c:v>Risk Evidence (D)</c:v>
                </c:pt>
                <c:pt idx="4">
                  <c:v>Contraindicated (X)</c:v>
                </c:pt>
                <c:pt idx="5">
                  <c:v>Safe (A)</c:v>
                </c:pt>
              </c:strCache>
            </c:strRef>
          </c:cat>
          <c:val>
            <c:numRef>
              <c:f>Sheet1!$B$2:$B$7</c:f>
              <c:numCache>
                <c:formatCode>General</c:formatCode>
                <c:ptCount val="6"/>
                <c:pt idx="0">
                  <c:v>1382</c:v>
                </c:pt>
                <c:pt idx="1">
                  <c:v>665</c:v>
                </c:pt>
                <c:pt idx="2">
                  <c:v>509</c:v>
                </c:pt>
                <c:pt idx="3">
                  <c:v>228</c:v>
                </c:pt>
                <c:pt idx="4">
                  <c:v>129</c:v>
                </c:pt>
                <c:pt idx="5">
                  <c:v>18</c:v>
                </c:pt>
              </c:numCache>
            </c:numRef>
          </c:val>
          <c:extLst>
            <c:ext xmlns:c16="http://schemas.microsoft.com/office/drawing/2014/chart" uri="{C3380CC4-5D6E-409C-BE32-E72D297353CC}">
              <c16:uniqueId val="{0000000C-71C2-49E1-AC69-C44C6A2848E1}"/>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800" b="0" i="0" u="none" strike="noStrike">
                <a:solidFill>
                  <a:srgbClr val="94A3B8"/>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b"/>
        <c:majorGridlines>
          <c:spPr>
            <a:ln w="6350" cap="flat">
              <a:solidFill>
                <a:srgbClr val="374151"/>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94A3B8"/>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1F2937"/>
    </a:solid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100" b="0" i="0" u="none" strike="noStrike">
                <a:solidFill>
                  <a:srgbClr val="FFFFFF"/>
                </a:solidFill>
                <a:latin typeface="Arial"/>
              </a:defRPr>
            </a:pPr>
            <a:r>
              <a:rPr lang="en-IN" sz="1100" b="0" i="0" u="none" strike="noStrike">
                <a:solidFill>
                  <a:srgbClr val="FFFFFF"/>
                </a:solidFill>
                <a:latin typeface="Arial"/>
              </a:rPr>
              <a:t>Alcohol Risk</a:t>
            </a:r>
          </a:p>
        </c:rich>
      </c:tx>
      <c:overlay val="0"/>
    </c:title>
    <c:autoTitleDeleted val="0"/>
    <c:plotArea>
      <c:layout/>
      <c:doughnutChart>
        <c:varyColors val="1"/>
        <c:ser>
          <c:idx val="0"/>
          <c:order val="0"/>
          <c:tx>
            <c:strRef>
              <c:f>Sheet1!$B$1</c:f>
              <c:strCache>
                <c:ptCount val="1"/>
                <c:pt idx="0">
                  <c:v>Risk</c:v>
                </c:pt>
              </c:strCache>
            </c:strRef>
          </c:tx>
          <c:spPr>
            <a:solidFill>
              <a:schemeClr val="accent1"/>
            </a:solidFill>
            <a:ln w="9525" cap="flat">
              <a:solidFill>
                <a:srgbClr val="F9F9F9"/>
              </a:solidFill>
              <a:prstDash val="solid"/>
              <a:round/>
            </a:ln>
            <a:effectLst/>
          </c:spPr>
          <c:dPt>
            <c:idx val="0"/>
            <c:bubble3D val="0"/>
            <c:spPr>
              <a:solidFill>
                <a:srgbClr val="00B4D8"/>
              </a:solidFill>
              <a:effectLst/>
            </c:spPr>
            <c:extLst>
              <c:ext xmlns:c16="http://schemas.microsoft.com/office/drawing/2014/chart" uri="{C3380CC4-5D6E-409C-BE32-E72D297353CC}">
                <c16:uniqueId val="{00000001-98C2-48B2-A600-2D7DEA05F4A4}"/>
              </c:ext>
            </c:extLst>
          </c:dPt>
          <c:dPt>
            <c:idx val="1"/>
            <c:bubble3D val="0"/>
            <c:spPr>
              <a:solidFill>
                <a:srgbClr val="EF4444"/>
              </a:solidFill>
              <a:effectLst/>
            </c:spPr>
            <c:extLst>
              <c:ext xmlns:c16="http://schemas.microsoft.com/office/drawing/2014/chart" uri="{C3380CC4-5D6E-409C-BE32-E72D297353CC}">
                <c16:uniqueId val="{00000003-98C2-48B2-A600-2D7DEA05F4A4}"/>
              </c:ext>
            </c:extLst>
          </c:dPt>
          <c:dLbls>
            <c:dLbl>
              <c:idx val="0"/>
              <c:numFmt formatCode="0%" sourceLinked="0"/>
              <c:spPr/>
              <c:txPr>
                <a:bodyPr/>
                <a:lstStyle/>
                <a:p>
                  <a:pPr>
                    <a:defRPr sz="900" b="0" i="0" u="none" strike="noStrike">
                      <a:solidFill>
                        <a:srgbClr val="FFFFFF"/>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1-98C2-48B2-A600-2D7DEA05F4A4}"/>
                </c:ext>
              </c:extLst>
            </c:dLbl>
            <c:dLbl>
              <c:idx val="1"/>
              <c:numFmt formatCode="0%" sourceLinked="0"/>
              <c:spPr/>
              <c:txPr>
                <a:bodyPr/>
                <a:lstStyle/>
                <a:p>
                  <a:pPr>
                    <a:defRPr sz="900" b="0" i="0" u="none" strike="noStrike">
                      <a:solidFill>
                        <a:srgbClr val="FFFFFF"/>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3-98C2-48B2-A600-2D7DEA05F4A4}"/>
                </c:ext>
              </c:extLst>
            </c:dLbl>
            <c:numFmt formatCode="0%" sourceLinked="0"/>
            <c:spPr>
              <a:noFill/>
              <a:ln>
                <a:noFill/>
              </a:ln>
              <a:effectLst/>
            </c:spPr>
            <c:txPr>
              <a:bodyPr/>
              <a:lstStyle/>
              <a:p>
                <a:pPr>
                  <a:defRPr sz="1800" b="0" i="0" u="none" strike="noStrike">
                    <a:solidFill>
                      <a:srgbClr val="000000"/>
                    </a:solidFill>
                    <a:latin typeface="Arial"/>
                  </a:defRPr>
                </a:pPr>
                <a:endParaRPr lang="en-US"/>
              </a:p>
            </c:txPr>
            <c:showLegendKey val="0"/>
            <c:showVal val="0"/>
            <c:showCatName val="1"/>
            <c:showSerName val="0"/>
            <c:showPercent val="1"/>
            <c:showBubbleSize val="0"/>
            <c:showLeaderLines val="0"/>
            <c:extLst>
              <c:ext xmlns:c15="http://schemas.microsoft.com/office/drawing/2012/chart" uri="{CE6537A1-D6FC-4f65-9D91-7224C49458BB}"/>
            </c:extLst>
          </c:dLbls>
          <c:cat>
            <c:strRef>
              <c:f>Sheet1!$A$2:$A$3</c:f>
              <c:strCache>
                <c:ptCount val="2"/>
                <c:pt idx="0">
                  <c:v>No Known Risk</c:v>
                </c:pt>
                <c:pt idx="1">
                  <c:v>Avoid Alcohol</c:v>
                </c:pt>
              </c:strCache>
            </c:strRef>
          </c:cat>
          <c:val>
            <c:numRef>
              <c:f>Sheet1!$B$2:$B$3</c:f>
              <c:numCache>
                <c:formatCode>General</c:formatCode>
                <c:ptCount val="2"/>
                <c:pt idx="0">
                  <c:v>1554</c:v>
                </c:pt>
                <c:pt idx="1">
                  <c:v>1377</c:v>
                </c:pt>
              </c:numCache>
            </c:numRef>
          </c:val>
          <c:extLst>
            <c:ext xmlns:c16="http://schemas.microsoft.com/office/drawing/2014/chart" uri="{C3380CC4-5D6E-409C-BE32-E72D297353CC}">
              <c16:uniqueId val="{00000004-98C2-48B2-A600-2D7DEA05F4A4}"/>
            </c:ext>
          </c:extLst>
        </c:ser>
        <c:dLbls>
          <c:showLegendKey val="0"/>
          <c:showVal val="0"/>
          <c:showCatName val="0"/>
          <c:showSerName val="0"/>
          <c:showPercent val="0"/>
          <c:showBubbleSize val="0"/>
          <c:showLeaderLines val="0"/>
        </c:dLbls>
        <c:firstSliceAng val="0"/>
        <c:holeSize val="50"/>
      </c:doughnutChart>
      <c:spPr>
        <a:noFill/>
        <a:ln>
          <a:noFill/>
        </a:ln>
        <a:effectLst/>
      </c:spPr>
    </c:plotArea>
    <c:legend>
      <c:legendPos val="b"/>
      <c:overlay val="0"/>
      <c:txPr>
        <a:bodyPr/>
        <a:lstStyle/>
        <a:p>
          <a:pPr>
            <a:defRPr sz="800">
              <a:solidFill>
                <a:srgbClr val="94A3B8"/>
              </a:solidFill>
            </a:defRPr>
          </a:pPr>
          <a:endParaRPr lang="en-US"/>
        </a:p>
      </c:txPr>
    </c:legend>
    <c:plotVisOnly val="1"/>
    <c:dispBlanksAs val="span"/>
    <c:showDLblsOverMax val="1"/>
  </c:chart>
  <c:spPr>
    <a:solidFill>
      <a:srgbClr val="1F2937"/>
    </a:solid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000" b="0" i="0" u="none" strike="noStrike">
                <a:solidFill>
                  <a:srgbClr val="FFFFFF"/>
                </a:solidFill>
                <a:latin typeface="Arial"/>
              </a:defRPr>
            </a:pPr>
            <a:r>
              <a:rPr lang="en-IN" sz="1000" b="0" i="0" u="none" strike="noStrike">
                <a:solidFill>
                  <a:srgbClr val="FFFFFF"/>
                </a:solidFill>
                <a:latin typeface="Arial"/>
              </a:rPr>
              <a:t>Controlled Substances</a:t>
            </a:r>
          </a:p>
        </c:rich>
      </c:tx>
      <c:overlay val="0"/>
    </c:title>
    <c:autoTitleDeleted val="0"/>
    <c:plotArea>
      <c:layout/>
      <c:barChart>
        <c:barDir val="bar"/>
        <c:grouping val="clustered"/>
        <c:varyColors val="0"/>
        <c:ser>
          <c:idx val="0"/>
          <c:order val="0"/>
          <c:tx>
            <c:strRef>
              <c:f>Sheet1!$B$1</c:f>
              <c:strCache>
                <c:ptCount val="1"/>
                <c:pt idx="0">
                  <c:v>Count</c:v>
                </c:pt>
              </c:strCache>
            </c:strRef>
          </c:tx>
          <c:spPr>
            <a:solidFill>
              <a:srgbClr val="10B981"/>
            </a:solidFill>
            <a:effectLst/>
          </c:spPr>
          <c:invertIfNegative val="0"/>
          <c:dPt>
            <c:idx val="0"/>
            <c:invertIfNegative val="0"/>
            <c:bubble3D val="0"/>
            <c:extLst>
              <c:ext xmlns:c16="http://schemas.microsoft.com/office/drawing/2014/chart" uri="{C3380CC4-5D6E-409C-BE32-E72D297353CC}">
                <c16:uniqueId val="{00000001-699A-40E2-82B7-FAAD08E534A6}"/>
              </c:ext>
            </c:extLst>
          </c:dPt>
          <c:dPt>
            <c:idx val="1"/>
            <c:invertIfNegative val="0"/>
            <c:bubble3D val="0"/>
            <c:spPr>
              <a:solidFill>
                <a:srgbClr val="EF4444"/>
              </a:solidFill>
              <a:effectLst/>
            </c:spPr>
            <c:extLst>
              <c:ext xmlns:c16="http://schemas.microsoft.com/office/drawing/2014/chart" uri="{C3380CC4-5D6E-409C-BE32-E72D297353CC}">
                <c16:uniqueId val="{00000003-699A-40E2-82B7-FAAD08E534A6}"/>
              </c:ext>
            </c:extLst>
          </c:dPt>
          <c:dPt>
            <c:idx val="2"/>
            <c:invertIfNegative val="0"/>
            <c:bubble3D val="0"/>
            <c:spPr>
              <a:solidFill>
                <a:srgbClr val="F59E0B"/>
              </a:solidFill>
              <a:effectLst/>
            </c:spPr>
            <c:extLst>
              <c:ext xmlns:c16="http://schemas.microsoft.com/office/drawing/2014/chart" uri="{C3380CC4-5D6E-409C-BE32-E72D297353CC}">
                <c16:uniqueId val="{00000005-699A-40E2-82B7-FAAD08E534A6}"/>
              </c:ext>
            </c:extLst>
          </c:dPt>
          <c:dPt>
            <c:idx val="3"/>
            <c:invertIfNegative val="0"/>
            <c:bubble3D val="0"/>
            <c:spPr>
              <a:solidFill>
                <a:srgbClr val="8B5CF6"/>
              </a:solidFill>
              <a:effectLst/>
            </c:spPr>
            <c:extLst>
              <c:ext xmlns:c16="http://schemas.microsoft.com/office/drawing/2014/chart" uri="{C3380CC4-5D6E-409C-BE32-E72D297353CC}">
                <c16:uniqueId val="{00000007-699A-40E2-82B7-FAAD08E534A6}"/>
              </c:ext>
            </c:extLst>
          </c:dPt>
          <c:dPt>
            <c:idx val="4"/>
            <c:invertIfNegative val="0"/>
            <c:bubble3D val="0"/>
            <c:spPr>
              <a:solidFill>
                <a:srgbClr val="00B4D8"/>
              </a:solidFill>
              <a:effectLst/>
            </c:spPr>
            <c:extLst>
              <c:ext xmlns:c16="http://schemas.microsoft.com/office/drawing/2014/chart" uri="{C3380CC4-5D6E-409C-BE32-E72D297353CC}">
                <c16:uniqueId val="{00000009-699A-40E2-82B7-FAAD08E534A6}"/>
              </c:ext>
            </c:extLst>
          </c:dPt>
          <c:dLbls>
            <c:numFmt formatCode="#,##0" sourceLinked="0"/>
            <c:spPr>
              <a:noFill/>
              <a:ln>
                <a:noFill/>
              </a:ln>
              <a:effectLst/>
            </c:spPr>
            <c:txPr>
              <a:bodyPr/>
              <a:lstStyle/>
              <a:p>
                <a:pPr>
                  <a:defRPr sz="800" b="0" i="0" u="none" strike="noStrike">
                    <a:solidFill>
                      <a:srgbClr val="FFFFFF"/>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Not Controlled</c:v>
                </c:pt>
                <c:pt idx="1">
                  <c:v>Schedule 2</c:v>
                </c:pt>
                <c:pt idx="2">
                  <c:v>Schedule 4</c:v>
                </c:pt>
                <c:pt idx="3">
                  <c:v>Schedule 3</c:v>
                </c:pt>
                <c:pt idx="4">
                  <c:v>Schedule 5</c:v>
                </c:pt>
              </c:strCache>
            </c:strRef>
          </c:cat>
          <c:val>
            <c:numRef>
              <c:f>Sheet1!$B$2:$B$6</c:f>
              <c:numCache>
                <c:formatCode>General</c:formatCode>
                <c:ptCount val="5"/>
                <c:pt idx="0">
                  <c:v>2713</c:v>
                </c:pt>
                <c:pt idx="1">
                  <c:v>101</c:v>
                </c:pt>
                <c:pt idx="2">
                  <c:v>71</c:v>
                </c:pt>
                <c:pt idx="3">
                  <c:v>26</c:v>
                </c:pt>
                <c:pt idx="4">
                  <c:v>20</c:v>
                </c:pt>
              </c:numCache>
            </c:numRef>
          </c:val>
          <c:extLst>
            <c:ext xmlns:c16="http://schemas.microsoft.com/office/drawing/2014/chart" uri="{C3380CC4-5D6E-409C-BE32-E72D297353CC}">
              <c16:uniqueId val="{0000000A-699A-40E2-82B7-FAAD08E534A6}"/>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700" b="0" i="0" u="none" strike="noStrike">
                <a:solidFill>
                  <a:srgbClr val="94A3B8"/>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b"/>
        <c:majorGridlines>
          <c:spPr>
            <a:ln w="6350" cap="flat">
              <a:solidFill>
                <a:srgbClr val="374151"/>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700" b="0" i="0" u="none" strike="noStrike">
                <a:solidFill>
                  <a:srgbClr val="94A3B8"/>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1F2937"/>
    </a:solid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000" b="0" i="0" u="none" strike="noStrike">
                <a:solidFill>
                  <a:srgbClr val="FFFFFF"/>
                </a:solidFill>
                <a:latin typeface="Arial"/>
              </a:defRPr>
            </a:pPr>
            <a:r>
              <a:rPr lang="en-US" sz="1000" b="0" i="0" u="none" strike="noStrike">
                <a:solidFill>
                  <a:srgbClr val="FFFFFF"/>
                </a:solidFill>
                <a:latin typeface="Arial"/>
              </a:rPr>
              <a:t>Avg Rating by Medical Condition (Top 10)</a:t>
            </a:r>
          </a:p>
        </c:rich>
      </c:tx>
      <c:overlay val="0"/>
    </c:title>
    <c:autoTitleDeleted val="0"/>
    <c:plotArea>
      <c:layout/>
      <c:barChart>
        <c:barDir val="bar"/>
        <c:grouping val="clustered"/>
        <c:varyColors val="0"/>
        <c:ser>
          <c:idx val="0"/>
          <c:order val="0"/>
          <c:tx>
            <c:strRef>
              <c:f>Sheet1!$B$1</c:f>
              <c:strCache>
                <c:ptCount val="1"/>
                <c:pt idx="0">
                  <c:v>Avg Rating</c:v>
                </c:pt>
              </c:strCache>
            </c:strRef>
          </c:tx>
          <c:spPr>
            <a:solidFill>
              <a:srgbClr val="10B981"/>
            </a:solidFill>
            <a:effectLst/>
          </c:spPr>
          <c:invertIfNegative val="0"/>
          <c:dLbls>
            <c:numFmt formatCode="#,##0" sourceLinked="0"/>
            <c:spPr>
              <a:noFill/>
              <a:ln>
                <a:noFill/>
              </a:ln>
              <a:effectLst/>
            </c:spPr>
            <c:txPr>
              <a:bodyPr/>
              <a:lstStyle/>
              <a:p>
                <a:pPr>
                  <a:defRPr sz="900" b="0" i="0" u="none" strike="noStrike">
                    <a:solidFill>
                      <a:srgbClr val="FFFFFF"/>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Sheet1!$A$2:$A$11</c:f>
              <c:strCache>
                <c:ptCount val="10"/>
                <c:pt idx="0">
                  <c:v>Eczema</c:v>
                </c:pt>
                <c:pt idx="1">
                  <c:v>Angina</c:v>
                </c:pt>
                <c:pt idx="2">
                  <c:v>Gout</c:v>
                </c:pt>
                <c:pt idx="3">
                  <c:v>Pneumonia</c:v>
                </c:pt>
                <c:pt idx="4">
                  <c:v>Anxiety</c:v>
                </c:pt>
                <c:pt idx="5">
                  <c:v>Migraine</c:v>
                </c:pt>
                <c:pt idx="6">
                  <c:v>Herpes</c:v>
                </c:pt>
                <c:pt idx="7">
                  <c:v>Acne</c:v>
                </c:pt>
                <c:pt idx="8">
                  <c:v>Stroke</c:v>
                </c:pt>
                <c:pt idx="9">
                  <c:v>UTI</c:v>
                </c:pt>
              </c:strCache>
            </c:strRef>
          </c:cat>
          <c:val>
            <c:numRef>
              <c:f>Sheet1!$B$2:$B$11</c:f>
              <c:numCache>
                <c:formatCode>General</c:formatCode>
                <c:ptCount val="10"/>
                <c:pt idx="0">
                  <c:v>8.75</c:v>
                </c:pt>
                <c:pt idx="1">
                  <c:v>8.65</c:v>
                </c:pt>
                <c:pt idx="2">
                  <c:v>7.69</c:v>
                </c:pt>
                <c:pt idx="3">
                  <c:v>7.6</c:v>
                </c:pt>
                <c:pt idx="4">
                  <c:v>7.53</c:v>
                </c:pt>
                <c:pt idx="5">
                  <c:v>7.5</c:v>
                </c:pt>
                <c:pt idx="6">
                  <c:v>7.45</c:v>
                </c:pt>
                <c:pt idx="7">
                  <c:v>7.4</c:v>
                </c:pt>
                <c:pt idx="8">
                  <c:v>7.38</c:v>
                </c:pt>
                <c:pt idx="9">
                  <c:v>7.35</c:v>
                </c:pt>
              </c:numCache>
            </c:numRef>
          </c:val>
          <c:extLst>
            <c:ext xmlns:c16="http://schemas.microsoft.com/office/drawing/2014/chart" uri="{C3380CC4-5D6E-409C-BE32-E72D297353CC}">
              <c16:uniqueId val="{00000000-7CAB-4839-8C5D-DF58D6E45CE8}"/>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800" b="0" i="0" u="none" strike="noStrike">
                <a:solidFill>
                  <a:srgbClr val="94A3B8"/>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b"/>
        <c:majorGridlines>
          <c:spPr>
            <a:ln w="6350" cap="flat">
              <a:solidFill>
                <a:srgbClr val="374151"/>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800" b="0" i="0" u="none" strike="noStrike">
                <a:solidFill>
                  <a:srgbClr val="94A3B8"/>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1F2937"/>
    </a:solid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000" b="0" i="0" u="none" strike="noStrike">
                <a:solidFill>
                  <a:srgbClr val="FFFFFF"/>
                </a:solidFill>
                <a:latin typeface="Arial"/>
              </a:defRPr>
            </a:pPr>
            <a:r>
              <a:rPr lang="en-US" sz="1000" b="0" i="0" u="none" strike="noStrike">
                <a:solidFill>
                  <a:srgbClr val="FFFFFF"/>
                </a:solidFill>
                <a:latin typeface="Arial"/>
              </a:rPr>
              <a:t>Avg Rating by Rx Type</a:t>
            </a:r>
          </a:p>
        </c:rich>
      </c:tx>
      <c:overlay val="0"/>
    </c:title>
    <c:autoTitleDeleted val="0"/>
    <c:plotArea>
      <c:layout/>
      <c:barChart>
        <c:barDir val="bar"/>
        <c:grouping val="clustered"/>
        <c:varyColors val="0"/>
        <c:ser>
          <c:idx val="0"/>
          <c:order val="0"/>
          <c:tx>
            <c:strRef>
              <c:f>Sheet1!$B$1</c:f>
              <c:strCache>
                <c:ptCount val="1"/>
                <c:pt idx="0">
                  <c:v>Avg Rating</c:v>
                </c:pt>
              </c:strCache>
            </c:strRef>
          </c:tx>
          <c:spPr>
            <a:solidFill>
              <a:srgbClr val="F59E0B"/>
            </a:solidFill>
            <a:effectLst/>
          </c:spPr>
          <c:invertIfNegative val="0"/>
          <c:dPt>
            <c:idx val="0"/>
            <c:invertIfNegative val="0"/>
            <c:bubble3D val="0"/>
            <c:extLst>
              <c:ext xmlns:c16="http://schemas.microsoft.com/office/drawing/2014/chart" uri="{C3380CC4-5D6E-409C-BE32-E72D297353CC}">
                <c16:uniqueId val="{00000001-F22A-4895-B3B7-9CDC725D420F}"/>
              </c:ext>
            </c:extLst>
          </c:dPt>
          <c:dPt>
            <c:idx val="1"/>
            <c:invertIfNegative val="0"/>
            <c:bubble3D val="0"/>
            <c:spPr>
              <a:solidFill>
                <a:srgbClr val="10B981"/>
              </a:solidFill>
              <a:effectLst/>
            </c:spPr>
            <c:extLst>
              <c:ext xmlns:c16="http://schemas.microsoft.com/office/drawing/2014/chart" uri="{C3380CC4-5D6E-409C-BE32-E72D297353CC}">
                <c16:uniqueId val="{00000003-F22A-4895-B3B7-9CDC725D420F}"/>
              </c:ext>
            </c:extLst>
          </c:dPt>
          <c:dPt>
            <c:idx val="2"/>
            <c:invertIfNegative val="0"/>
            <c:bubble3D val="0"/>
            <c:spPr>
              <a:solidFill>
                <a:srgbClr val="00B4D8"/>
              </a:solidFill>
              <a:effectLst/>
            </c:spPr>
            <c:extLst>
              <c:ext xmlns:c16="http://schemas.microsoft.com/office/drawing/2014/chart" uri="{C3380CC4-5D6E-409C-BE32-E72D297353CC}">
                <c16:uniqueId val="{00000005-F22A-4895-B3B7-9CDC725D420F}"/>
              </c:ext>
            </c:extLst>
          </c:dPt>
          <c:dLbls>
            <c:numFmt formatCode="#,##0" sourceLinked="0"/>
            <c:spPr>
              <a:noFill/>
              <a:ln>
                <a:noFill/>
              </a:ln>
              <a:effectLst/>
            </c:spPr>
            <c:txPr>
              <a:bodyPr/>
              <a:lstStyle/>
              <a:p>
                <a:pPr>
                  <a:defRPr sz="900" b="0" i="0" u="none" strike="noStrike">
                    <a:solidFill>
                      <a:srgbClr val="FFFFFF"/>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Both</c:v>
                </c:pt>
                <c:pt idx="1">
                  <c:v>Over The Counter</c:v>
                </c:pt>
                <c:pt idx="2">
                  <c:v>Prescription Only</c:v>
                </c:pt>
              </c:strCache>
            </c:strRef>
          </c:cat>
          <c:val>
            <c:numRef>
              <c:f>Sheet1!$B$2:$B$4</c:f>
              <c:numCache>
                <c:formatCode>General</c:formatCode>
                <c:ptCount val="3"/>
                <c:pt idx="0">
                  <c:v>7.36</c:v>
                </c:pt>
                <c:pt idx="1">
                  <c:v>7.18</c:v>
                </c:pt>
                <c:pt idx="2">
                  <c:v>6.95</c:v>
                </c:pt>
              </c:numCache>
            </c:numRef>
          </c:val>
          <c:extLst>
            <c:ext xmlns:c16="http://schemas.microsoft.com/office/drawing/2014/chart" uri="{C3380CC4-5D6E-409C-BE32-E72D297353CC}">
              <c16:uniqueId val="{00000006-F22A-4895-B3B7-9CDC725D420F}"/>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800" b="0" i="0" u="none" strike="noStrike">
                <a:solidFill>
                  <a:srgbClr val="94A3B8"/>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b"/>
        <c:majorGridlines>
          <c:spPr>
            <a:ln w="6350" cap="flat">
              <a:solidFill>
                <a:srgbClr val="374151"/>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800" b="0" i="0" u="none" strike="noStrike">
                <a:solidFill>
                  <a:srgbClr val="94A3B8"/>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1F2937"/>
    </a:solid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000" b="0" i="0" u="none" strike="noStrike">
                <a:solidFill>
                  <a:srgbClr val="FFFFFF"/>
                </a:solidFill>
                <a:latin typeface="Arial"/>
              </a:defRPr>
            </a:pPr>
            <a:r>
              <a:rPr lang="en-IN" sz="1000" b="0" i="0" u="none" strike="noStrike">
                <a:solidFill>
                  <a:srgbClr val="FFFFFF"/>
                </a:solidFill>
                <a:latin typeface="Arial"/>
              </a:rPr>
              <a:t>Rating Band Distribution</a:t>
            </a:r>
          </a:p>
        </c:rich>
      </c:tx>
      <c:overlay val="0"/>
    </c:title>
    <c:autoTitleDeleted val="0"/>
    <c:plotArea>
      <c:layout/>
      <c:barChart>
        <c:barDir val="col"/>
        <c:grouping val="clustered"/>
        <c:varyColors val="0"/>
        <c:ser>
          <c:idx val="0"/>
          <c:order val="0"/>
          <c:tx>
            <c:strRef>
              <c:f>Sheet1!$B$1</c:f>
              <c:strCache>
                <c:ptCount val="1"/>
                <c:pt idx="0">
                  <c:v>Count</c:v>
                </c:pt>
              </c:strCache>
            </c:strRef>
          </c:tx>
          <c:spPr>
            <a:solidFill>
              <a:srgbClr val="00B4D8"/>
            </a:solidFill>
            <a:effectLst/>
          </c:spPr>
          <c:invertIfNegative val="0"/>
          <c:dPt>
            <c:idx val="0"/>
            <c:invertIfNegative val="0"/>
            <c:bubble3D val="0"/>
            <c:extLst>
              <c:ext xmlns:c16="http://schemas.microsoft.com/office/drawing/2014/chart" uri="{C3380CC4-5D6E-409C-BE32-E72D297353CC}">
                <c16:uniqueId val="{00000001-CF75-4266-A3A1-04FA4E9C8EF4}"/>
              </c:ext>
            </c:extLst>
          </c:dPt>
          <c:dPt>
            <c:idx val="1"/>
            <c:invertIfNegative val="0"/>
            <c:bubble3D val="0"/>
            <c:spPr>
              <a:solidFill>
                <a:srgbClr val="10B981"/>
              </a:solidFill>
              <a:effectLst/>
            </c:spPr>
            <c:extLst>
              <c:ext xmlns:c16="http://schemas.microsoft.com/office/drawing/2014/chart" uri="{C3380CC4-5D6E-409C-BE32-E72D297353CC}">
                <c16:uniqueId val="{00000003-CF75-4266-A3A1-04FA4E9C8EF4}"/>
              </c:ext>
            </c:extLst>
          </c:dPt>
          <c:dPt>
            <c:idx val="2"/>
            <c:invertIfNegative val="0"/>
            <c:bubble3D val="0"/>
            <c:spPr>
              <a:solidFill>
                <a:srgbClr val="F59E0B"/>
              </a:solidFill>
              <a:effectLst/>
            </c:spPr>
            <c:extLst>
              <c:ext xmlns:c16="http://schemas.microsoft.com/office/drawing/2014/chart" uri="{C3380CC4-5D6E-409C-BE32-E72D297353CC}">
                <c16:uniqueId val="{00000005-CF75-4266-A3A1-04FA4E9C8EF4}"/>
              </c:ext>
            </c:extLst>
          </c:dPt>
          <c:dPt>
            <c:idx val="3"/>
            <c:invertIfNegative val="0"/>
            <c:bubble3D val="0"/>
            <c:spPr>
              <a:solidFill>
                <a:srgbClr val="EF4444"/>
              </a:solidFill>
              <a:effectLst/>
            </c:spPr>
            <c:extLst>
              <c:ext xmlns:c16="http://schemas.microsoft.com/office/drawing/2014/chart" uri="{C3380CC4-5D6E-409C-BE32-E72D297353CC}">
                <c16:uniqueId val="{00000007-CF75-4266-A3A1-04FA4E9C8EF4}"/>
              </c:ext>
            </c:extLst>
          </c:dPt>
          <c:dLbls>
            <c:numFmt formatCode="#,##0" sourceLinked="0"/>
            <c:spPr>
              <a:noFill/>
              <a:ln>
                <a:noFill/>
              </a:ln>
              <a:effectLst/>
            </c:spPr>
            <c:txPr>
              <a:bodyPr/>
              <a:lstStyle/>
              <a:p>
                <a:pPr>
                  <a:defRPr sz="800" b="0" i="0" u="none" strike="noStrike">
                    <a:solidFill>
                      <a:srgbClr val="FFFFFF"/>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Well Rated (6-7.9)</c:v>
                </c:pt>
                <c:pt idx="1">
                  <c:v>Highly Rated (8-10)</c:v>
                </c:pt>
                <c:pt idx="2">
                  <c:v>Average (4-5.9)</c:v>
                </c:pt>
                <c:pt idx="3">
                  <c:v>Low Rated (&lt;4)</c:v>
                </c:pt>
              </c:strCache>
            </c:strRef>
          </c:cat>
          <c:val>
            <c:numRef>
              <c:f>Sheet1!$B$2:$B$5</c:f>
              <c:numCache>
                <c:formatCode>General</c:formatCode>
                <c:ptCount val="4"/>
                <c:pt idx="0">
                  <c:v>1407</c:v>
                </c:pt>
                <c:pt idx="1">
                  <c:v>773</c:v>
                </c:pt>
                <c:pt idx="2">
                  <c:v>503</c:v>
                </c:pt>
                <c:pt idx="3">
                  <c:v>248</c:v>
                </c:pt>
              </c:numCache>
            </c:numRef>
          </c:val>
          <c:extLst>
            <c:ext xmlns:c16="http://schemas.microsoft.com/office/drawing/2014/chart" uri="{C3380CC4-5D6E-409C-BE32-E72D297353CC}">
              <c16:uniqueId val="{00000008-CF75-4266-A3A1-04FA4E9C8EF4}"/>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94A3B8"/>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374151"/>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94A3B8"/>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1F2937"/>
    </a:solid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000" b="0" i="0" u="none" strike="noStrike">
                <a:solidFill>
                  <a:srgbClr val="FFFFFF"/>
                </a:solidFill>
                <a:latin typeface="Arial"/>
              </a:defRPr>
            </a:pPr>
            <a:r>
              <a:rPr lang="en-US" sz="1000" b="0" i="0" u="none" strike="noStrike">
                <a:solidFill>
                  <a:srgbClr val="FFFFFF"/>
                </a:solidFill>
                <a:latin typeface="Arial"/>
              </a:rPr>
              <a:t>Avg Side Effects by Condition</a:t>
            </a:r>
          </a:p>
        </c:rich>
      </c:tx>
      <c:overlay val="0"/>
    </c:title>
    <c:autoTitleDeleted val="0"/>
    <c:plotArea>
      <c:layout/>
      <c:barChart>
        <c:barDir val="bar"/>
        <c:grouping val="clustered"/>
        <c:varyColors val="0"/>
        <c:ser>
          <c:idx val="0"/>
          <c:order val="0"/>
          <c:tx>
            <c:strRef>
              <c:f>Sheet1!$B$1</c:f>
              <c:strCache>
                <c:ptCount val="1"/>
                <c:pt idx="0">
                  <c:v>Avg Side Effects</c:v>
                </c:pt>
              </c:strCache>
            </c:strRef>
          </c:tx>
          <c:spPr>
            <a:solidFill>
              <a:srgbClr val="EF4444"/>
            </a:solidFill>
            <a:effectLst/>
          </c:spPr>
          <c:invertIfNegative val="0"/>
          <c:dLbls>
            <c:numFmt formatCode="#,##0" sourceLinked="0"/>
            <c:spPr>
              <a:noFill/>
              <a:ln>
                <a:noFill/>
              </a:ln>
              <a:effectLst/>
            </c:spPr>
            <c:txPr>
              <a:bodyPr/>
              <a:lstStyle/>
              <a:p>
                <a:pPr>
                  <a:defRPr sz="900" b="0" i="0" u="none" strike="noStrike">
                    <a:solidFill>
                      <a:srgbClr val="FFFFFF"/>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Menopause</c:v>
                </c:pt>
                <c:pt idx="1">
                  <c:v>IBD (Bowel)</c:v>
                </c:pt>
                <c:pt idx="2">
                  <c:v>Schizophrenia</c:v>
                </c:pt>
                <c:pt idx="3">
                  <c:v>Bipolar Disorder</c:v>
                </c:pt>
                <c:pt idx="4">
                  <c:v>Rheumatoid Arth.</c:v>
                </c:pt>
                <c:pt idx="5">
                  <c:v>Stroke</c:v>
                </c:pt>
                <c:pt idx="6">
                  <c:v>Anxiety</c:v>
                </c:pt>
                <c:pt idx="7">
                  <c:v>Migraine</c:v>
                </c:pt>
              </c:strCache>
            </c:strRef>
          </c:cat>
          <c:val>
            <c:numRef>
              <c:f>Sheet1!$B$2:$B$9</c:f>
              <c:numCache>
                <c:formatCode>General</c:formatCode>
                <c:ptCount val="8"/>
                <c:pt idx="0">
                  <c:v>19.43</c:v>
                </c:pt>
                <c:pt idx="1">
                  <c:v>14.23</c:v>
                </c:pt>
                <c:pt idx="2">
                  <c:v>13.95</c:v>
                </c:pt>
                <c:pt idx="3">
                  <c:v>13.91</c:v>
                </c:pt>
                <c:pt idx="4">
                  <c:v>12.52</c:v>
                </c:pt>
                <c:pt idx="5">
                  <c:v>12.4</c:v>
                </c:pt>
                <c:pt idx="6">
                  <c:v>12.38</c:v>
                </c:pt>
                <c:pt idx="7">
                  <c:v>11.9</c:v>
                </c:pt>
              </c:numCache>
            </c:numRef>
          </c:val>
          <c:extLst>
            <c:ext xmlns:c16="http://schemas.microsoft.com/office/drawing/2014/chart" uri="{C3380CC4-5D6E-409C-BE32-E72D297353CC}">
              <c16:uniqueId val="{00000000-3053-4F2A-A717-09835391902B}"/>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800" b="0" i="0" u="none" strike="noStrike">
                <a:solidFill>
                  <a:srgbClr val="94A3B8"/>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b"/>
        <c:majorGridlines>
          <c:spPr>
            <a:ln w="6350" cap="flat">
              <a:solidFill>
                <a:srgbClr val="374151"/>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800" b="0" i="0" u="none" strike="noStrike">
                <a:solidFill>
                  <a:srgbClr val="94A3B8"/>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1F2937"/>
    </a:solidFill>
    <a:ln>
      <a:noFill/>
    </a:ln>
    <a:effectLst/>
  </c:sp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000" b="0" i="0" u="none" strike="noStrike">
                <a:solidFill>
                  <a:srgbClr val="FFFFFF"/>
                </a:solidFill>
                <a:latin typeface="Arial"/>
              </a:defRPr>
            </a:pPr>
            <a:r>
              <a:rPr lang="en-IN" sz="1000" b="0" i="0" u="none" strike="noStrike">
                <a:solidFill>
                  <a:srgbClr val="FFFFFF"/>
                </a:solidFill>
                <a:latin typeface="Arial"/>
              </a:rPr>
              <a:t>Drugs With Side Effects</a:t>
            </a:r>
          </a:p>
        </c:rich>
      </c:tx>
      <c:overlay val="0"/>
    </c:title>
    <c:autoTitleDeleted val="0"/>
    <c:plotArea>
      <c:layout/>
      <c:doughnutChart>
        <c:varyColors val="1"/>
        <c:ser>
          <c:idx val="0"/>
          <c:order val="0"/>
          <c:tx>
            <c:strRef>
              <c:f>Sheet1!$B$1</c:f>
              <c:strCache>
                <c:ptCount val="1"/>
                <c:pt idx="0">
                  <c:v>Side Effects</c:v>
                </c:pt>
              </c:strCache>
            </c:strRef>
          </c:tx>
          <c:spPr>
            <a:solidFill>
              <a:schemeClr val="accent1"/>
            </a:solidFill>
            <a:ln w="9525" cap="flat">
              <a:solidFill>
                <a:srgbClr val="F9F9F9"/>
              </a:solidFill>
              <a:prstDash val="solid"/>
              <a:round/>
            </a:ln>
            <a:effectLst/>
          </c:spPr>
          <c:dPt>
            <c:idx val="0"/>
            <c:bubble3D val="0"/>
            <c:spPr>
              <a:solidFill>
                <a:srgbClr val="EF4444"/>
              </a:solidFill>
              <a:effectLst/>
            </c:spPr>
            <c:extLst>
              <c:ext xmlns:c16="http://schemas.microsoft.com/office/drawing/2014/chart" uri="{C3380CC4-5D6E-409C-BE32-E72D297353CC}">
                <c16:uniqueId val="{00000001-388E-45C0-BF67-49196571BF0C}"/>
              </c:ext>
            </c:extLst>
          </c:dPt>
          <c:dPt>
            <c:idx val="1"/>
            <c:bubble3D val="0"/>
            <c:spPr>
              <a:solidFill>
                <a:srgbClr val="10B981"/>
              </a:solidFill>
              <a:effectLst/>
            </c:spPr>
            <c:extLst>
              <c:ext xmlns:c16="http://schemas.microsoft.com/office/drawing/2014/chart" uri="{C3380CC4-5D6E-409C-BE32-E72D297353CC}">
                <c16:uniqueId val="{00000003-388E-45C0-BF67-49196571BF0C}"/>
              </c:ext>
            </c:extLst>
          </c:dPt>
          <c:dLbls>
            <c:dLbl>
              <c:idx val="0"/>
              <c:numFmt formatCode="0%" sourceLinked="0"/>
              <c:spPr/>
              <c:txPr>
                <a:bodyPr/>
                <a:lstStyle/>
                <a:p>
                  <a:pPr>
                    <a:defRPr sz="1000" b="0" i="0" u="none" strike="noStrike">
                      <a:solidFill>
                        <a:srgbClr val="FFFFFF"/>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1-388E-45C0-BF67-49196571BF0C}"/>
                </c:ext>
              </c:extLst>
            </c:dLbl>
            <c:dLbl>
              <c:idx val="1"/>
              <c:numFmt formatCode="0%" sourceLinked="0"/>
              <c:spPr/>
              <c:txPr>
                <a:bodyPr/>
                <a:lstStyle/>
                <a:p>
                  <a:pPr>
                    <a:defRPr sz="1000" b="0" i="0" u="none" strike="noStrike">
                      <a:solidFill>
                        <a:srgbClr val="FFFFFF"/>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3-388E-45C0-BF67-49196571BF0C}"/>
                </c:ext>
              </c:extLst>
            </c:dLbl>
            <c:numFmt formatCode="0%" sourceLinked="0"/>
            <c:spPr>
              <a:noFill/>
              <a:ln>
                <a:noFill/>
              </a:ln>
              <a:effectLst/>
            </c:spPr>
            <c:txPr>
              <a:bodyPr/>
              <a:lstStyle/>
              <a:p>
                <a:pPr>
                  <a:defRPr sz="1800" b="0" i="0" u="none" strike="noStrike">
                    <a:solidFill>
                      <a:srgbClr val="000000"/>
                    </a:solidFill>
                    <a:latin typeface="Arial"/>
                  </a:defRPr>
                </a:pPr>
                <a:endParaRPr lang="en-US"/>
              </a:p>
            </c:txPr>
            <c:showLegendKey val="0"/>
            <c:showVal val="0"/>
            <c:showCatName val="1"/>
            <c:showSerName val="0"/>
            <c:showPercent val="1"/>
            <c:showBubbleSize val="0"/>
            <c:showLeaderLines val="0"/>
            <c:extLst>
              <c:ext xmlns:c15="http://schemas.microsoft.com/office/drawing/2012/chart" uri="{CE6537A1-D6FC-4f65-9D91-7224C49458BB}"/>
            </c:extLst>
          </c:dLbls>
          <c:cat>
            <c:strRef>
              <c:f>Sheet1!$A$2:$A$3</c:f>
              <c:strCache>
                <c:ptCount val="2"/>
                <c:pt idx="0">
                  <c:v>Yes</c:v>
                </c:pt>
                <c:pt idx="1">
                  <c:v>No</c:v>
                </c:pt>
              </c:strCache>
            </c:strRef>
          </c:cat>
          <c:val>
            <c:numRef>
              <c:f>Sheet1!$B$2:$B$3</c:f>
              <c:numCache>
                <c:formatCode>General</c:formatCode>
                <c:ptCount val="2"/>
                <c:pt idx="0">
                  <c:v>2807</c:v>
                </c:pt>
                <c:pt idx="1">
                  <c:v>124</c:v>
                </c:pt>
              </c:numCache>
            </c:numRef>
          </c:val>
          <c:extLst>
            <c:ext xmlns:c16="http://schemas.microsoft.com/office/drawing/2014/chart" uri="{C3380CC4-5D6E-409C-BE32-E72D297353CC}">
              <c16:uniqueId val="{00000004-388E-45C0-BF67-49196571BF0C}"/>
            </c:ext>
          </c:extLst>
        </c:ser>
        <c:dLbls>
          <c:showLegendKey val="0"/>
          <c:showVal val="0"/>
          <c:showCatName val="0"/>
          <c:showSerName val="0"/>
          <c:showPercent val="0"/>
          <c:showBubbleSize val="0"/>
          <c:showLeaderLines val="0"/>
        </c:dLbls>
        <c:firstSliceAng val="0"/>
        <c:holeSize val="50"/>
      </c:doughnutChart>
      <c:spPr>
        <a:noFill/>
        <a:ln>
          <a:noFill/>
        </a:ln>
        <a:effectLst/>
      </c:spPr>
    </c:plotArea>
    <c:legend>
      <c:legendPos val="b"/>
      <c:overlay val="0"/>
      <c:txPr>
        <a:bodyPr/>
        <a:lstStyle/>
        <a:p>
          <a:pPr>
            <a:defRPr sz="800">
              <a:solidFill>
                <a:srgbClr val="94A3B8"/>
              </a:solidFill>
            </a:defRPr>
          </a:pPr>
          <a:endParaRPr lang="en-US"/>
        </a:p>
      </c:txPr>
    </c:legend>
    <c:plotVisOnly val="1"/>
    <c:dispBlanksAs val="span"/>
    <c:showDLblsOverMax val="1"/>
  </c:chart>
  <c:spPr>
    <a:solidFill>
      <a:srgbClr val="1F2937"/>
    </a:solidFill>
    <a:ln>
      <a:noFill/>
    </a:ln>
    <a:effectLst/>
  </c:sp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900" b="0" i="0" u="none" strike="noStrike">
                <a:solidFill>
                  <a:srgbClr val="FFFFFF"/>
                </a:solidFill>
                <a:latin typeface="Arial"/>
              </a:defRPr>
            </a:pPr>
            <a:r>
              <a:rPr lang="en-US" sz="900" b="0" i="0" u="none" strike="noStrike">
                <a:solidFill>
                  <a:srgbClr val="FFFFFF"/>
                </a:solidFill>
                <a:latin typeface="Arial"/>
              </a:rPr>
              <a:t>Avg Side Effects by Rx Type</a:t>
            </a:r>
          </a:p>
        </c:rich>
      </c:tx>
      <c:overlay val="0"/>
    </c:title>
    <c:autoTitleDeleted val="0"/>
    <c:plotArea>
      <c:layout/>
      <c:barChart>
        <c:barDir val="bar"/>
        <c:grouping val="clustered"/>
        <c:varyColors val="0"/>
        <c:ser>
          <c:idx val="0"/>
          <c:order val="0"/>
          <c:tx>
            <c:strRef>
              <c:f>Sheet1!$B$1</c:f>
              <c:strCache>
                <c:ptCount val="1"/>
                <c:pt idx="0">
                  <c:v>Avg Side Effects</c:v>
                </c:pt>
              </c:strCache>
            </c:strRef>
          </c:tx>
          <c:spPr>
            <a:solidFill>
              <a:srgbClr val="00B4D8"/>
            </a:solidFill>
            <a:effectLst/>
          </c:spPr>
          <c:invertIfNegative val="0"/>
          <c:dPt>
            <c:idx val="0"/>
            <c:invertIfNegative val="0"/>
            <c:bubble3D val="0"/>
            <c:extLst>
              <c:ext xmlns:c16="http://schemas.microsoft.com/office/drawing/2014/chart" uri="{C3380CC4-5D6E-409C-BE32-E72D297353CC}">
                <c16:uniqueId val="{00000001-4388-4E6A-A2CF-074C2F021ED5}"/>
              </c:ext>
            </c:extLst>
          </c:dPt>
          <c:dPt>
            <c:idx val="1"/>
            <c:invertIfNegative val="0"/>
            <c:bubble3D val="0"/>
            <c:spPr>
              <a:solidFill>
                <a:srgbClr val="F59E0B"/>
              </a:solidFill>
              <a:effectLst/>
            </c:spPr>
            <c:extLst>
              <c:ext xmlns:c16="http://schemas.microsoft.com/office/drawing/2014/chart" uri="{C3380CC4-5D6E-409C-BE32-E72D297353CC}">
                <c16:uniqueId val="{00000003-4388-4E6A-A2CF-074C2F021ED5}"/>
              </c:ext>
            </c:extLst>
          </c:dPt>
          <c:dPt>
            <c:idx val="2"/>
            <c:invertIfNegative val="0"/>
            <c:bubble3D val="0"/>
            <c:spPr>
              <a:solidFill>
                <a:srgbClr val="10B981"/>
              </a:solidFill>
              <a:effectLst/>
            </c:spPr>
            <c:extLst>
              <c:ext xmlns:c16="http://schemas.microsoft.com/office/drawing/2014/chart" uri="{C3380CC4-5D6E-409C-BE32-E72D297353CC}">
                <c16:uniqueId val="{00000005-4388-4E6A-A2CF-074C2F021ED5}"/>
              </c:ext>
            </c:extLst>
          </c:dPt>
          <c:dLbls>
            <c:numFmt formatCode="#,##0" sourceLinked="0"/>
            <c:spPr>
              <a:noFill/>
              <a:ln>
                <a:noFill/>
              </a:ln>
              <a:effectLst/>
            </c:spPr>
            <c:txPr>
              <a:bodyPr/>
              <a:lstStyle/>
              <a:p>
                <a:pPr>
                  <a:defRPr sz="800" b="0" i="0" u="none" strike="noStrike">
                    <a:solidFill>
                      <a:srgbClr val="FFFFFF"/>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Prescription Only</c:v>
                </c:pt>
                <c:pt idx="1">
                  <c:v>Both</c:v>
                </c:pt>
                <c:pt idx="2">
                  <c:v>Over The Counter</c:v>
                </c:pt>
              </c:strCache>
            </c:strRef>
          </c:cat>
          <c:val>
            <c:numRef>
              <c:f>Sheet1!$B$2:$B$4</c:f>
              <c:numCache>
                <c:formatCode>General</c:formatCode>
                <c:ptCount val="3"/>
                <c:pt idx="0">
                  <c:v>9.8000000000000007</c:v>
                </c:pt>
                <c:pt idx="1">
                  <c:v>8.4</c:v>
                </c:pt>
                <c:pt idx="2">
                  <c:v>6.2</c:v>
                </c:pt>
              </c:numCache>
            </c:numRef>
          </c:val>
          <c:extLst>
            <c:ext xmlns:c16="http://schemas.microsoft.com/office/drawing/2014/chart" uri="{C3380CC4-5D6E-409C-BE32-E72D297353CC}">
              <c16:uniqueId val="{00000006-4388-4E6A-A2CF-074C2F021ED5}"/>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700" b="0" i="0" u="none" strike="noStrike">
                <a:solidFill>
                  <a:srgbClr val="94A3B8"/>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b"/>
        <c:majorGridlines>
          <c:spPr>
            <a:ln w="6350" cap="flat">
              <a:solidFill>
                <a:srgbClr val="374151"/>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700" b="0" i="0" u="none" strike="noStrike">
                <a:solidFill>
                  <a:srgbClr val="94A3B8"/>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1F2937"/>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516160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chart" Target="../charts/chart3.xml"/><Relationship Id="rId4" Type="http://schemas.openxmlformats.org/officeDocument/2006/relationships/chart" Target="../charts/chart2.xml"/></Relationships>
</file>

<file path=ppt/slides/_rels/slide6.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chart" Target="../charts/chart6.xml"/><Relationship Id="rId4" Type="http://schemas.openxmlformats.org/officeDocument/2006/relationships/chart" Target="../charts/chart5.xml"/></Relationships>
</file>

<file path=ppt/slides/_rels/slide7.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chart" Target="../charts/chart9.xml"/><Relationship Id="rId4" Type="http://schemas.openxmlformats.org/officeDocument/2006/relationships/chart" Target="../charts/chart8.xml"/></Relationships>
</file>

<file path=ppt/slides/_rels/slide8.xml.rels><?xml version="1.0" encoding="UTF-8" standalone="yes"?>
<Relationships xmlns="http://schemas.openxmlformats.org/package/2006/relationships"><Relationship Id="rId3" Type="http://schemas.openxmlformats.org/officeDocument/2006/relationships/chart" Target="../charts/chart10.xml"/><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chart" Target="../charts/chart12.xml"/><Relationship Id="rId4" Type="http://schemas.openxmlformats.org/officeDocument/2006/relationships/chart" Target="../charts/chart1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0B4D8"/>
          </a:solidFill>
          <a:ln w="12700">
            <a:solidFill>
              <a:srgbClr val="333333"/>
            </a:solidFill>
            <a:prstDash val="solid"/>
          </a:ln>
        </p:spPr>
      </p:sp>
      <p:sp>
        <p:nvSpPr>
          <p:cNvPr id="3" name="Text 1"/>
          <p:cNvSpPr/>
          <p:nvPr/>
        </p:nvSpPr>
        <p:spPr>
          <a:xfrm>
            <a:off x="548640" y="822960"/>
            <a:ext cx="8046720" cy="1005840"/>
          </a:xfrm>
          <a:prstGeom prst="rect">
            <a:avLst/>
          </a:prstGeom>
          <a:noFill/>
          <a:ln/>
        </p:spPr>
        <p:txBody>
          <a:bodyPr wrap="square" rtlCol="0" anchor="ctr"/>
          <a:lstStyle/>
          <a:p>
            <a:pPr marL="0" indent="0" algn="ctr">
              <a:buNone/>
            </a:pPr>
            <a:r>
              <a:rPr lang="en-US" sz="5200" b="1" dirty="0">
                <a:solidFill>
                  <a:srgbClr val="FFFFFF"/>
                </a:solidFill>
                <a:latin typeface="Arial Black" pitchFamily="34" charset="0"/>
                <a:ea typeface="Arial Black" pitchFamily="34" charset="-122"/>
                <a:cs typeface="Arial Black" pitchFamily="34" charset="-120"/>
              </a:rPr>
              <a:t>Drug &amp; Medicine</a:t>
            </a:r>
            <a:endParaRPr lang="en-US" sz="5200" dirty="0"/>
          </a:p>
        </p:txBody>
      </p:sp>
      <p:sp>
        <p:nvSpPr>
          <p:cNvPr id="4" name="Text 2"/>
          <p:cNvSpPr/>
          <p:nvPr/>
        </p:nvSpPr>
        <p:spPr>
          <a:xfrm>
            <a:off x="548640" y="1737360"/>
            <a:ext cx="8046720" cy="914400"/>
          </a:xfrm>
          <a:prstGeom prst="rect">
            <a:avLst/>
          </a:prstGeom>
          <a:noFill/>
          <a:ln/>
        </p:spPr>
        <p:txBody>
          <a:bodyPr wrap="square" rtlCol="0" anchor="ctr"/>
          <a:lstStyle/>
          <a:p>
            <a:pPr marL="0" indent="0" algn="ctr">
              <a:buNone/>
            </a:pPr>
            <a:r>
              <a:rPr lang="en-US" sz="5200" b="1" dirty="0">
                <a:solidFill>
                  <a:srgbClr val="00B4D8"/>
                </a:solidFill>
                <a:latin typeface="Arial Black" pitchFamily="34" charset="0"/>
                <a:ea typeface="Arial Black" pitchFamily="34" charset="-122"/>
                <a:cs typeface="Arial Black" pitchFamily="34" charset="-120"/>
              </a:rPr>
              <a:t>Analysis Dashboard</a:t>
            </a:r>
            <a:endParaRPr lang="en-US" sz="5200" dirty="0"/>
          </a:p>
        </p:txBody>
      </p:sp>
      <p:sp>
        <p:nvSpPr>
          <p:cNvPr id="5" name="Text 3"/>
          <p:cNvSpPr/>
          <p:nvPr/>
        </p:nvSpPr>
        <p:spPr>
          <a:xfrm>
            <a:off x="1097280" y="2788920"/>
            <a:ext cx="6949440" cy="640080"/>
          </a:xfrm>
          <a:prstGeom prst="rect">
            <a:avLst/>
          </a:prstGeom>
          <a:noFill/>
          <a:ln/>
        </p:spPr>
        <p:txBody>
          <a:bodyPr wrap="square" rtlCol="0" anchor="ctr"/>
          <a:lstStyle/>
          <a:p>
            <a:pPr marL="0" indent="0" algn="ctr">
              <a:buNone/>
            </a:pPr>
            <a:r>
              <a:rPr lang="en-US" sz="1400" i="1" dirty="0">
                <a:solidFill>
                  <a:srgbClr val="94A3B8"/>
                </a:solidFill>
                <a:latin typeface="Calibri" pitchFamily="34" charset="0"/>
                <a:ea typeface="Calibri" pitchFamily="34" charset="-122"/>
                <a:cs typeface="Calibri" pitchFamily="34" charset="-120"/>
              </a:rPr>
              <a:t>A comprehensive EDA &amp; Power BI study on drug safety, ratings, side effects &amp; prescriptions</a:t>
            </a:r>
            <a:endParaRPr lang="en-US" sz="1400" dirty="0"/>
          </a:p>
        </p:txBody>
      </p:sp>
      <p:sp>
        <p:nvSpPr>
          <p:cNvPr id="6" name="Shape 4"/>
          <p:cNvSpPr/>
          <p:nvPr/>
        </p:nvSpPr>
        <p:spPr>
          <a:xfrm>
            <a:off x="731520" y="3611880"/>
            <a:ext cx="2286000" cy="914400"/>
          </a:xfrm>
          <a:prstGeom prst="rect">
            <a:avLst/>
          </a:prstGeom>
          <a:solidFill>
            <a:srgbClr val="1F2937"/>
          </a:solidFill>
          <a:ln w="12700">
            <a:solidFill>
              <a:srgbClr val="333333"/>
            </a:solidFill>
            <a:prstDash val="solid"/>
          </a:ln>
          <a:effectLst>
            <a:outerShdw blurRad="101600" dist="38100" dir="8100000" algn="bl" rotWithShape="0">
              <a:srgbClr val="000000">
                <a:alpha val="25000"/>
              </a:srgbClr>
            </a:outerShdw>
          </a:effectLst>
        </p:spPr>
      </p:sp>
      <p:sp>
        <p:nvSpPr>
          <p:cNvPr id="7" name="Shape 5"/>
          <p:cNvSpPr/>
          <p:nvPr/>
        </p:nvSpPr>
        <p:spPr>
          <a:xfrm>
            <a:off x="731520" y="3611880"/>
            <a:ext cx="54864" cy="914400"/>
          </a:xfrm>
          <a:prstGeom prst="rect">
            <a:avLst/>
          </a:prstGeom>
          <a:solidFill>
            <a:srgbClr val="00B4D8"/>
          </a:solidFill>
          <a:ln w="12700">
            <a:solidFill>
              <a:srgbClr val="333333"/>
            </a:solidFill>
            <a:prstDash val="solid"/>
          </a:ln>
        </p:spPr>
      </p:sp>
      <p:sp>
        <p:nvSpPr>
          <p:cNvPr id="8" name="Text 6"/>
          <p:cNvSpPr/>
          <p:nvPr/>
        </p:nvSpPr>
        <p:spPr>
          <a:xfrm>
            <a:off x="868680" y="3639312"/>
            <a:ext cx="2103120" cy="411480"/>
          </a:xfrm>
          <a:prstGeom prst="rect">
            <a:avLst/>
          </a:prstGeom>
          <a:noFill/>
          <a:ln/>
        </p:spPr>
        <p:txBody>
          <a:bodyPr wrap="square" lIns="0" tIns="0" rIns="0" bIns="0" rtlCol="0" anchor="ctr"/>
          <a:lstStyle/>
          <a:p>
            <a:pPr marL="0" indent="0">
              <a:buNone/>
            </a:pPr>
            <a:r>
              <a:rPr lang="en-US" sz="2200" b="1" dirty="0">
                <a:solidFill>
                  <a:srgbClr val="00B4D8"/>
                </a:solidFill>
                <a:latin typeface="Arial" pitchFamily="34" charset="0"/>
                <a:ea typeface="Arial" pitchFamily="34" charset="-122"/>
                <a:cs typeface="Arial" pitchFamily="34" charset="-120"/>
              </a:rPr>
              <a:t>2,931</a:t>
            </a:r>
            <a:endParaRPr lang="en-US" sz="2200" dirty="0"/>
          </a:p>
        </p:txBody>
      </p:sp>
      <p:sp>
        <p:nvSpPr>
          <p:cNvPr id="9" name="Text 7"/>
          <p:cNvSpPr/>
          <p:nvPr/>
        </p:nvSpPr>
        <p:spPr>
          <a:xfrm>
            <a:off x="868680" y="4023360"/>
            <a:ext cx="2103120" cy="320040"/>
          </a:xfrm>
          <a:prstGeom prst="rect">
            <a:avLst/>
          </a:prstGeom>
          <a:noFill/>
          <a:ln/>
        </p:spPr>
        <p:txBody>
          <a:bodyPr wrap="square" lIns="0" tIns="0" rIns="0" bIns="0" rtlCol="0" anchor="ctr"/>
          <a:lstStyle/>
          <a:p>
            <a:pPr marL="0" indent="0">
              <a:buNone/>
            </a:pPr>
            <a:r>
              <a:rPr lang="en-US" sz="1000" dirty="0">
                <a:solidFill>
                  <a:srgbClr val="94A3B8"/>
                </a:solidFill>
                <a:latin typeface="Calibri" pitchFamily="34" charset="0"/>
                <a:ea typeface="Calibri" pitchFamily="34" charset="-122"/>
                <a:cs typeface="Calibri" pitchFamily="34" charset="-120"/>
              </a:rPr>
              <a:t>Total Drugs</a:t>
            </a:r>
            <a:endParaRPr lang="en-US" sz="1000" dirty="0"/>
          </a:p>
        </p:txBody>
      </p:sp>
      <p:sp>
        <p:nvSpPr>
          <p:cNvPr id="10" name="Shape 8"/>
          <p:cNvSpPr/>
          <p:nvPr/>
        </p:nvSpPr>
        <p:spPr>
          <a:xfrm>
            <a:off x="3474720" y="3611880"/>
            <a:ext cx="2286000" cy="914400"/>
          </a:xfrm>
          <a:prstGeom prst="rect">
            <a:avLst/>
          </a:prstGeom>
          <a:solidFill>
            <a:srgbClr val="1F2937"/>
          </a:solidFill>
          <a:ln w="12700">
            <a:solidFill>
              <a:srgbClr val="333333"/>
            </a:solidFill>
            <a:prstDash val="solid"/>
          </a:ln>
          <a:effectLst>
            <a:outerShdw blurRad="101600" dist="38100" dir="8100000" algn="bl" rotWithShape="0">
              <a:srgbClr val="000000">
                <a:alpha val="25000"/>
              </a:srgbClr>
            </a:outerShdw>
          </a:effectLst>
        </p:spPr>
      </p:sp>
      <p:sp>
        <p:nvSpPr>
          <p:cNvPr id="11" name="Shape 9"/>
          <p:cNvSpPr/>
          <p:nvPr/>
        </p:nvSpPr>
        <p:spPr>
          <a:xfrm>
            <a:off x="3474720" y="3611880"/>
            <a:ext cx="54864" cy="914400"/>
          </a:xfrm>
          <a:prstGeom prst="rect">
            <a:avLst/>
          </a:prstGeom>
          <a:solidFill>
            <a:srgbClr val="10B981"/>
          </a:solidFill>
          <a:ln w="12700">
            <a:solidFill>
              <a:srgbClr val="333333"/>
            </a:solidFill>
            <a:prstDash val="solid"/>
          </a:ln>
        </p:spPr>
      </p:sp>
      <p:sp>
        <p:nvSpPr>
          <p:cNvPr id="12" name="Text 10"/>
          <p:cNvSpPr/>
          <p:nvPr/>
        </p:nvSpPr>
        <p:spPr>
          <a:xfrm>
            <a:off x="3611880" y="3639312"/>
            <a:ext cx="2103120" cy="411480"/>
          </a:xfrm>
          <a:prstGeom prst="rect">
            <a:avLst/>
          </a:prstGeom>
          <a:noFill/>
          <a:ln/>
        </p:spPr>
        <p:txBody>
          <a:bodyPr wrap="square" lIns="0" tIns="0" rIns="0" bIns="0" rtlCol="0" anchor="ctr"/>
          <a:lstStyle/>
          <a:p>
            <a:pPr marL="0" indent="0">
              <a:buNone/>
            </a:pPr>
            <a:r>
              <a:rPr lang="en-US" sz="2200" b="1" dirty="0">
                <a:solidFill>
                  <a:srgbClr val="10B981"/>
                </a:solidFill>
                <a:latin typeface="Arial" pitchFamily="34" charset="0"/>
                <a:ea typeface="Arial" pitchFamily="34" charset="-122"/>
                <a:cs typeface="Arial" pitchFamily="34" charset="-120"/>
              </a:rPr>
              <a:t>47</a:t>
            </a:r>
            <a:endParaRPr lang="en-US" sz="2200" dirty="0"/>
          </a:p>
        </p:txBody>
      </p:sp>
      <p:sp>
        <p:nvSpPr>
          <p:cNvPr id="13" name="Text 11"/>
          <p:cNvSpPr/>
          <p:nvPr/>
        </p:nvSpPr>
        <p:spPr>
          <a:xfrm>
            <a:off x="3611880" y="4023360"/>
            <a:ext cx="2103120" cy="320040"/>
          </a:xfrm>
          <a:prstGeom prst="rect">
            <a:avLst/>
          </a:prstGeom>
          <a:noFill/>
          <a:ln/>
        </p:spPr>
        <p:txBody>
          <a:bodyPr wrap="square" lIns="0" tIns="0" rIns="0" bIns="0" rtlCol="0" anchor="ctr"/>
          <a:lstStyle/>
          <a:p>
            <a:pPr marL="0" indent="0">
              <a:buNone/>
            </a:pPr>
            <a:r>
              <a:rPr lang="en-US" sz="1000" dirty="0">
                <a:solidFill>
                  <a:srgbClr val="94A3B8"/>
                </a:solidFill>
                <a:latin typeface="Calibri" pitchFamily="34" charset="0"/>
                <a:ea typeface="Calibri" pitchFamily="34" charset="-122"/>
                <a:cs typeface="Calibri" pitchFamily="34" charset="-120"/>
              </a:rPr>
              <a:t>Conditions</a:t>
            </a:r>
            <a:endParaRPr lang="en-US" sz="1000" dirty="0"/>
          </a:p>
        </p:txBody>
      </p:sp>
      <p:sp>
        <p:nvSpPr>
          <p:cNvPr id="14" name="Shape 12"/>
          <p:cNvSpPr/>
          <p:nvPr/>
        </p:nvSpPr>
        <p:spPr>
          <a:xfrm>
            <a:off x="6217920" y="3611880"/>
            <a:ext cx="2286000" cy="914400"/>
          </a:xfrm>
          <a:prstGeom prst="rect">
            <a:avLst/>
          </a:prstGeom>
          <a:solidFill>
            <a:srgbClr val="1F2937"/>
          </a:solidFill>
          <a:ln w="12700">
            <a:solidFill>
              <a:srgbClr val="333333"/>
            </a:solidFill>
            <a:prstDash val="solid"/>
          </a:ln>
          <a:effectLst>
            <a:outerShdw blurRad="101600" dist="38100" dir="8100000" algn="bl" rotWithShape="0">
              <a:srgbClr val="000000">
                <a:alpha val="25000"/>
              </a:srgbClr>
            </a:outerShdw>
          </a:effectLst>
        </p:spPr>
      </p:sp>
      <p:sp>
        <p:nvSpPr>
          <p:cNvPr id="15" name="Shape 13"/>
          <p:cNvSpPr/>
          <p:nvPr/>
        </p:nvSpPr>
        <p:spPr>
          <a:xfrm>
            <a:off x="6217920" y="3611880"/>
            <a:ext cx="54864" cy="914400"/>
          </a:xfrm>
          <a:prstGeom prst="rect">
            <a:avLst/>
          </a:prstGeom>
          <a:solidFill>
            <a:srgbClr val="F59E0B"/>
          </a:solidFill>
          <a:ln w="12700">
            <a:solidFill>
              <a:srgbClr val="333333"/>
            </a:solidFill>
            <a:prstDash val="solid"/>
          </a:ln>
        </p:spPr>
      </p:sp>
      <p:sp>
        <p:nvSpPr>
          <p:cNvPr id="16" name="Text 14"/>
          <p:cNvSpPr/>
          <p:nvPr/>
        </p:nvSpPr>
        <p:spPr>
          <a:xfrm>
            <a:off x="6355080" y="3639312"/>
            <a:ext cx="2103120" cy="411480"/>
          </a:xfrm>
          <a:prstGeom prst="rect">
            <a:avLst/>
          </a:prstGeom>
          <a:noFill/>
          <a:ln/>
        </p:spPr>
        <p:txBody>
          <a:bodyPr wrap="square" lIns="0" tIns="0" rIns="0" bIns="0" rtlCol="0" anchor="ctr"/>
          <a:lstStyle/>
          <a:p>
            <a:pPr marL="0" indent="0">
              <a:buNone/>
            </a:pPr>
            <a:r>
              <a:rPr lang="en-US" sz="2200" b="1" dirty="0">
                <a:solidFill>
                  <a:srgbClr val="F59E0B"/>
                </a:solidFill>
                <a:latin typeface="Arial" pitchFamily="34" charset="0"/>
                <a:ea typeface="Arial" pitchFamily="34" charset="-122"/>
                <a:cs typeface="Arial" pitchFamily="34" charset="-120"/>
              </a:rPr>
              <a:t>96%</a:t>
            </a:r>
            <a:endParaRPr lang="en-US" sz="2200" dirty="0"/>
          </a:p>
        </p:txBody>
      </p:sp>
      <p:sp>
        <p:nvSpPr>
          <p:cNvPr id="17" name="Text 15"/>
          <p:cNvSpPr/>
          <p:nvPr/>
        </p:nvSpPr>
        <p:spPr>
          <a:xfrm>
            <a:off x="6355080" y="4023360"/>
            <a:ext cx="2103120" cy="320040"/>
          </a:xfrm>
          <a:prstGeom prst="rect">
            <a:avLst/>
          </a:prstGeom>
          <a:noFill/>
          <a:ln/>
        </p:spPr>
        <p:txBody>
          <a:bodyPr wrap="square" lIns="0" tIns="0" rIns="0" bIns="0" rtlCol="0" anchor="ctr"/>
          <a:lstStyle/>
          <a:p>
            <a:pPr marL="0" indent="0">
              <a:buNone/>
            </a:pPr>
            <a:r>
              <a:rPr lang="en-US" sz="1000" dirty="0">
                <a:solidFill>
                  <a:srgbClr val="94A3B8"/>
                </a:solidFill>
                <a:latin typeface="Calibri" pitchFamily="34" charset="0"/>
                <a:ea typeface="Calibri" pitchFamily="34" charset="-122"/>
                <a:cs typeface="Calibri" pitchFamily="34" charset="-120"/>
              </a:rPr>
              <a:t>Have Side Effects</a:t>
            </a:r>
            <a:endParaRPr lang="en-US" sz="1000" dirty="0"/>
          </a:p>
        </p:txBody>
      </p:sp>
      <p:sp>
        <p:nvSpPr>
          <p:cNvPr id="18" name="Shape 16"/>
          <p:cNvSpPr/>
          <p:nvPr/>
        </p:nvSpPr>
        <p:spPr>
          <a:xfrm>
            <a:off x="0" y="5070348"/>
            <a:ext cx="9144000" cy="73152"/>
          </a:xfrm>
          <a:prstGeom prst="rect">
            <a:avLst/>
          </a:prstGeom>
          <a:solidFill>
            <a:srgbClr val="00B4D8"/>
          </a:solidFill>
          <a:ln w="12700">
            <a:solidFill>
              <a:srgbClr val="333333"/>
            </a:solidFill>
            <a:prstDash val="solid"/>
          </a:ln>
        </p:spPr>
      </p:sp>
      <p:sp>
        <p:nvSpPr>
          <p:cNvPr id="19" name="Text 17"/>
          <p:cNvSpPr/>
          <p:nvPr/>
        </p:nvSpPr>
        <p:spPr>
          <a:xfrm>
            <a:off x="0" y="4754880"/>
            <a:ext cx="9144000" cy="274320"/>
          </a:xfrm>
          <a:prstGeom prst="rect">
            <a:avLst/>
          </a:prstGeom>
          <a:noFill/>
          <a:ln/>
        </p:spPr>
        <p:txBody>
          <a:bodyPr wrap="square" rtlCol="0" anchor="ctr"/>
          <a:lstStyle/>
          <a:p>
            <a:pPr marL="0" indent="0" algn="ctr">
              <a:buNone/>
            </a:pPr>
            <a:r>
              <a:rPr lang="en-US" sz="900" dirty="0">
                <a:solidFill>
                  <a:srgbClr val="94A3B8"/>
                </a:solidFill>
                <a:latin typeface="Calibri" pitchFamily="34" charset="0"/>
                <a:ea typeface="Calibri" pitchFamily="34" charset="-122"/>
                <a:cs typeface="Calibri" pitchFamily="34" charset="-120"/>
              </a:rPr>
              <a:t>Data Source: drugs.com  |  Tool: Power BI  |  Dataset: 2,931 drugs</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F4444"/>
          </a:solidFill>
          <a:ln w="12700">
            <a:solidFill>
              <a:srgbClr val="333333"/>
            </a:solidFill>
            <a:prstDash val="solid"/>
          </a:ln>
        </p:spPr>
      </p:sp>
      <p:sp>
        <p:nvSpPr>
          <p:cNvPr id="3" name="Text 1"/>
          <p:cNvSpPr/>
          <p:nvPr/>
        </p:nvSpPr>
        <p:spPr>
          <a:xfrm>
            <a:off x="457200" y="182880"/>
            <a:ext cx="8229600" cy="640080"/>
          </a:xfrm>
          <a:prstGeom prst="rect">
            <a:avLst/>
          </a:prstGeom>
          <a:noFill/>
          <a:ln/>
        </p:spPr>
        <p:txBody>
          <a:bodyPr wrap="square" rtlCol="0" anchor="ctr"/>
          <a:lstStyle/>
          <a:p>
            <a:pPr marL="0" indent="0">
              <a:buNone/>
            </a:pPr>
            <a:r>
              <a:rPr lang="en-US" sz="3200" b="1" dirty="0">
                <a:solidFill>
                  <a:srgbClr val="FFFFFF"/>
                </a:solidFill>
                <a:latin typeface="Arial Black" pitchFamily="34" charset="0"/>
                <a:ea typeface="Arial Black" pitchFamily="34" charset="-122"/>
                <a:cs typeface="Arial Black" pitchFamily="34" charset="-120"/>
              </a:rPr>
              <a:t>Problem Statement</a:t>
            </a:r>
            <a:endParaRPr lang="en-US" sz="3200" dirty="0"/>
          </a:p>
        </p:txBody>
      </p:sp>
      <p:sp>
        <p:nvSpPr>
          <p:cNvPr id="4" name="Shape 2"/>
          <p:cNvSpPr/>
          <p:nvPr/>
        </p:nvSpPr>
        <p:spPr>
          <a:xfrm>
            <a:off x="365760" y="1005840"/>
            <a:ext cx="4023360" cy="1554480"/>
          </a:xfrm>
          <a:prstGeom prst="rect">
            <a:avLst/>
          </a:prstGeom>
          <a:solidFill>
            <a:srgbClr val="1F2937"/>
          </a:solidFill>
          <a:ln w="12700">
            <a:solidFill>
              <a:srgbClr val="333333"/>
            </a:solidFill>
            <a:prstDash val="solid"/>
          </a:ln>
          <a:effectLst>
            <a:outerShdw blurRad="101600" dist="38100" dir="8100000" algn="bl" rotWithShape="0">
              <a:srgbClr val="000000">
                <a:alpha val="25000"/>
              </a:srgbClr>
            </a:outerShdw>
          </a:effectLst>
        </p:spPr>
      </p:sp>
      <p:sp>
        <p:nvSpPr>
          <p:cNvPr id="5" name="Shape 3"/>
          <p:cNvSpPr/>
          <p:nvPr/>
        </p:nvSpPr>
        <p:spPr>
          <a:xfrm>
            <a:off x="365760" y="1005840"/>
            <a:ext cx="54864" cy="1554480"/>
          </a:xfrm>
          <a:prstGeom prst="rect">
            <a:avLst/>
          </a:prstGeom>
          <a:solidFill>
            <a:srgbClr val="EF4444"/>
          </a:solidFill>
          <a:ln w="12700">
            <a:solidFill>
              <a:srgbClr val="333333"/>
            </a:solidFill>
            <a:prstDash val="solid"/>
          </a:ln>
        </p:spPr>
      </p:sp>
      <p:sp>
        <p:nvSpPr>
          <p:cNvPr id="6" name="Text 4"/>
          <p:cNvSpPr/>
          <p:nvPr/>
        </p:nvSpPr>
        <p:spPr>
          <a:xfrm>
            <a:off x="530352" y="1097280"/>
            <a:ext cx="3749040" cy="320040"/>
          </a:xfrm>
          <a:prstGeom prst="rect">
            <a:avLst/>
          </a:prstGeom>
          <a:noFill/>
          <a:ln/>
        </p:spPr>
        <p:txBody>
          <a:bodyPr wrap="square" lIns="0" tIns="0" rIns="0" bIns="0" rtlCol="0" anchor="ctr"/>
          <a:lstStyle/>
          <a:p>
            <a:pPr marL="0" indent="0">
              <a:buNone/>
            </a:pPr>
            <a:r>
              <a:rPr lang="en-US" sz="1300" b="1" dirty="0">
                <a:solidFill>
                  <a:srgbClr val="EF4444"/>
                </a:solidFill>
                <a:latin typeface="Arial" pitchFamily="34" charset="0"/>
                <a:ea typeface="Arial" pitchFamily="34" charset="-122"/>
                <a:cs typeface="Arial" pitchFamily="34" charset="-120"/>
              </a:rPr>
              <a:t>Safety Complexity</a:t>
            </a:r>
            <a:endParaRPr lang="en-US" sz="1300" dirty="0"/>
          </a:p>
        </p:txBody>
      </p:sp>
      <p:sp>
        <p:nvSpPr>
          <p:cNvPr id="7" name="Text 5"/>
          <p:cNvSpPr/>
          <p:nvPr/>
        </p:nvSpPr>
        <p:spPr>
          <a:xfrm>
            <a:off x="530352" y="1417320"/>
            <a:ext cx="3749040" cy="1005840"/>
          </a:xfrm>
          <a:prstGeom prst="rect">
            <a:avLst/>
          </a:prstGeom>
          <a:noFill/>
          <a:ln/>
        </p:spPr>
        <p:txBody>
          <a:bodyPr wrap="square" lIns="0" tIns="0" rIns="0" bIns="0" rtlCol="0" anchor="ctr"/>
          <a:lstStyle/>
          <a:p>
            <a:pPr marL="0" indent="0">
              <a:buNone/>
            </a:pPr>
            <a:r>
              <a:rPr lang="en-US" sz="1050" dirty="0">
                <a:solidFill>
                  <a:srgbClr val="CBD5E1"/>
                </a:solidFill>
                <a:latin typeface="Calibri" pitchFamily="34" charset="0"/>
                <a:ea typeface="Calibri" pitchFamily="34" charset="-122"/>
                <a:cs typeface="Calibri" pitchFamily="34" charset="-120"/>
              </a:rPr>
              <a:t>Patients and caregivers struggle to understand drug safety during pregnancy. With 6 FDA categories (A–X), most people have no idea which drugs are safe or dangerous.</a:t>
            </a:r>
            <a:endParaRPr lang="en-US" sz="1050" dirty="0"/>
          </a:p>
        </p:txBody>
      </p:sp>
      <p:sp>
        <p:nvSpPr>
          <p:cNvPr id="8" name="Shape 6"/>
          <p:cNvSpPr/>
          <p:nvPr/>
        </p:nvSpPr>
        <p:spPr>
          <a:xfrm>
            <a:off x="4754880" y="1005840"/>
            <a:ext cx="4023360" cy="1554480"/>
          </a:xfrm>
          <a:prstGeom prst="rect">
            <a:avLst/>
          </a:prstGeom>
          <a:solidFill>
            <a:srgbClr val="1F2937"/>
          </a:solidFill>
          <a:ln w="12700">
            <a:solidFill>
              <a:srgbClr val="333333"/>
            </a:solidFill>
            <a:prstDash val="solid"/>
          </a:ln>
          <a:effectLst>
            <a:outerShdw blurRad="101600" dist="38100" dir="8100000" algn="bl" rotWithShape="0">
              <a:srgbClr val="000000">
                <a:alpha val="25000"/>
              </a:srgbClr>
            </a:outerShdw>
          </a:effectLst>
        </p:spPr>
      </p:sp>
      <p:sp>
        <p:nvSpPr>
          <p:cNvPr id="9" name="Shape 7"/>
          <p:cNvSpPr/>
          <p:nvPr/>
        </p:nvSpPr>
        <p:spPr>
          <a:xfrm>
            <a:off x="4754880" y="1005840"/>
            <a:ext cx="54864" cy="1554480"/>
          </a:xfrm>
          <a:prstGeom prst="rect">
            <a:avLst/>
          </a:prstGeom>
          <a:solidFill>
            <a:srgbClr val="F59E0B"/>
          </a:solidFill>
          <a:ln w="12700">
            <a:solidFill>
              <a:srgbClr val="333333"/>
            </a:solidFill>
            <a:prstDash val="solid"/>
          </a:ln>
        </p:spPr>
      </p:sp>
      <p:sp>
        <p:nvSpPr>
          <p:cNvPr id="10" name="Text 8"/>
          <p:cNvSpPr/>
          <p:nvPr/>
        </p:nvSpPr>
        <p:spPr>
          <a:xfrm>
            <a:off x="4919472" y="1097280"/>
            <a:ext cx="3749040" cy="320040"/>
          </a:xfrm>
          <a:prstGeom prst="rect">
            <a:avLst/>
          </a:prstGeom>
          <a:noFill/>
          <a:ln/>
        </p:spPr>
        <p:txBody>
          <a:bodyPr wrap="square" lIns="0" tIns="0" rIns="0" bIns="0" rtlCol="0" anchor="ctr"/>
          <a:lstStyle/>
          <a:p>
            <a:pPr marL="0" indent="0">
              <a:buNone/>
            </a:pPr>
            <a:r>
              <a:rPr lang="en-US" sz="1300" b="1" dirty="0">
                <a:solidFill>
                  <a:srgbClr val="F59E0B"/>
                </a:solidFill>
                <a:latin typeface="Arial" pitchFamily="34" charset="0"/>
                <a:ea typeface="Arial" pitchFamily="34" charset="-122"/>
                <a:cs typeface="Arial" pitchFamily="34" charset="-120"/>
              </a:rPr>
              <a:t>Prescription vs OTC Confusion</a:t>
            </a:r>
            <a:endParaRPr lang="en-US" sz="1300" dirty="0"/>
          </a:p>
        </p:txBody>
      </p:sp>
      <p:sp>
        <p:nvSpPr>
          <p:cNvPr id="11" name="Text 9"/>
          <p:cNvSpPr/>
          <p:nvPr/>
        </p:nvSpPr>
        <p:spPr>
          <a:xfrm>
            <a:off x="4919472" y="1417320"/>
            <a:ext cx="3749040" cy="1005840"/>
          </a:xfrm>
          <a:prstGeom prst="rect">
            <a:avLst/>
          </a:prstGeom>
          <a:noFill/>
          <a:ln/>
        </p:spPr>
        <p:txBody>
          <a:bodyPr wrap="square" lIns="0" tIns="0" rIns="0" bIns="0" rtlCol="0" anchor="ctr"/>
          <a:lstStyle/>
          <a:p>
            <a:pPr marL="0" indent="0">
              <a:buNone/>
            </a:pPr>
            <a:r>
              <a:rPr lang="en-US" sz="1050" dirty="0">
                <a:solidFill>
                  <a:srgbClr val="CBD5E1"/>
                </a:solidFill>
                <a:latin typeface="Calibri" pitchFamily="34" charset="0"/>
                <a:ea typeface="Calibri" pitchFamily="34" charset="-122"/>
                <a:cs typeface="Calibri" pitchFamily="34" charset="-120"/>
              </a:rPr>
              <a:t>68% of drugs require prescriptions, but patients often self-medicate with OTC drugs without understanding interactions and side effects.</a:t>
            </a:r>
            <a:endParaRPr lang="en-US" sz="1050" dirty="0"/>
          </a:p>
        </p:txBody>
      </p:sp>
      <p:sp>
        <p:nvSpPr>
          <p:cNvPr id="12" name="Shape 10"/>
          <p:cNvSpPr/>
          <p:nvPr/>
        </p:nvSpPr>
        <p:spPr>
          <a:xfrm>
            <a:off x="365760" y="2834640"/>
            <a:ext cx="4023360" cy="1554480"/>
          </a:xfrm>
          <a:prstGeom prst="rect">
            <a:avLst/>
          </a:prstGeom>
          <a:solidFill>
            <a:srgbClr val="1F2937"/>
          </a:solidFill>
          <a:ln w="12700">
            <a:solidFill>
              <a:srgbClr val="333333"/>
            </a:solidFill>
            <a:prstDash val="solid"/>
          </a:ln>
          <a:effectLst>
            <a:outerShdw blurRad="101600" dist="38100" dir="8100000" algn="bl" rotWithShape="0">
              <a:srgbClr val="000000">
                <a:alpha val="25000"/>
              </a:srgbClr>
            </a:outerShdw>
          </a:effectLst>
        </p:spPr>
      </p:sp>
      <p:sp>
        <p:nvSpPr>
          <p:cNvPr id="13" name="Shape 11"/>
          <p:cNvSpPr/>
          <p:nvPr/>
        </p:nvSpPr>
        <p:spPr>
          <a:xfrm>
            <a:off x="365760" y="2834640"/>
            <a:ext cx="54864" cy="1554480"/>
          </a:xfrm>
          <a:prstGeom prst="rect">
            <a:avLst/>
          </a:prstGeom>
          <a:solidFill>
            <a:srgbClr val="8B5CF6"/>
          </a:solidFill>
          <a:ln w="12700">
            <a:solidFill>
              <a:srgbClr val="333333"/>
            </a:solidFill>
            <a:prstDash val="solid"/>
          </a:ln>
        </p:spPr>
      </p:sp>
      <p:sp>
        <p:nvSpPr>
          <p:cNvPr id="14" name="Text 12"/>
          <p:cNvSpPr/>
          <p:nvPr/>
        </p:nvSpPr>
        <p:spPr>
          <a:xfrm>
            <a:off x="530352" y="2926080"/>
            <a:ext cx="3749040" cy="320040"/>
          </a:xfrm>
          <a:prstGeom prst="rect">
            <a:avLst/>
          </a:prstGeom>
          <a:noFill/>
          <a:ln/>
        </p:spPr>
        <p:txBody>
          <a:bodyPr wrap="square" lIns="0" tIns="0" rIns="0" bIns="0" rtlCol="0" anchor="ctr"/>
          <a:lstStyle/>
          <a:p>
            <a:pPr marL="0" indent="0">
              <a:buNone/>
            </a:pPr>
            <a:r>
              <a:rPr lang="en-US" sz="1300" b="1" dirty="0">
                <a:solidFill>
                  <a:srgbClr val="8B5CF6"/>
                </a:solidFill>
                <a:latin typeface="Arial" pitchFamily="34" charset="0"/>
                <a:ea typeface="Arial" pitchFamily="34" charset="-122"/>
                <a:cs typeface="Arial" pitchFamily="34" charset="-120"/>
              </a:rPr>
              <a:t>Alcohol Interaction Risk</a:t>
            </a:r>
            <a:endParaRPr lang="en-US" sz="1300" dirty="0"/>
          </a:p>
        </p:txBody>
      </p:sp>
      <p:sp>
        <p:nvSpPr>
          <p:cNvPr id="15" name="Text 13"/>
          <p:cNvSpPr/>
          <p:nvPr/>
        </p:nvSpPr>
        <p:spPr>
          <a:xfrm>
            <a:off x="530352" y="3246120"/>
            <a:ext cx="3749040" cy="1005840"/>
          </a:xfrm>
          <a:prstGeom prst="rect">
            <a:avLst/>
          </a:prstGeom>
          <a:noFill/>
          <a:ln/>
        </p:spPr>
        <p:txBody>
          <a:bodyPr wrap="square" lIns="0" tIns="0" rIns="0" bIns="0" rtlCol="0" anchor="ctr"/>
          <a:lstStyle/>
          <a:p>
            <a:pPr marL="0" indent="0">
              <a:buNone/>
            </a:pPr>
            <a:r>
              <a:rPr lang="en-US" sz="1050" dirty="0">
                <a:solidFill>
                  <a:srgbClr val="CBD5E1"/>
                </a:solidFill>
                <a:latin typeface="Calibri" pitchFamily="34" charset="0"/>
                <a:ea typeface="Calibri" pitchFamily="34" charset="-122"/>
                <a:cs typeface="Calibri" pitchFamily="34" charset="-120"/>
              </a:rPr>
              <a:t>Nearly 47% of drugs have dangerous alcohol interactions, yet this information is rarely communicated clearly to patients at pharmacies.</a:t>
            </a:r>
            <a:endParaRPr lang="en-US" sz="1050" dirty="0"/>
          </a:p>
        </p:txBody>
      </p:sp>
      <p:sp>
        <p:nvSpPr>
          <p:cNvPr id="16" name="Shape 14"/>
          <p:cNvSpPr/>
          <p:nvPr/>
        </p:nvSpPr>
        <p:spPr>
          <a:xfrm>
            <a:off x="4754880" y="2834640"/>
            <a:ext cx="4023360" cy="1554480"/>
          </a:xfrm>
          <a:prstGeom prst="rect">
            <a:avLst/>
          </a:prstGeom>
          <a:solidFill>
            <a:srgbClr val="1F2937"/>
          </a:solidFill>
          <a:ln w="12700">
            <a:solidFill>
              <a:srgbClr val="333333"/>
            </a:solidFill>
            <a:prstDash val="solid"/>
          </a:ln>
          <a:effectLst>
            <a:outerShdw blurRad="101600" dist="38100" dir="8100000" algn="bl" rotWithShape="0">
              <a:srgbClr val="000000">
                <a:alpha val="25000"/>
              </a:srgbClr>
            </a:outerShdw>
          </a:effectLst>
        </p:spPr>
      </p:sp>
      <p:sp>
        <p:nvSpPr>
          <p:cNvPr id="17" name="Shape 15"/>
          <p:cNvSpPr/>
          <p:nvPr/>
        </p:nvSpPr>
        <p:spPr>
          <a:xfrm>
            <a:off x="4754880" y="2834640"/>
            <a:ext cx="54864" cy="1554480"/>
          </a:xfrm>
          <a:prstGeom prst="rect">
            <a:avLst/>
          </a:prstGeom>
          <a:solidFill>
            <a:srgbClr val="00B4D8"/>
          </a:solidFill>
          <a:ln w="12700">
            <a:solidFill>
              <a:srgbClr val="333333"/>
            </a:solidFill>
            <a:prstDash val="solid"/>
          </a:ln>
        </p:spPr>
      </p:sp>
      <p:sp>
        <p:nvSpPr>
          <p:cNvPr id="18" name="Text 16"/>
          <p:cNvSpPr/>
          <p:nvPr/>
        </p:nvSpPr>
        <p:spPr>
          <a:xfrm>
            <a:off x="4919472" y="2926080"/>
            <a:ext cx="3749040" cy="320040"/>
          </a:xfrm>
          <a:prstGeom prst="rect">
            <a:avLst/>
          </a:prstGeom>
          <a:noFill/>
          <a:ln/>
        </p:spPr>
        <p:txBody>
          <a:bodyPr wrap="square" lIns="0" tIns="0" rIns="0" bIns="0" rtlCol="0" anchor="ctr"/>
          <a:lstStyle/>
          <a:p>
            <a:pPr marL="0" indent="0">
              <a:buNone/>
            </a:pPr>
            <a:r>
              <a:rPr lang="en-US" sz="1300" b="1" dirty="0">
                <a:solidFill>
                  <a:srgbClr val="00B4D8"/>
                </a:solidFill>
                <a:latin typeface="Arial" pitchFamily="34" charset="0"/>
                <a:ea typeface="Arial" pitchFamily="34" charset="-122"/>
                <a:cs typeface="Arial" pitchFamily="34" charset="-120"/>
              </a:rPr>
              <a:t>No Unified View</a:t>
            </a:r>
            <a:endParaRPr lang="en-US" sz="1300" dirty="0"/>
          </a:p>
        </p:txBody>
      </p:sp>
      <p:sp>
        <p:nvSpPr>
          <p:cNvPr id="19" name="Text 17"/>
          <p:cNvSpPr/>
          <p:nvPr/>
        </p:nvSpPr>
        <p:spPr>
          <a:xfrm>
            <a:off x="4919472" y="3246120"/>
            <a:ext cx="3749040" cy="1005840"/>
          </a:xfrm>
          <a:prstGeom prst="rect">
            <a:avLst/>
          </a:prstGeom>
          <a:noFill/>
          <a:ln/>
        </p:spPr>
        <p:txBody>
          <a:bodyPr wrap="square" lIns="0" tIns="0" rIns="0" bIns="0" rtlCol="0" anchor="ctr"/>
          <a:lstStyle/>
          <a:p>
            <a:pPr marL="0" indent="0">
              <a:buNone/>
            </a:pPr>
            <a:r>
              <a:rPr lang="en-US" sz="1050" dirty="0">
                <a:solidFill>
                  <a:srgbClr val="CBD5E1"/>
                </a:solidFill>
                <a:latin typeface="Calibri" pitchFamily="34" charset="0"/>
                <a:ea typeface="Calibri" pitchFamily="34" charset="-122"/>
                <a:cs typeface="Calibri" pitchFamily="34" charset="-120"/>
              </a:rPr>
              <a:t>Drug information is scattered across databases. There is no single dashboard that links safety, ratings, side effects, and condition data together.</a:t>
            </a:r>
            <a:endParaRPr lang="en-US" sz="1050" dirty="0"/>
          </a:p>
        </p:txBody>
      </p:sp>
      <p:sp>
        <p:nvSpPr>
          <p:cNvPr id="20" name="Shape 18"/>
          <p:cNvSpPr/>
          <p:nvPr/>
        </p:nvSpPr>
        <p:spPr>
          <a:xfrm>
            <a:off x="0" y="5070348"/>
            <a:ext cx="9144000" cy="73152"/>
          </a:xfrm>
          <a:prstGeom prst="rect">
            <a:avLst/>
          </a:prstGeom>
          <a:solidFill>
            <a:srgbClr val="EF4444"/>
          </a:solidFill>
          <a:ln w="12700">
            <a:solidFill>
              <a:srgbClr val="333333"/>
            </a:solidFill>
            <a:prstDash val="solid"/>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10B981"/>
          </a:solidFill>
          <a:ln w="12700">
            <a:solidFill>
              <a:srgbClr val="333333"/>
            </a:solidFill>
            <a:prstDash val="solid"/>
          </a:ln>
        </p:spPr>
      </p:sp>
      <p:sp>
        <p:nvSpPr>
          <p:cNvPr id="3" name="Text 1"/>
          <p:cNvSpPr/>
          <p:nvPr/>
        </p:nvSpPr>
        <p:spPr>
          <a:xfrm>
            <a:off x="457200" y="182880"/>
            <a:ext cx="8229600" cy="640080"/>
          </a:xfrm>
          <a:prstGeom prst="rect">
            <a:avLst/>
          </a:prstGeom>
          <a:noFill/>
          <a:ln/>
        </p:spPr>
        <p:txBody>
          <a:bodyPr wrap="square" rtlCol="0" anchor="ctr"/>
          <a:lstStyle/>
          <a:p>
            <a:pPr marL="0" indent="0">
              <a:buNone/>
            </a:pPr>
            <a:r>
              <a:rPr lang="en-US" sz="3200" b="1" dirty="0">
                <a:solidFill>
                  <a:srgbClr val="FFFFFF"/>
                </a:solidFill>
                <a:latin typeface="Arial Black" pitchFamily="34" charset="0"/>
                <a:ea typeface="Arial Black" pitchFamily="34" charset="-122"/>
                <a:cs typeface="Arial Black" pitchFamily="34" charset="-120"/>
              </a:rPr>
              <a:t>Introduction &amp; Objectives</a:t>
            </a:r>
            <a:endParaRPr lang="en-US" sz="3200" dirty="0"/>
          </a:p>
        </p:txBody>
      </p:sp>
      <p:sp>
        <p:nvSpPr>
          <p:cNvPr id="4" name="Shape 2"/>
          <p:cNvSpPr/>
          <p:nvPr/>
        </p:nvSpPr>
        <p:spPr>
          <a:xfrm>
            <a:off x="365760" y="960120"/>
            <a:ext cx="4114800" cy="3931920"/>
          </a:xfrm>
          <a:prstGeom prst="rect">
            <a:avLst/>
          </a:prstGeom>
          <a:solidFill>
            <a:srgbClr val="1F2937"/>
          </a:solidFill>
          <a:ln w="12700">
            <a:solidFill>
              <a:srgbClr val="333333"/>
            </a:solidFill>
            <a:prstDash val="solid"/>
          </a:ln>
          <a:effectLst>
            <a:outerShdw blurRad="101600" dist="38100" dir="8100000" algn="bl" rotWithShape="0">
              <a:srgbClr val="000000">
                <a:alpha val="25000"/>
              </a:srgbClr>
            </a:outerShdw>
          </a:effectLst>
        </p:spPr>
      </p:sp>
      <p:sp>
        <p:nvSpPr>
          <p:cNvPr id="5" name="Text 3"/>
          <p:cNvSpPr/>
          <p:nvPr/>
        </p:nvSpPr>
        <p:spPr>
          <a:xfrm>
            <a:off x="502920" y="1051560"/>
            <a:ext cx="3840480" cy="365760"/>
          </a:xfrm>
          <a:prstGeom prst="rect">
            <a:avLst/>
          </a:prstGeom>
          <a:noFill/>
          <a:ln/>
        </p:spPr>
        <p:txBody>
          <a:bodyPr wrap="square" lIns="0" tIns="0" rIns="0" bIns="0" rtlCol="0" anchor="ctr"/>
          <a:lstStyle/>
          <a:p>
            <a:pPr marL="0" indent="0">
              <a:buNone/>
            </a:pPr>
            <a:r>
              <a:rPr lang="en-US" sz="1400" b="1" dirty="0">
                <a:solidFill>
                  <a:srgbClr val="10B981"/>
                </a:solidFill>
                <a:latin typeface="Arial" pitchFamily="34" charset="0"/>
                <a:ea typeface="Arial" pitchFamily="34" charset="-122"/>
                <a:cs typeface="Arial" pitchFamily="34" charset="-120"/>
              </a:rPr>
              <a:t>About This Study</a:t>
            </a:r>
            <a:endParaRPr lang="en-US" sz="1400" dirty="0"/>
          </a:p>
        </p:txBody>
      </p:sp>
      <p:sp>
        <p:nvSpPr>
          <p:cNvPr id="6" name="Text 4"/>
          <p:cNvSpPr/>
          <p:nvPr/>
        </p:nvSpPr>
        <p:spPr>
          <a:xfrm>
            <a:off x="502920" y="1508760"/>
            <a:ext cx="3840480" cy="3200400"/>
          </a:xfrm>
          <a:prstGeom prst="rect">
            <a:avLst/>
          </a:prstGeom>
          <a:noFill/>
          <a:ln/>
        </p:spPr>
        <p:txBody>
          <a:bodyPr wrap="square" lIns="0" tIns="0" rIns="0" bIns="0" rtlCol="0" anchor="ctr"/>
          <a:lstStyle/>
          <a:p>
            <a:pPr marL="0" indent="0">
              <a:buNone/>
            </a:pPr>
            <a:r>
              <a:rPr lang="en-US" sz="1100" dirty="0">
                <a:solidFill>
                  <a:srgbClr val="CBD5E1"/>
                </a:solidFill>
                <a:latin typeface="Calibri" pitchFamily="34" charset="0"/>
                <a:ea typeface="Calibri" pitchFamily="34" charset="-122"/>
                <a:cs typeface="Calibri" pitchFamily="34" charset="-120"/>
              </a:rPr>
              <a:t>This project performs a comprehensive Exploratory Data Analysis (EDA) on a dataset of 2,931 drugs sourced from drugs.com, covering 47 medical conditions.
Using Power BI, we built an interactive 4-page dashboard to uncover patterns in drug safety, patient ratings, side effects, and prescribing trends.
The goal is to transform complex pharmaceutical data into clear, actionable insights for patients, caregivers, and healthcare professionals.</a:t>
            </a:r>
            <a:endParaRPr lang="en-US" sz="1100" dirty="0"/>
          </a:p>
        </p:txBody>
      </p:sp>
      <p:sp>
        <p:nvSpPr>
          <p:cNvPr id="7" name="Text 5"/>
          <p:cNvSpPr/>
          <p:nvPr/>
        </p:nvSpPr>
        <p:spPr>
          <a:xfrm>
            <a:off x="4754880" y="960120"/>
            <a:ext cx="4023360" cy="365760"/>
          </a:xfrm>
          <a:prstGeom prst="rect">
            <a:avLst/>
          </a:prstGeom>
          <a:noFill/>
          <a:ln/>
        </p:spPr>
        <p:txBody>
          <a:bodyPr wrap="square" lIns="0" tIns="0" rIns="0" bIns="0" rtlCol="0" anchor="ctr"/>
          <a:lstStyle/>
          <a:p>
            <a:pPr marL="0" indent="0">
              <a:buNone/>
            </a:pPr>
            <a:r>
              <a:rPr lang="en-US" sz="1400" b="1" dirty="0">
                <a:solidFill>
                  <a:srgbClr val="FFFFFF"/>
                </a:solidFill>
                <a:latin typeface="Arial" pitchFamily="34" charset="0"/>
                <a:ea typeface="Arial" pitchFamily="34" charset="-122"/>
                <a:cs typeface="Arial" pitchFamily="34" charset="-120"/>
              </a:rPr>
              <a:t>Research Objectives</a:t>
            </a:r>
            <a:endParaRPr lang="en-US" sz="1400" dirty="0"/>
          </a:p>
        </p:txBody>
      </p:sp>
      <p:sp>
        <p:nvSpPr>
          <p:cNvPr id="8" name="Shape 6"/>
          <p:cNvSpPr/>
          <p:nvPr/>
        </p:nvSpPr>
        <p:spPr>
          <a:xfrm>
            <a:off x="4754880" y="1417320"/>
            <a:ext cx="4023360" cy="594360"/>
          </a:xfrm>
          <a:prstGeom prst="rect">
            <a:avLst/>
          </a:prstGeom>
          <a:solidFill>
            <a:srgbClr val="1F2937"/>
          </a:solidFill>
          <a:ln w="12700">
            <a:solidFill>
              <a:srgbClr val="333333"/>
            </a:solidFill>
            <a:prstDash val="solid"/>
          </a:ln>
        </p:spPr>
      </p:sp>
      <p:sp>
        <p:nvSpPr>
          <p:cNvPr id="9" name="Shape 7"/>
          <p:cNvSpPr/>
          <p:nvPr/>
        </p:nvSpPr>
        <p:spPr>
          <a:xfrm>
            <a:off x="4754880" y="1417320"/>
            <a:ext cx="54864" cy="594360"/>
          </a:xfrm>
          <a:prstGeom prst="rect">
            <a:avLst/>
          </a:prstGeom>
          <a:solidFill>
            <a:srgbClr val="00B4D8"/>
          </a:solidFill>
          <a:ln w="12700">
            <a:solidFill>
              <a:srgbClr val="333333"/>
            </a:solidFill>
            <a:prstDash val="solid"/>
          </a:ln>
        </p:spPr>
      </p:sp>
      <p:sp>
        <p:nvSpPr>
          <p:cNvPr id="10" name="Text 8"/>
          <p:cNvSpPr/>
          <p:nvPr/>
        </p:nvSpPr>
        <p:spPr>
          <a:xfrm>
            <a:off x="4828032" y="1463040"/>
            <a:ext cx="457200" cy="502920"/>
          </a:xfrm>
          <a:prstGeom prst="rect">
            <a:avLst/>
          </a:prstGeom>
          <a:noFill/>
          <a:ln/>
        </p:spPr>
        <p:txBody>
          <a:bodyPr wrap="square" lIns="0" tIns="0" rIns="0" bIns="0" rtlCol="0" anchor="ctr"/>
          <a:lstStyle/>
          <a:p>
            <a:pPr marL="0" indent="0">
              <a:buNone/>
            </a:pPr>
            <a:r>
              <a:rPr lang="en-US" sz="1800" b="1" dirty="0">
                <a:solidFill>
                  <a:srgbClr val="00B4D8"/>
                </a:solidFill>
                <a:latin typeface="Arial Black" pitchFamily="34" charset="0"/>
                <a:ea typeface="Arial Black" pitchFamily="34" charset="-122"/>
                <a:cs typeface="Arial Black" pitchFamily="34" charset="-120"/>
              </a:rPr>
              <a:t>01</a:t>
            </a:r>
            <a:endParaRPr lang="en-US" sz="1800" dirty="0"/>
          </a:p>
        </p:txBody>
      </p:sp>
      <p:sp>
        <p:nvSpPr>
          <p:cNvPr id="11" name="Text 9"/>
          <p:cNvSpPr/>
          <p:nvPr/>
        </p:nvSpPr>
        <p:spPr>
          <a:xfrm>
            <a:off x="5303520" y="1508760"/>
            <a:ext cx="3383280" cy="457200"/>
          </a:xfrm>
          <a:prstGeom prst="rect">
            <a:avLst/>
          </a:prstGeom>
          <a:noFill/>
          <a:ln/>
        </p:spPr>
        <p:txBody>
          <a:bodyPr wrap="square" lIns="0" tIns="0" rIns="0" bIns="0" rtlCol="0" anchor="ctr"/>
          <a:lstStyle/>
          <a:p>
            <a:pPr marL="0" indent="0">
              <a:buNone/>
            </a:pPr>
            <a:r>
              <a:rPr lang="en-US" sz="1050" dirty="0">
                <a:solidFill>
                  <a:srgbClr val="CBD5E1"/>
                </a:solidFill>
                <a:latin typeface="Calibri" pitchFamily="34" charset="0"/>
                <a:ea typeface="Calibri" pitchFamily="34" charset="-122"/>
                <a:cs typeface="Calibri" pitchFamily="34" charset="-120"/>
              </a:rPr>
              <a:t>Analyse drug safety profiles across FDA pregnancy categories</a:t>
            </a:r>
            <a:endParaRPr lang="en-US" sz="1050" dirty="0"/>
          </a:p>
        </p:txBody>
      </p:sp>
      <p:sp>
        <p:nvSpPr>
          <p:cNvPr id="12" name="Shape 10"/>
          <p:cNvSpPr/>
          <p:nvPr/>
        </p:nvSpPr>
        <p:spPr>
          <a:xfrm>
            <a:off x="4754880" y="2130552"/>
            <a:ext cx="4023360" cy="594360"/>
          </a:xfrm>
          <a:prstGeom prst="rect">
            <a:avLst/>
          </a:prstGeom>
          <a:solidFill>
            <a:srgbClr val="1F2937"/>
          </a:solidFill>
          <a:ln w="12700">
            <a:solidFill>
              <a:srgbClr val="333333"/>
            </a:solidFill>
            <a:prstDash val="solid"/>
          </a:ln>
        </p:spPr>
      </p:sp>
      <p:sp>
        <p:nvSpPr>
          <p:cNvPr id="13" name="Shape 11"/>
          <p:cNvSpPr/>
          <p:nvPr/>
        </p:nvSpPr>
        <p:spPr>
          <a:xfrm>
            <a:off x="4754880" y="2130552"/>
            <a:ext cx="54864" cy="594360"/>
          </a:xfrm>
          <a:prstGeom prst="rect">
            <a:avLst/>
          </a:prstGeom>
          <a:solidFill>
            <a:srgbClr val="10B981"/>
          </a:solidFill>
          <a:ln w="12700">
            <a:solidFill>
              <a:srgbClr val="333333"/>
            </a:solidFill>
            <a:prstDash val="solid"/>
          </a:ln>
        </p:spPr>
      </p:sp>
      <p:sp>
        <p:nvSpPr>
          <p:cNvPr id="14" name="Text 12"/>
          <p:cNvSpPr/>
          <p:nvPr/>
        </p:nvSpPr>
        <p:spPr>
          <a:xfrm>
            <a:off x="4828032" y="2176272"/>
            <a:ext cx="457200" cy="502920"/>
          </a:xfrm>
          <a:prstGeom prst="rect">
            <a:avLst/>
          </a:prstGeom>
          <a:noFill/>
          <a:ln/>
        </p:spPr>
        <p:txBody>
          <a:bodyPr wrap="square" lIns="0" tIns="0" rIns="0" bIns="0" rtlCol="0" anchor="ctr"/>
          <a:lstStyle/>
          <a:p>
            <a:pPr marL="0" indent="0">
              <a:buNone/>
            </a:pPr>
            <a:r>
              <a:rPr lang="en-US" sz="1800" b="1" dirty="0">
                <a:solidFill>
                  <a:srgbClr val="10B981"/>
                </a:solidFill>
                <a:latin typeface="Arial Black" pitchFamily="34" charset="0"/>
                <a:ea typeface="Arial Black" pitchFamily="34" charset="-122"/>
                <a:cs typeface="Arial Black" pitchFamily="34" charset="-120"/>
              </a:rPr>
              <a:t>02</a:t>
            </a:r>
            <a:endParaRPr lang="en-US" sz="1800" dirty="0"/>
          </a:p>
        </p:txBody>
      </p:sp>
      <p:sp>
        <p:nvSpPr>
          <p:cNvPr id="15" name="Text 13"/>
          <p:cNvSpPr/>
          <p:nvPr/>
        </p:nvSpPr>
        <p:spPr>
          <a:xfrm>
            <a:off x="5303520" y="2221992"/>
            <a:ext cx="3383280" cy="457200"/>
          </a:xfrm>
          <a:prstGeom prst="rect">
            <a:avLst/>
          </a:prstGeom>
          <a:noFill/>
          <a:ln/>
        </p:spPr>
        <p:txBody>
          <a:bodyPr wrap="square" lIns="0" tIns="0" rIns="0" bIns="0" rtlCol="0" anchor="ctr"/>
          <a:lstStyle/>
          <a:p>
            <a:pPr marL="0" indent="0">
              <a:buNone/>
            </a:pPr>
            <a:r>
              <a:rPr lang="en-US" sz="1050" dirty="0">
                <a:solidFill>
                  <a:srgbClr val="CBD5E1"/>
                </a:solidFill>
                <a:latin typeface="Calibri" pitchFamily="34" charset="0"/>
                <a:ea typeface="Calibri" pitchFamily="34" charset="-122"/>
                <a:cs typeface="Calibri" pitchFamily="34" charset="-120"/>
              </a:rPr>
              <a:t>Compare patient ratings across conditions and drug classes</a:t>
            </a:r>
            <a:endParaRPr lang="en-US" sz="1050" dirty="0"/>
          </a:p>
        </p:txBody>
      </p:sp>
      <p:sp>
        <p:nvSpPr>
          <p:cNvPr id="16" name="Shape 14"/>
          <p:cNvSpPr/>
          <p:nvPr/>
        </p:nvSpPr>
        <p:spPr>
          <a:xfrm>
            <a:off x="4754880" y="2843784"/>
            <a:ext cx="4023360" cy="594360"/>
          </a:xfrm>
          <a:prstGeom prst="rect">
            <a:avLst/>
          </a:prstGeom>
          <a:solidFill>
            <a:srgbClr val="1F2937"/>
          </a:solidFill>
          <a:ln w="12700">
            <a:solidFill>
              <a:srgbClr val="333333"/>
            </a:solidFill>
            <a:prstDash val="solid"/>
          </a:ln>
        </p:spPr>
      </p:sp>
      <p:sp>
        <p:nvSpPr>
          <p:cNvPr id="17" name="Shape 15"/>
          <p:cNvSpPr/>
          <p:nvPr/>
        </p:nvSpPr>
        <p:spPr>
          <a:xfrm>
            <a:off x="4754880" y="2843784"/>
            <a:ext cx="54864" cy="594360"/>
          </a:xfrm>
          <a:prstGeom prst="rect">
            <a:avLst/>
          </a:prstGeom>
          <a:solidFill>
            <a:srgbClr val="F59E0B"/>
          </a:solidFill>
          <a:ln w="12700">
            <a:solidFill>
              <a:srgbClr val="333333"/>
            </a:solidFill>
            <a:prstDash val="solid"/>
          </a:ln>
        </p:spPr>
      </p:sp>
      <p:sp>
        <p:nvSpPr>
          <p:cNvPr id="18" name="Text 16"/>
          <p:cNvSpPr/>
          <p:nvPr/>
        </p:nvSpPr>
        <p:spPr>
          <a:xfrm>
            <a:off x="4828032" y="2889504"/>
            <a:ext cx="457200" cy="502920"/>
          </a:xfrm>
          <a:prstGeom prst="rect">
            <a:avLst/>
          </a:prstGeom>
          <a:noFill/>
          <a:ln/>
        </p:spPr>
        <p:txBody>
          <a:bodyPr wrap="square" lIns="0" tIns="0" rIns="0" bIns="0" rtlCol="0" anchor="ctr"/>
          <a:lstStyle/>
          <a:p>
            <a:pPr marL="0" indent="0">
              <a:buNone/>
            </a:pPr>
            <a:r>
              <a:rPr lang="en-US" sz="1800" b="1" dirty="0">
                <a:solidFill>
                  <a:srgbClr val="F59E0B"/>
                </a:solidFill>
                <a:latin typeface="Arial Black" pitchFamily="34" charset="0"/>
                <a:ea typeface="Arial Black" pitchFamily="34" charset="-122"/>
                <a:cs typeface="Arial Black" pitchFamily="34" charset="-120"/>
              </a:rPr>
              <a:t>03</a:t>
            </a:r>
            <a:endParaRPr lang="en-US" sz="1800" dirty="0"/>
          </a:p>
        </p:txBody>
      </p:sp>
      <p:sp>
        <p:nvSpPr>
          <p:cNvPr id="19" name="Text 17"/>
          <p:cNvSpPr/>
          <p:nvPr/>
        </p:nvSpPr>
        <p:spPr>
          <a:xfrm>
            <a:off x="5303520" y="2935224"/>
            <a:ext cx="3383280" cy="457200"/>
          </a:xfrm>
          <a:prstGeom prst="rect">
            <a:avLst/>
          </a:prstGeom>
          <a:noFill/>
          <a:ln/>
        </p:spPr>
        <p:txBody>
          <a:bodyPr wrap="square" lIns="0" tIns="0" rIns="0" bIns="0" rtlCol="0" anchor="ctr"/>
          <a:lstStyle/>
          <a:p>
            <a:pPr marL="0" indent="0">
              <a:buNone/>
            </a:pPr>
            <a:r>
              <a:rPr lang="en-US" sz="1050" dirty="0">
                <a:solidFill>
                  <a:srgbClr val="CBD5E1"/>
                </a:solidFill>
                <a:latin typeface="Calibri" pitchFamily="34" charset="0"/>
                <a:ea typeface="Calibri" pitchFamily="34" charset="-122"/>
                <a:cs typeface="Calibri" pitchFamily="34" charset="-120"/>
              </a:rPr>
              <a:t>Identify which drugs and classes carry the most side effects</a:t>
            </a:r>
            <a:endParaRPr lang="en-US" sz="1050" dirty="0"/>
          </a:p>
        </p:txBody>
      </p:sp>
      <p:sp>
        <p:nvSpPr>
          <p:cNvPr id="20" name="Shape 18"/>
          <p:cNvSpPr/>
          <p:nvPr/>
        </p:nvSpPr>
        <p:spPr>
          <a:xfrm>
            <a:off x="4754880" y="3557016"/>
            <a:ext cx="4023360" cy="594360"/>
          </a:xfrm>
          <a:prstGeom prst="rect">
            <a:avLst/>
          </a:prstGeom>
          <a:solidFill>
            <a:srgbClr val="1F2937"/>
          </a:solidFill>
          <a:ln w="12700">
            <a:solidFill>
              <a:srgbClr val="333333"/>
            </a:solidFill>
            <a:prstDash val="solid"/>
          </a:ln>
        </p:spPr>
      </p:sp>
      <p:sp>
        <p:nvSpPr>
          <p:cNvPr id="21" name="Shape 19"/>
          <p:cNvSpPr/>
          <p:nvPr/>
        </p:nvSpPr>
        <p:spPr>
          <a:xfrm>
            <a:off x="4754880" y="3557016"/>
            <a:ext cx="54864" cy="594360"/>
          </a:xfrm>
          <a:prstGeom prst="rect">
            <a:avLst/>
          </a:prstGeom>
          <a:solidFill>
            <a:srgbClr val="8B5CF6"/>
          </a:solidFill>
          <a:ln w="12700">
            <a:solidFill>
              <a:srgbClr val="333333"/>
            </a:solidFill>
            <a:prstDash val="solid"/>
          </a:ln>
        </p:spPr>
      </p:sp>
      <p:sp>
        <p:nvSpPr>
          <p:cNvPr id="22" name="Text 20"/>
          <p:cNvSpPr/>
          <p:nvPr/>
        </p:nvSpPr>
        <p:spPr>
          <a:xfrm>
            <a:off x="4828032" y="3602736"/>
            <a:ext cx="457200" cy="502920"/>
          </a:xfrm>
          <a:prstGeom prst="rect">
            <a:avLst/>
          </a:prstGeom>
          <a:noFill/>
          <a:ln/>
        </p:spPr>
        <p:txBody>
          <a:bodyPr wrap="square" lIns="0" tIns="0" rIns="0" bIns="0" rtlCol="0" anchor="ctr"/>
          <a:lstStyle/>
          <a:p>
            <a:pPr marL="0" indent="0">
              <a:buNone/>
            </a:pPr>
            <a:r>
              <a:rPr lang="en-US" sz="1800" b="1" dirty="0">
                <a:solidFill>
                  <a:srgbClr val="8B5CF6"/>
                </a:solidFill>
                <a:latin typeface="Arial Black" pitchFamily="34" charset="0"/>
                <a:ea typeface="Arial Black" pitchFamily="34" charset="-122"/>
                <a:cs typeface="Arial Black" pitchFamily="34" charset="-120"/>
              </a:rPr>
              <a:t>04</a:t>
            </a:r>
            <a:endParaRPr lang="en-US" sz="1800" dirty="0"/>
          </a:p>
        </p:txBody>
      </p:sp>
      <p:sp>
        <p:nvSpPr>
          <p:cNvPr id="23" name="Text 21"/>
          <p:cNvSpPr/>
          <p:nvPr/>
        </p:nvSpPr>
        <p:spPr>
          <a:xfrm>
            <a:off x="5303520" y="3648456"/>
            <a:ext cx="3383280" cy="457200"/>
          </a:xfrm>
          <a:prstGeom prst="rect">
            <a:avLst/>
          </a:prstGeom>
          <a:noFill/>
          <a:ln/>
        </p:spPr>
        <p:txBody>
          <a:bodyPr wrap="square" lIns="0" tIns="0" rIns="0" bIns="0" rtlCol="0" anchor="ctr"/>
          <a:lstStyle/>
          <a:p>
            <a:pPr marL="0" indent="0">
              <a:buNone/>
            </a:pPr>
            <a:r>
              <a:rPr lang="en-US" sz="1050" dirty="0">
                <a:solidFill>
                  <a:srgbClr val="CBD5E1"/>
                </a:solidFill>
                <a:latin typeface="Calibri" pitchFamily="34" charset="0"/>
                <a:ea typeface="Calibri" pitchFamily="34" charset="-122"/>
                <a:cs typeface="Calibri" pitchFamily="34" charset="-120"/>
              </a:rPr>
              <a:t>Understand prescription vs OTC drug distribution</a:t>
            </a:r>
            <a:endParaRPr lang="en-US" sz="1050" dirty="0"/>
          </a:p>
        </p:txBody>
      </p:sp>
      <p:sp>
        <p:nvSpPr>
          <p:cNvPr id="24" name="Shape 22"/>
          <p:cNvSpPr/>
          <p:nvPr/>
        </p:nvSpPr>
        <p:spPr>
          <a:xfrm>
            <a:off x="4754880" y="4270248"/>
            <a:ext cx="4023360" cy="594360"/>
          </a:xfrm>
          <a:prstGeom prst="rect">
            <a:avLst/>
          </a:prstGeom>
          <a:solidFill>
            <a:srgbClr val="1F2937"/>
          </a:solidFill>
          <a:ln w="12700">
            <a:solidFill>
              <a:srgbClr val="333333"/>
            </a:solidFill>
            <a:prstDash val="solid"/>
          </a:ln>
        </p:spPr>
      </p:sp>
      <p:sp>
        <p:nvSpPr>
          <p:cNvPr id="25" name="Shape 23"/>
          <p:cNvSpPr/>
          <p:nvPr/>
        </p:nvSpPr>
        <p:spPr>
          <a:xfrm>
            <a:off x="4754880" y="4270248"/>
            <a:ext cx="54864" cy="594360"/>
          </a:xfrm>
          <a:prstGeom prst="rect">
            <a:avLst/>
          </a:prstGeom>
          <a:solidFill>
            <a:srgbClr val="EF4444"/>
          </a:solidFill>
          <a:ln w="12700">
            <a:solidFill>
              <a:srgbClr val="333333"/>
            </a:solidFill>
            <a:prstDash val="solid"/>
          </a:ln>
        </p:spPr>
      </p:sp>
      <p:sp>
        <p:nvSpPr>
          <p:cNvPr id="26" name="Text 24"/>
          <p:cNvSpPr/>
          <p:nvPr/>
        </p:nvSpPr>
        <p:spPr>
          <a:xfrm>
            <a:off x="4828032" y="4315968"/>
            <a:ext cx="457200" cy="502920"/>
          </a:xfrm>
          <a:prstGeom prst="rect">
            <a:avLst/>
          </a:prstGeom>
          <a:noFill/>
          <a:ln/>
        </p:spPr>
        <p:txBody>
          <a:bodyPr wrap="square" lIns="0" tIns="0" rIns="0" bIns="0" rtlCol="0" anchor="ctr"/>
          <a:lstStyle/>
          <a:p>
            <a:pPr marL="0" indent="0">
              <a:buNone/>
            </a:pPr>
            <a:r>
              <a:rPr lang="en-US" sz="1800" b="1" dirty="0">
                <a:solidFill>
                  <a:srgbClr val="EF4444"/>
                </a:solidFill>
                <a:latin typeface="Arial Black" pitchFamily="34" charset="0"/>
                <a:ea typeface="Arial Black" pitchFamily="34" charset="-122"/>
                <a:cs typeface="Arial Black" pitchFamily="34" charset="-120"/>
              </a:rPr>
              <a:t>05</a:t>
            </a:r>
            <a:endParaRPr lang="en-US" sz="1800" dirty="0"/>
          </a:p>
        </p:txBody>
      </p:sp>
      <p:sp>
        <p:nvSpPr>
          <p:cNvPr id="27" name="Text 25"/>
          <p:cNvSpPr/>
          <p:nvPr/>
        </p:nvSpPr>
        <p:spPr>
          <a:xfrm>
            <a:off x="5303520" y="4361688"/>
            <a:ext cx="3383280" cy="457200"/>
          </a:xfrm>
          <a:prstGeom prst="rect">
            <a:avLst/>
          </a:prstGeom>
          <a:noFill/>
          <a:ln/>
        </p:spPr>
        <p:txBody>
          <a:bodyPr wrap="square" lIns="0" tIns="0" rIns="0" bIns="0" rtlCol="0" anchor="ctr"/>
          <a:lstStyle/>
          <a:p>
            <a:pPr marL="0" indent="0">
              <a:buNone/>
            </a:pPr>
            <a:r>
              <a:rPr lang="en-US" sz="1050" dirty="0">
                <a:solidFill>
                  <a:srgbClr val="CBD5E1"/>
                </a:solidFill>
                <a:latin typeface="Calibri" pitchFamily="34" charset="0"/>
                <a:ea typeface="Calibri" pitchFamily="34" charset="-122"/>
                <a:cs typeface="Calibri" pitchFamily="34" charset="-120"/>
              </a:rPr>
              <a:t>Highlight alcohol interaction risks across drug categories</a:t>
            </a:r>
            <a:endParaRPr lang="en-US" sz="1050" dirty="0"/>
          </a:p>
        </p:txBody>
      </p:sp>
      <p:sp>
        <p:nvSpPr>
          <p:cNvPr id="28" name="Shape 26"/>
          <p:cNvSpPr/>
          <p:nvPr/>
        </p:nvSpPr>
        <p:spPr>
          <a:xfrm>
            <a:off x="0" y="5070348"/>
            <a:ext cx="9144000" cy="73152"/>
          </a:xfrm>
          <a:prstGeom prst="rect">
            <a:avLst/>
          </a:prstGeom>
          <a:solidFill>
            <a:srgbClr val="10B981"/>
          </a:solidFill>
          <a:ln w="12700">
            <a:solidFill>
              <a:srgbClr val="333333"/>
            </a:solidFill>
            <a:prstDash val="solid"/>
          </a:ln>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0B4D8"/>
          </a:solidFill>
          <a:ln w="12700">
            <a:solidFill>
              <a:srgbClr val="333333"/>
            </a:solidFill>
            <a:prstDash val="solid"/>
          </a:ln>
        </p:spPr>
      </p:sp>
      <p:sp>
        <p:nvSpPr>
          <p:cNvPr id="3" name="Text 1"/>
          <p:cNvSpPr/>
          <p:nvPr/>
        </p:nvSpPr>
        <p:spPr>
          <a:xfrm>
            <a:off x="457200" y="182880"/>
            <a:ext cx="8229600" cy="640080"/>
          </a:xfrm>
          <a:prstGeom prst="rect">
            <a:avLst/>
          </a:prstGeom>
          <a:noFill/>
          <a:ln/>
        </p:spPr>
        <p:txBody>
          <a:bodyPr wrap="square" rtlCol="0" anchor="ctr"/>
          <a:lstStyle/>
          <a:p>
            <a:pPr marL="0" indent="0">
              <a:buNone/>
            </a:pPr>
            <a:r>
              <a:rPr lang="en-US" sz="3200" b="1" dirty="0">
                <a:solidFill>
                  <a:srgbClr val="FFFFFF"/>
                </a:solidFill>
                <a:latin typeface="Arial Black" pitchFamily="34" charset="0"/>
                <a:ea typeface="Arial Black" pitchFamily="34" charset="-122"/>
                <a:cs typeface="Arial Black" pitchFamily="34" charset="-120"/>
              </a:rPr>
              <a:t>Dataset Overview</a:t>
            </a:r>
            <a:endParaRPr lang="en-US" sz="3200" dirty="0"/>
          </a:p>
        </p:txBody>
      </p:sp>
      <p:sp>
        <p:nvSpPr>
          <p:cNvPr id="4" name="Shape 2"/>
          <p:cNvSpPr/>
          <p:nvPr/>
        </p:nvSpPr>
        <p:spPr>
          <a:xfrm>
            <a:off x="365760" y="960120"/>
            <a:ext cx="1828800" cy="1005840"/>
          </a:xfrm>
          <a:prstGeom prst="rect">
            <a:avLst/>
          </a:prstGeom>
          <a:solidFill>
            <a:srgbClr val="1F2937"/>
          </a:solidFill>
          <a:ln w="12700">
            <a:solidFill>
              <a:srgbClr val="333333"/>
            </a:solidFill>
            <a:prstDash val="solid"/>
          </a:ln>
          <a:effectLst>
            <a:outerShdw blurRad="101600" dist="38100" dir="8100000" algn="bl" rotWithShape="0">
              <a:srgbClr val="000000">
                <a:alpha val="25000"/>
              </a:srgbClr>
            </a:outerShdw>
          </a:effectLst>
        </p:spPr>
      </p:sp>
      <p:sp>
        <p:nvSpPr>
          <p:cNvPr id="5" name="Shape 3"/>
          <p:cNvSpPr/>
          <p:nvPr/>
        </p:nvSpPr>
        <p:spPr>
          <a:xfrm>
            <a:off x="365760" y="960120"/>
            <a:ext cx="1828800" cy="54864"/>
          </a:xfrm>
          <a:prstGeom prst="rect">
            <a:avLst/>
          </a:prstGeom>
          <a:solidFill>
            <a:srgbClr val="00B4D8"/>
          </a:solidFill>
          <a:ln w="12700">
            <a:solidFill>
              <a:srgbClr val="333333"/>
            </a:solidFill>
            <a:prstDash val="solid"/>
          </a:ln>
        </p:spPr>
      </p:sp>
      <p:sp>
        <p:nvSpPr>
          <p:cNvPr id="6" name="Text 4"/>
          <p:cNvSpPr/>
          <p:nvPr/>
        </p:nvSpPr>
        <p:spPr>
          <a:xfrm>
            <a:off x="365760" y="1078992"/>
            <a:ext cx="1828800" cy="457200"/>
          </a:xfrm>
          <a:prstGeom prst="rect">
            <a:avLst/>
          </a:prstGeom>
          <a:noFill/>
          <a:ln/>
        </p:spPr>
        <p:txBody>
          <a:bodyPr wrap="square" lIns="0" tIns="0" rIns="0" bIns="0" rtlCol="0" anchor="ctr"/>
          <a:lstStyle/>
          <a:p>
            <a:pPr marL="0" indent="0" algn="ctr">
              <a:buNone/>
            </a:pPr>
            <a:r>
              <a:rPr lang="en-US" sz="2600" b="1" dirty="0">
                <a:solidFill>
                  <a:srgbClr val="00B4D8"/>
                </a:solidFill>
                <a:latin typeface="Arial Black" pitchFamily="34" charset="0"/>
                <a:ea typeface="Arial Black" pitchFamily="34" charset="-122"/>
                <a:cs typeface="Arial Black" pitchFamily="34" charset="-120"/>
              </a:rPr>
              <a:t>2,931</a:t>
            </a:r>
            <a:endParaRPr lang="en-US" sz="2600" dirty="0"/>
          </a:p>
        </p:txBody>
      </p:sp>
      <p:sp>
        <p:nvSpPr>
          <p:cNvPr id="7" name="Text 5"/>
          <p:cNvSpPr/>
          <p:nvPr/>
        </p:nvSpPr>
        <p:spPr>
          <a:xfrm>
            <a:off x="365760" y="1536192"/>
            <a:ext cx="1828800" cy="320040"/>
          </a:xfrm>
          <a:prstGeom prst="rect">
            <a:avLst/>
          </a:prstGeom>
          <a:noFill/>
          <a:ln/>
        </p:spPr>
        <p:txBody>
          <a:bodyPr wrap="square" lIns="0" tIns="0" rIns="0" bIns="0" rtlCol="0" anchor="ctr"/>
          <a:lstStyle/>
          <a:p>
            <a:pPr marL="0" indent="0" algn="ctr">
              <a:buNone/>
            </a:pPr>
            <a:r>
              <a:rPr lang="en-US" sz="950" dirty="0">
                <a:solidFill>
                  <a:srgbClr val="94A3B8"/>
                </a:solidFill>
                <a:latin typeface="Calibri" pitchFamily="34" charset="0"/>
                <a:ea typeface="Calibri" pitchFamily="34" charset="-122"/>
                <a:cs typeface="Calibri" pitchFamily="34" charset="-120"/>
              </a:rPr>
              <a:t>Total Drugs</a:t>
            </a:r>
            <a:endParaRPr lang="en-US" sz="950" dirty="0"/>
          </a:p>
        </p:txBody>
      </p:sp>
      <p:sp>
        <p:nvSpPr>
          <p:cNvPr id="8" name="Shape 6"/>
          <p:cNvSpPr/>
          <p:nvPr/>
        </p:nvSpPr>
        <p:spPr>
          <a:xfrm>
            <a:off x="2468880" y="960120"/>
            <a:ext cx="1828800" cy="1005840"/>
          </a:xfrm>
          <a:prstGeom prst="rect">
            <a:avLst/>
          </a:prstGeom>
          <a:solidFill>
            <a:srgbClr val="1F2937"/>
          </a:solidFill>
          <a:ln w="12700">
            <a:solidFill>
              <a:srgbClr val="333333"/>
            </a:solidFill>
            <a:prstDash val="solid"/>
          </a:ln>
          <a:effectLst>
            <a:outerShdw blurRad="101600" dist="38100" dir="8100000" algn="bl" rotWithShape="0">
              <a:srgbClr val="000000">
                <a:alpha val="25000"/>
              </a:srgbClr>
            </a:outerShdw>
          </a:effectLst>
        </p:spPr>
      </p:sp>
      <p:sp>
        <p:nvSpPr>
          <p:cNvPr id="9" name="Shape 7"/>
          <p:cNvSpPr/>
          <p:nvPr/>
        </p:nvSpPr>
        <p:spPr>
          <a:xfrm>
            <a:off x="2468880" y="960120"/>
            <a:ext cx="1828800" cy="54864"/>
          </a:xfrm>
          <a:prstGeom prst="rect">
            <a:avLst/>
          </a:prstGeom>
          <a:solidFill>
            <a:srgbClr val="10B981"/>
          </a:solidFill>
          <a:ln w="12700">
            <a:solidFill>
              <a:srgbClr val="333333"/>
            </a:solidFill>
            <a:prstDash val="solid"/>
          </a:ln>
        </p:spPr>
      </p:sp>
      <p:sp>
        <p:nvSpPr>
          <p:cNvPr id="10" name="Text 8"/>
          <p:cNvSpPr/>
          <p:nvPr/>
        </p:nvSpPr>
        <p:spPr>
          <a:xfrm>
            <a:off x="2468880" y="1078992"/>
            <a:ext cx="1828800" cy="457200"/>
          </a:xfrm>
          <a:prstGeom prst="rect">
            <a:avLst/>
          </a:prstGeom>
          <a:noFill/>
          <a:ln/>
        </p:spPr>
        <p:txBody>
          <a:bodyPr wrap="square" lIns="0" tIns="0" rIns="0" bIns="0" rtlCol="0" anchor="ctr"/>
          <a:lstStyle/>
          <a:p>
            <a:pPr marL="0" indent="0" algn="ctr">
              <a:buNone/>
            </a:pPr>
            <a:r>
              <a:rPr lang="en-US" sz="2600" b="1" dirty="0">
                <a:solidFill>
                  <a:srgbClr val="10B981"/>
                </a:solidFill>
                <a:latin typeface="Arial Black" pitchFamily="34" charset="0"/>
                <a:ea typeface="Arial Black" pitchFamily="34" charset="-122"/>
                <a:cs typeface="Arial Black" pitchFamily="34" charset="-120"/>
              </a:rPr>
              <a:t>47</a:t>
            </a:r>
            <a:endParaRPr lang="en-US" sz="2600" dirty="0"/>
          </a:p>
        </p:txBody>
      </p:sp>
      <p:sp>
        <p:nvSpPr>
          <p:cNvPr id="11" name="Text 9"/>
          <p:cNvSpPr/>
          <p:nvPr/>
        </p:nvSpPr>
        <p:spPr>
          <a:xfrm>
            <a:off x="2468880" y="1536192"/>
            <a:ext cx="1828800" cy="320040"/>
          </a:xfrm>
          <a:prstGeom prst="rect">
            <a:avLst/>
          </a:prstGeom>
          <a:noFill/>
          <a:ln/>
        </p:spPr>
        <p:txBody>
          <a:bodyPr wrap="square" lIns="0" tIns="0" rIns="0" bIns="0" rtlCol="0" anchor="ctr"/>
          <a:lstStyle/>
          <a:p>
            <a:pPr marL="0" indent="0" algn="ctr">
              <a:buNone/>
            </a:pPr>
            <a:r>
              <a:rPr lang="en-US" sz="950" dirty="0">
                <a:solidFill>
                  <a:srgbClr val="94A3B8"/>
                </a:solidFill>
                <a:latin typeface="Calibri" pitchFamily="34" charset="0"/>
                <a:ea typeface="Calibri" pitchFamily="34" charset="-122"/>
                <a:cs typeface="Calibri" pitchFamily="34" charset="-120"/>
              </a:rPr>
              <a:t>Medical Conditions</a:t>
            </a:r>
            <a:endParaRPr lang="en-US" sz="950" dirty="0"/>
          </a:p>
        </p:txBody>
      </p:sp>
      <p:sp>
        <p:nvSpPr>
          <p:cNvPr id="12" name="Shape 10"/>
          <p:cNvSpPr/>
          <p:nvPr/>
        </p:nvSpPr>
        <p:spPr>
          <a:xfrm>
            <a:off x="4572000" y="960120"/>
            <a:ext cx="1828800" cy="1005840"/>
          </a:xfrm>
          <a:prstGeom prst="rect">
            <a:avLst/>
          </a:prstGeom>
          <a:solidFill>
            <a:srgbClr val="1F2937"/>
          </a:solidFill>
          <a:ln w="12700">
            <a:solidFill>
              <a:srgbClr val="333333"/>
            </a:solidFill>
            <a:prstDash val="solid"/>
          </a:ln>
          <a:effectLst>
            <a:outerShdw blurRad="101600" dist="38100" dir="8100000" algn="bl" rotWithShape="0">
              <a:srgbClr val="000000">
                <a:alpha val="25000"/>
              </a:srgbClr>
            </a:outerShdw>
          </a:effectLst>
        </p:spPr>
      </p:sp>
      <p:sp>
        <p:nvSpPr>
          <p:cNvPr id="13" name="Shape 11"/>
          <p:cNvSpPr/>
          <p:nvPr/>
        </p:nvSpPr>
        <p:spPr>
          <a:xfrm>
            <a:off x="4572000" y="960120"/>
            <a:ext cx="1828800" cy="54864"/>
          </a:xfrm>
          <a:prstGeom prst="rect">
            <a:avLst/>
          </a:prstGeom>
          <a:solidFill>
            <a:srgbClr val="F59E0B"/>
          </a:solidFill>
          <a:ln w="12700">
            <a:solidFill>
              <a:srgbClr val="333333"/>
            </a:solidFill>
            <a:prstDash val="solid"/>
          </a:ln>
        </p:spPr>
      </p:sp>
      <p:sp>
        <p:nvSpPr>
          <p:cNvPr id="14" name="Text 12"/>
          <p:cNvSpPr/>
          <p:nvPr/>
        </p:nvSpPr>
        <p:spPr>
          <a:xfrm>
            <a:off x="4572000" y="1078992"/>
            <a:ext cx="1828800" cy="457200"/>
          </a:xfrm>
          <a:prstGeom prst="rect">
            <a:avLst/>
          </a:prstGeom>
          <a:noFill/>
          <a:ln/>
        </p:spPr>
        <p:txBody>
          <a:bodyPr wrap="square" lIns="0" tIns="0" rIns="0" bIns="0" rtlCol="0" anchor="ctr"/>
          <a:lstStyle/>
          <a:p>
            <a:pPr marL="0" indent="0" algn="ctr">
              <a:buNone/>
            </a:pPr>
            <a:r>
              <a:rPr lang="en-US" sz="2600" b="1" dirty="0">
                <a:solidFill>
                  <a:srgbClr val="F59E0B"/>
                </a:solidFill>
                <a:latin typeface="Arial Black" pitchFamily="34" charset="0"/>
                <a:ea typeface="Arial Black" pitchFamily="34" charset="-122"/>
                <a:cs typeface="Arial Black" pitchFamily="34" charset="-120"/>
              </a:rPr>
              <a:t>17</a:t>
            </a:r>
            <a:endParaRPr lang="en-US" sz="2600" dirty="0"/>
          </a:p>
        </p:txBody>
      </p:sp>
      <p:sp>
        <p:nvSpPr>
          <p:cNvPr id="15" name="Text 13"/>
          <p:cNvSpPr/>
          <p:nvPr/>
        </p:nvSpPr>
        <p:spPr>
          <a:xfrm>
            <a:off x="4572000" y="1536192"/>
            <a:ext cx="1828800" cy="320040"/>
          </a:xfrm>
          <a:prstGeom prst="rect">
            <a:avLst/>
          </a:prstGeom>
          <a:noFill/>
          <a:ln/>
        </p:spPr>
        <p:txBody>
          <a:bodyPr wrap="square" lIns="0" tIns="0" rIns="0" bIns="0" rtlCol="0" anchor="ctr"/>
          <a:lstStyle/>
          <a:p>
            <a:pPr marL="0" indent="0" algn="ctr">
              <a:buNone/>
            </a:pPr>
            <a:r>
              <a:rPr lang="en-US" sz="950" dirty="0">
                <a:solidFill>
                  <a:srgbClr val="94A3B8"/>
                </a:solidFill>
                <a:latin typeface="Calibri" pitchFamily="34" charset="0"/>
                <a:ea typeface="Calibri" pitchFamily="34" charset="-122"/>
                <a:cs typeface="Calibri" pitchFamily="34" charset="-120"/>
              </a:rPr>
              <a:t>Original Columns</a:t>
            </a:r>
            <a:endParaRPr lang="en-US" sz="950" dirty="0"/>
          </a:p>
        </p:txBody>
      </p:sp>
      <p:sp>
        <p:nvSpPr>
          <p:cNvPr id="16" name="Shape 14"/>
          <p:cNvSpPr/>
          <p:nvPr/>
        </p:nvSpPr>
        <p:spPr>
          <a:xfrm>
            <a:off x="6675120" y="960120"/>
            <a:ext cx="1828800" cy="1005840"/>
          </a:xfrm>
          <a:prstGeom prst="rect">
            <a:avLst/>
          </a:prstGeom>
          <a:solidFill>
            <a:srgbClr val="1F2937"/>
          </a:solidFill>
          <a:ln w="12700">
            <a:solidFill>
              <a:srgbClr val="333333"/>
            </a:solidFill>
            <a:prstDash val="solid"/>
          </a:ln>
          <a:effectLst>
            <a:outerShdw blurRad="101600" dist="38100" dir="8100000" algn="bl" rotWithShape="0">
              <a:srgbClr val="000000">
                <a:alpha val="25000"/>
              </a:srgbClr>
            </a:outerShdw>
          </a:effectLst>
        </p:spPr>
      </p:sp>
      <p:sp>
        <p:nvSpPr>
          <p:cNvPr id="17" name="Shape 15"/>
          <p:cNvSpPr/>
          <p:nvPr/>
        </p:nvSpPr>
        <p:spPr>
          <a:xfrm>
            <a:off x="6675120" y="960120"/>
            <a:ext cx="1828800" cy="54864"/>
          </a:xfrm>
          <a:prstGeom prst="rect">
            <a:avLst/>
          </a:prstGeom>
          <a:solidFill>
            <a:srgbClr val="8B5CF6"/>
          </a:solidFill>
          <a:ln w="12700">
            <a:solidFill>
              <a:srgbClr val="333333"/>
            </a:solidFill>
            <a:prstDash val="solid"/>
          </a:ln>
        </p:spPr>
      </p:sp>
      <p:sp>
        <p:nvSpPr>
          <p:cNvPr id="18" name="Text 16"/>
          <p:cNvSpPr/>
          <p:nvPr/>
        </p:nvSpPr>
        <p:spPr>
          <a:xfrm>
            <a:off x="6675120" y="1078992"/>
            <a:ext cx="1828800" cy="457200"/>
          </a:xfrm>
          <a:prstGeom prst="rect">
            <a:avLst/>
          </a:prstGeom>
          <a:noFill/>
          <a:ln/>
        </p:spPr>
        <p:txBody>
          <a:bodyPr wrap="square" lIns="0" tIns="0" rIns="0" bIns="0" rtlCol="0" anchor="ctr"/>
          <a:lstStyle/>
          <a:p>
            <a:pPr marL="0" indent="0" algn="ctr">
              <a:buNone/>
            </a:pPr>
            <a:r>
              <a:rPr lang="en-US" sz="2600" b="1" dirty="0">
                <a:solidFill>
                  <a:srgbClr val="8B5CF6"/>
                </a:solidFill>
                <a:latin typeface="Arial Black" pitchFamily="34" charset="0"/>
                <a:ea typeface="Arial Black" pitchFamily="34" charset="-122"/>
                <a:cs typeface="Arial Black" pitchFamily="34" charset="-120"/>
              </a:rPr>
              <a:t>7</a:t>
            </a:r>
            <a:endParaRPr lang="en-US" sz="2600" dirty="0"/>
          </a:p>
        </p:txBody>
      </p:sp>
      <p:sp>
        <p:nvSpPr>
          <p:cNvPr id="19" name="Text 17"/>
          <p:cNvSpPr/>
          <p:nvPr/>
        </p:nvSpPr>
        <p:spPr>
          <a:xfrm>
            <a:off x="6675120" y="1536192"/>
            <a:ext cx="1828800" cy="320040"/>
          </a:xfrm>
          <a:prstGeom prst="rect">
            <a:avLst/>
          </a:prstGeom>
          <a:noFill/>
          <a:ln/>
        </p:spPr>
        <p:txBody>
          <a:bodyPr wrap="square" lIns="0" tIns="0" rIns="0" bIns="0" rtlCol="0" anchor="ctr"/>
          <a:lstStyle/>
          <a:p>
            <a:pPr marL="0" indent="0" algn="ctr">
              <a:buNone/>
            </a:pPr>
            <a:r>
              <a:rPr lang="en-US" sz="950" dirty="0">
                <a:solidFill>
                  <a:srgbClr val="94A3B8"/>
                </a:solidFill>
                <a:latin typeface="Calibri" pitchFamily="34" charset="0"/>
                <a:ea typeface="Calibri" pitchFamily="34" charset="-122"/>
                <a:cs typeface="Calibri" pitchFamily="34" charset="-120"/>
              </a:rPr>
              <a:t>New Enriched Cols</a:t>
            </a:r>
            <a:endParaRPr lang="en-US" sz="950" dirty="0"/>
          </a:p>
        </p:txBody>
      </p:sp>
      <p:sp>
        <p:nvSpPr>
          <p:cNvPr id="20" name="Text 18"/>
          <p:cNvSpPr/>
          <p:nvPr/>
        </p:nvSpPr>
        <p:spPr>
          <a:xfrm>
            <a:off x="365760" y="2103120"/>
            <a:ext cx="4114800" cy="320040"/>
          </a:xfrm>
          <a:prstGeom prst="rect">
            <a:avLst/>
          </a:prstGeom>
          <a:noFill/>
          <a:ln/>
        </p:spPr>
        <p:txBody>
          <a:bodyPr wrap="square" lIns="0" tIns="0" rIns="0" bIns="0" rtlCol="0" anchor="ctr"/>
          <a:lstStyle/>
          <a:p>
            <a:pPr marL="0" indent="0">
              <a:buNone/>
            </a:pPr>
            <a:r>
              <a:rPr lang="en-US" sz="1300" b="1" dirty="0">
                <a:solidFill>
                  <a:srgbClr val="FFFFFF"/>
                </a:solidFill>
                <a:latin typeface="Arial" pitchFamily="34" charset="0"/>
                <a:ea typeface="Arial" pitchFamily="34" charset="-122"/>
                <a:cs typeface="Arial" pitchFamily="34" charset="-120"/>
              </a:rPr>
              <a:t>Key Columns Used</a:t>
            </a:r>
            <a:endParaRPr lang="en-US" sz="1300" dirty="0"/>
          </a:p>
        </p:txBody>
      </p:sp>
      <p:sp>
        <p:nvSpPr>
          <p:cNvPr id="21" name="Shape 19"/>
          <p:cNvSpPr/>
          <p:nvPr/>
        </p:nvSpPr>
        <p:spPr>
          <a:xfrm>
            <a:off x="365760" y="2468880"/>
            <a:ext cx="1645920" cy="237744"/>
          </a:xfrm>
          <a:prstGeom prst="rect">
            <a:avLst/>
          </a:prstGeom>
          <a:solidFill>
            <a:srgbClr val="00B4D8"/>
          </a:solidFill>
          <a:ln w="12700">
            <a:solidFill>
              <a:srgbClr val="333333"/>
            </a:solidFill>
            <a:prstDash val="solid"/>
          </a:ln>
        </p:spPr>
      </p:sp>
      <p:sp>
        <p:nvSpPr>
          <p:cNvPr id="22" name="Text 20"/>
          <p:cNvSpPr/>
          <p:nvPr/>
        </p:nvSpPr>
        <p:spPr>
          <a:xfrm>
            <a:off x="411480" y="2468880"/>
            <a:ext cx="1600200" cy="237744"/>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Column</a:t>
            </a:r>
            <a:endParaRPr lang="en-US" sz="950" dirty="0"/>
          </a:p>
        </p:txBody>
      </p:sp>
      <p:sp>
        <p:nvSpPr>
          <p:cNvPr id="23" name="Shape 21"/>
          <p:cNvSpPr/>
          <p:nvPr/>
        </p:nvSpPr>
        <p:spPr>
          <a:xfrm>
            <a:off x="2194560" y="2468880"/>
            <a:ext cx="2286000" cy="237744"/>
          </a:xfrm>
          <a:prstGeom prst="rect">
            <a:avLst/>
          </a:prstGeom>
          <a:solidFill>
            <a:srgbClr val="00B4D8"/>
          </a:solidFill>
          <a:ln w="12700">
            <a:solidFill>
              <a:srgbClr val="333333"/>
            </a:solidFill>
            <a:prstDash val="solid"/>
          </a:ln>
        </p:spPr>
      </p:sp>
      <p:sp>
        <p:nvSpPr>
          <p:cNvPr id="24" name="Text 22"/>
          <p:cNvSpPr/>
          <p:nvPr/>
        </p:nvSpPr>
        <p:spPr>
          <a:xfrm>
            <a:off x="2240280" y="2468880"/>
            <a:ext cx="2240280" cy="237744"/>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Description</a:t>
            </a:r>
            <a:endParaRPr lang="en-US" sz="950" dirty="0"/>
          </a:p>
        </p:txBody>
      </p:sp>
      <p:sp>
        <p:nvSpPr>
          <p:cNvPr id="25" name="Shape 23"/>
          <p:cNvSpPr/>
          <p:nvPr/>
        </p:nvSpPr>
        <p:spPr>
          <a:xfrm>
            <a:off x="365760" y="2715768"/>
            <a:ext cx="1645920" cy="237744"/>
          </a:xfrm>
          <a:prstGeom prst="rect">
            <a:avLst/>
          </a:prstGeom>
          <a:solidFill>
            <a:srgbClr val="1F2937"/>
          </a:solidFill>
          <a:ln w="12700">
            <a:solidFill>
              <a:srgbClr val="333333"/>
            </a:solidFill>
            <a:prstDash val="solid"/>
          </a:ln>
        </p:spPr>
      </p:sp>
      <p:sp>
        <p:nvSpPr>
          <p:cNvPr id="26" name="Text 24"/>
          <p:cNvSpPr/>
          <p:nvPr/>
        </p:nvSpPr>
        <p:spPr>
          <a:xfrm>
            <a:off x="411480" y="2715768"/>
            <a:ext cx="1600200" cy="237744"/>
          </a:xfrm>
          <a:prstGeom prst="rect">
            <a:avLst/>
          </a:prstGeom>
          <a:noFill/>
          <a:ln/>
        </p:spPr>
        <p:txBody>
          <a:bodyPr wrap="square" lIns="0" tIns="0" rIns="0" bIns="0" rtlCol="0" anchor="ctr"/>
          <a:lstStyle/>
          <a:p>
            <a:pPr marL="0" indent="0">
              <a:buNone/>
            </a:pPr>
            <a:r>
              <a:rPr lang="en-US" sz="900" dirty="0">
                <a:solidFill>
                  <a:srgbClr val="FFFFFF"/>
                </a:solidFill>
                <a:latin typeface="Calibri" pitchFamily="34" charset="0"/>
                <a:ea typeface="Calibri" pitchFamily="34" charset="-122"/>
                <a:cs typeface="Calibri" pitchFamily="34" charset="-120"/>
              </a:rPr>
              <a:t>drug_name</a:t>
            </a:r>
            <a:endParaRPr lang="en-US" sz="900" dirty="0"/>
          </a:p>
        </p:txBody>
      </p:sp>
      <p:sp>
        <p:nvSpPr>
          <p:cNvPr id="27" name="Shape 25"/>
          <p:cNvSpPr/>
          <p:nvPr/>
        </p:nvSpPr>
        <p:spPr>
          <a:xfrm>
            <a:off x="2194560" y="2715768"/>
            <a:ext cx="2286000" cy="237744"/>
          </a:xfrm>
          <a:prstGeom prst="rect">
            <a:avLst/>
          </a:prstGeom>
          <a:solidFill>
            <a:srgbClr val="1F2937"/>
          </a:solidFill>
          <a:ln w="12700">
            <a:solidFill>
              <a:srgbClr val="333333"/>
            </a:solidFill>
            <a:prstDash val="solid"/>
          </a:ln>
        </p:spPr>
      </p:sp>
      <p:sp>
        <p:nvSpPr>
          <p:cNvPr id="28" name="Text 26"/>
          <p:cNvSpPr/>
          <p:nvPr/>
        </p:nvSpPr>
        <p:spPr>
          <a:xfrm>
            <a:off x="2240280" y="2715768"/>
            <a:ext cx="2240280" cy="237744"/>
          </a:xfrm>
          <a:prstGeom prst="rect">
            <a:avLst/>
          </a:prstGeom>
          <a:noFill/>
          <a:ln/>
        </p:spPr>
        <p:txBody>
          <a:bodyPr wrap="square" lIns="0" tIns="0" rIns="0" bIns="0" rtlCol="0" anchor="ctr"/>
          <a:lstStyle/>
          <a:p>
            <a:pPr marL="0" indent="0">
              <a:buNone/>
            </a:pPr>
            <a:r>
              <a:rPr lang="en-US" sz="900" dirty="0">
                <a:solidFill>
                  <a:srgbClr val="FFFFFF"/>
                </a:solidFill>
                <a:latin typeface="Calibri" pitchFamily="34" charset="0"/>
                <a:ea typeface="Calibri" pitchFamily="34" charset="-122"/>
                <a:cs typeface="Calibri" pitchFamily="34" charset="-120"/>
              </a:rPr>
              <a:t>Name of the drug</a:t>
            </a:r>
            <a:endParaRPr lang="en-US" sz="900" dirty="0"/>
          </a:p>
        </p:txBody>
      </p:sp>
      <p:sp>
        <p:nvSpPr>
          <p:cNvPr id="29" name="Shape 27"/>
          <p:cNvSpPr/>
          <p:nvPr/>
        </p:nvSpPr>
        <p:spPr>
          <a:xfrm>
            <a:off x="365760" y="2962656"/>
            <a:ext cx="1645920" cy="237744"/>
          </a:xfrm>
          <a:prstGeom prst="rect">
            <a:avLst/>
          </a:prstGeom>
          <a:solidFill>
            <a:srgbClr val="111827"/>
          </a:solidFill>
          <a:ln w="12700">
            <a:solidFill>
              <a:srgbClr val="333333"/>
            </a:solidFill>
            <a:prstDash val="solid"/>
          </a:ln>
        </p:spPr>
      </p:sp>
      <p:sp>
        <p:nvSpPr>
          <p:cNvPr id="30" name="Text 28"/>
          <p:cNvSpPr/>
          <p:nvPr/>
        </p:nvSpPr>
        <p:spPr>
          <a:xfrm>
            <a:off x="411480" y="2962656"/>
            <a:ext cx="1600200" cy="237744"/>
          </a:xfrm>
          <a:prstGeom prst="rect">
            <a:avLst/>
          </a:prstGeom>
          <a:noFill/>
          <a:ln/>
        </p:spPr>
        <p:txBody>
          <a:bodyPr wrap="square" lIns="0" tIns="0" rIns="0" bIns="0" rtlCol="0" anchor="ctr"/>
          <a:lstStyle/>
          <a:p>
            <a:pPr marL="0" indent="0">
              <a:buNone/>
            </a:pPr>
            <a:r>
              <a:rPr lang="en-US" sz="900" dirty="0">
                <a:solidFill>
                  <a:srgbClr val="FFFFFF"/>
                </a:solidFill>
                <a:latin typeface="Calibri" pitchFamily="34" charset="0"/>
                <a:ea typeface="Calibri" pitchFamily="34" charset="-122"/>
                <a:cs typeface="Calibri" pitchFamily="34" charset="-120"/>
              </a:rPr>
              <a:t>medical_condition</a:t>
            </a:r>
            <a:endParaRPr lang="en-US" sz="900" dirty="0"/>
          </a:p>
        </p:txBody>
      </p:sp>
      <p:sp>
        <p:nvSpPr>
          <p:cNvPr id="31" name="Shape 29"/>
          <p:cNvSpPr/>
          <p:nvPr/>
        </p:nvSpPr>
        <p:spPr>
          <a:xfrm>
            <a:off x="2194560" y="2962656"/>
            <a:ext cx="2286000" cy="237744"/>
          </a:xfrm>
          <a:prstGeom prst="rect">
            <a:avLst/>
          </a:prstGeom>
          <a:solidFill>
            <a:srgbClr val="111827"/>
          </a:solidFill>
          <a:ln w="12700">
            <a:solidFill>
              <a:srgbClr val="333333"/>
            </a:solidFill>
            <a:prstDash val="solid"/>
          </a:ln>
        </p:spPr>
      </p:sp>
      <p:sp>
        <p:nvSpPr>
          <p:cNvPr id="32" name="Text 30"/>
          <p:cNvSpPr/>
          <p:nvPr/>
        </p:nvSpPr>
        <p:spPr>
          <a:xfrm>
            <a:off x="2240280" y="2962656"/>
            <a:ext cx="2240280" cy="237744"/>
          </a:xfrm>
          <a:prstGeom prst="rect">
            <a:avLst/>
          </a:prstGeom>
          <a:noFill/>
          <a:ln/>
        </p:spPr>
        <p:txBody>
          <a:bodyPr wrap="square" lIns="0" tIns="0" rIns="0" bIns="0" rtlCol="0" anchor="ctr"/>
          <a:lstStyle/>
          <a:p>
            <a:pPr marL="0" indent="0">
              <a:buNone/>
            </a:pPr>
            <a:r>
              <a:rPr lang="en-US" sz="900" dirty="0">
                <a:solidFill>
                  <a:srgbClr val="FFFFFF"/>
                </a:solidFill>
                <a:latin typeface="Calibri" pitchFamily="34" charset="0"/>
                <a:ea typeface="Calibri" pitchFamily="34" charset="-122"/>
                <a:cs typeface="Calibri" pitchFamily="34" charset="-120"/>
              </a:rPr>
              <a:t>Condition it treats (47 types)</a:t>
            </a:r>
            <a:endParaRPr lang="en-US" sz="900" dirty="0"/>
          </a:p>
        </p:txBody>
      </p:sp>
      <p:sp>
        <p:nvSpPr>
          <p:cNvPr id="33" name="Shape 31"/>
          <p:cNvSpPr/>
          <p:nvPr/>
        </p:nvSpPr>
        <p:spPr>
          <a:xfrm>
            <a:off x="365760" y="3209544"/>
            <a:ext cx="1645920" cy="237744"/>
          </a:xfrm>
          <a:prstGeom prst="rect">
            <a:avLst/>
          </a:prstGeom>
          <a:solidFill>
            <a:srgbClr val="1F2937"/>
          </a:solidFill>
          <a:ln w="12700">
            <a:solidFill>
              <a:srgbClr val="333333"/>
            </a:solidFill>
            <a:prstDash val="solid"/>
          </a:ln>
        </p:spPr>
      </p:sp>
      <p:sp>
        <p:nvSpPr>
          <p:cNvPr id="34" name="Text 32"/>
          <p:cNvSpPr/>
          <p:nvPr/>
        </p:nvSpPr>
        <p:spPr>
          <a:xfrm>
            <a:off x="411480" y="3209544"/>
            <a:ext cx="1600200" cy="237744"/>
          </a:xfrm>
          <a:prstGeom prst="rect">
            <a:avLst/>
          </a:prstGeom>
          <a:noFill/>
          <a:ln/>
        </p:spPr>
        <p:txBody>
          <a:bodyPr wrap="square" lIns="0" tIns="0" rIns="0" bIns="0" rtlCol="0" anchor="ctr"/>
          <a:lstStyle/>
          <a:p>
            <a:pPr marL="0" indent="0">
              <a:buNone/>
            </a:pPr>
            <a:r>
              <a:rPr lang="en-US" sz="900" dirty="0">
                <a:solidFill>
                  <a:srgbClr val="FFFFFF"/>
                </a:solidFill>
                <a:latin typeface="Calibri" pitchFamily="34" charset="0"/>
                <a:ea typeface="Calibri" pitchFamily="34" charset="-122"/>
                <a:cs typeface="Calibri" pitchFamily="34" charset="-120"/>
              </a:rPr>
              <a:t>drug_classes</a:t>
            </a:r>
            <a:endParaRPr lang="en-US" sz="900" dirty="0"/>
          </a:p>
        </p:txBody>
      </p:sp>
      <p:sp>
        <p:nvSpPr>
          <p:cNvPr id="35" name="Shape 33"/>
          <p:cNvSpPr/>
          <p:nvPr/>
        </p:nvSpPr>
        <p:spPr>
          <a:xfrm>
            <a:off x="2194560" y="3209544"/>
            <a:ext cx="2286000" cy="237744"/>
          </a:xfrm>
          <a:prstGeom prst="rect">
            <a:avLst/>
          </a:prstGeom>
          <a:solidFill>
            <a:srgbClr val="1F2937"/>
          </a:solidFill>
          <a:ln w="12700">
            <a:solidFill>
              <a:srgbClr val="333333"/>
            </a:solidFill>
            <a:prstDash val="solid"/>
          </a:ln>
        </p:spPr>
      </p:sp>
      <p:sp>
        <p:nvSpPr>
          <p:cNvPr id="36" name="Text 34"/>
          <p:cNvSpPr/>
          <p:nvPr/>
        </p:nvSpPr>
        <p:spPr>
          <a:xfrm>
            <a:off x="2240280" y="3209544"/>
            <a:ext cx="2240280" cy="237744"/>
          </a:xfrm>
          <a:prstGeom prst="rect">
            <a:avLst/>
          </a:prstGeom>
          <a:noFill/>
          <a:ln/>
        </p:spPr>
        <p:txBody>
          <a:bodyPr wrap="square" lIns="0" tIns="0" rIns="0" bIns="0" rtlCol="0" anchor="ctr"/>
          <a:lstStyle/>
          <a:p>
            <a:pPr marL="0" indent="0">
              <a:buNone/>
            </a:pPr>
            <a:r>
              <a:rPr lang="en-US" sz="900" dirty="0">
                <a:solidFill>
                  <a:srgbClr val="FFFFFF"/>
                </a:solidFill>
                <a:latin typeface="Calibri" pitchFamily="34" charset="0"/>
                <a:ea typeface="Calibri" pitchFamily="34" charset="-122"/>
                <a:cs typeface="Calibri" pitchFamily="34" charset="-120"/>
              </a:rPr>
              <a:t>Pharmacological class</a:t>
            </a:r>
            <a:endParaRPr lang="en-US" sz="900" dirty="0"/>
          </a:p>
        </p:txBody>
      </p:sp>
      <p:sp>
        <p:nvSpPr>
          <p:cNvPr id="37" name="Shape 35"/>
          <p:cNvSpPr/>
          <p:nvPr/>
        </p:nvSpPr>
        <p:spPr>
          <a:xfrm>
            <a:off x="365760" y="3456432"/>
            <a:ext cx="1645920" cy="237744"/>
          </a:xfrm>
          <a:prstGeom prst="rect">
            <a:avLst/>
          </a:prstGeom>
          <a:solidFill>
            <a:srgbClr val="111827"/>
          </a:solidFill>
          <a:ln w="12700">
            <a:solidFill>
              <a:srgbClr val="333333"/>
            </a:solidFill>
            <a:prstDash val="solid"/>
          </a:ln>
        </p:spPr>
      </p:sp>
      <p:sp>
        <p:nvSpPr>
          <p:cNvPr id="38" name="Text 36"/>
          <p:cNvSpPr/>
          <p:nvPr/>
        </p:nvSpPr>
        <p:spPr>
          <a:xfrm>
            <a:off x="411480" y="3456432"/>
            <a:ext cx="1600200" cy="237744"/>
          </a:xfrm>
          <a:prstGeom prst="rect">
            <a:avLst/>
          </a:prstGeom>
          <a:noFill/>
          <a:ln/>
        </p:spPr>
        <p:txBody>
          <a:bodyPr wrap="square" lIns="0" tIns="0" rIns="0" bIns="0" rtlCol="0" anchor="ctr"/>
          <a:lstStyle/>
          <a:p>
            <a:pPr marL="0" indent="0">
              <a:buNone/>
            </a:pPr>
            <a:r>
              <a:rPr lang="en-US" sz="900" dirty="0">
                <a:solidFill>
                  <a:srgbClr val="FFFFFF"/>
                </a:solidFill>
                <a:latin typeface="Calibri" pitchFamily="34" charset="0"/>
                <a:ea typeface="Calibri" pitchFamily="34" charset="-122"/>
                <a:cs typeface="Calibri" pitchFamily="34" charset="-120"/>
              </a:rPr>
              <a:t>rating</a:t>
            </a:r>
            <a:endParaRPr lang="en-US" sz="900" dirty="0"/>
          </a:p>
        </p:txBody>
      </p:sp>
      <p:sp>
        <p:nvSpPr>
          <p:cNvPr id="39" name="Shape 37"/>
          <p:cNvSpPr/>
          <p:nvPr/>
        </p:nvSpPr>
        <p:spPr>
          <a:xfrm>
            <a:off x="2194560" y="3456432"/>
            <a:ext cx="2286000" cy="237744"/>
          </a:xfrm>
          <a:prstGeom prst="rect">
            <a:avLst/>
          </a:prstGeom>
          <a:solidFill>
            <a:srgbClr val="111827"/>
          </a:solidFill>
          <a:ln w="12700">
            <a:solidFill>
              <a:srgbClr val="333333"/>
            </a:solidFill>
            <a:prstDash val="solid"/>
          </a:ln>
        </p:spPr>
      </p:sp>
      <p:sp>
        <p:nvSpPr>
          <p:cNvPr id="40" name="Text 38"/>
          <p:cNvSpPr/>
          <p:nvPr/>
        </p:nvSpPr>
        <p:spPr>
          <a:xfrm>
            <a:off x="2240280" y="3456432"/>
            <a:ext cx="2240280" cy="237744"/>
          </a:xfrm>
          <a:prstGeom prst="rect">
            <a:avLst/>
          </a:prstGeom>
          <a:noFill/>
          <a:ln/>
        </p:spPr>
        <p:txBody>
          <a:bodyPr wrap="square" lIns="0" tIns="0" rIns="0" bIns="0" rtlCol="0" anchor="ctr"/>
          <a:lstStyle/>
          <a:p>
            <a:pPr marL="0" indent="0">
              <a:buNone/>
            </a:pPr>
            <a:r>
              <a:rPr lang="en-US" sz="900" dirty="0">
                <a:solidFill>
                  <a:srgbClr val="FFFFFF"/>
                </a:solidFill>
                <a:latin typeface="Calibri" pitchFamily="34" charset="0"/>
                <a:ea typeface="Calibri" pitchFamily="34" charset="-122"/>
                <a:cs typeface="Calibri" pitchFamily="34" charset="-120"/>
              </a:rPr>
              <a:t>Patient rating 0–10</a:t>
            </a:r>
            <a:endParaRPr lang="en-US" sz="900" dirty="0"/>
          </a:p>
        </p:txBody>
      </p:sp>
      <p:sp>
        <p:nvSpPr>
          <p:cNvPr id="41" name="Shape 39"/>
          <p:cNvSpPr/>
          <p:nvPr/>
        </p:nvSpPr>
        <p:spPr>
          <a:xfrm>
            <a:off x="365760" y="3703320"/>
            <a:ext cx="1645920" cy="237744"/>
          </a:xfrm>
          <a:prstGeom prst="rect">
            <a:avLst/>
          </a:prstGeom>
          <a:solidFill>
            <a:srgbClr val="1F2937"/>
          </a:solidFill>
          <a:ln w="12700">
            <a:solidFill>
              <a:srgbClr val="333333"/>
            </a:solidFill>
            <a:prstDash val="solid"/>
          </a:ln>
        </p:spPr>
      </p:sp>
      <p:sp>
        <p:nvSpPr>
          <p:cNvPr id="42" name="Text 40"/>
          <p:cNvSpPr/>
          <p:nvPr/>
        </p:nvSpPr>
        <p:spPr>
          <a:xfrm>
            <a:off x="411480" y="3703320"/>
            <a:ext cx="1600200" cy="237744"/>
          </a:xfrm>
          <a:prstGeom prst="rect">
            <a:avLst/>
          </a:prstGeom>
          <a:noFill/>
          <a:ln/>
        </p:spPr>
        <p:txBody>
          <a:bodyPr wrap="square" lIns="0" tIns="0" rIns="0" bIns="0" rtlCol="0" anchor="ctr"/>
          <a:lstStyle/>
          <a:p>
            <a:pPr marL="0" indent="0">
              <a:buNone/>
            </a:pPr>
            <a:r>
              <a:rPr lang="en-US" sz="900" dirty="0">
                <a:solidFill>
                  <a:srgbClr val="FFFFFF"/>
                </a:solidFill>
                <a:latin typeface="Calibri" pitchFamily="34" charset="0"/>
                <a:ea typeface="Calibri" pitchFamily="34" charset="-122"/>
                <a:cs typeface="Calibri" pitchFamily="34" charset="-120"/>
              </a:rPr>
              <a:t>no_of_reviews</a:t>
            </a:r>
            <a:endParaRPr lang="en-US" sz="900" dirty="0"/>
          </a:p>
        </p:txBody>
      </p:sp>
      <p:sp>
        <p:nvSpPr>
          <p:cNvPr id="43" name="Shape 41"/>
          <p:cNvSpPr/>
          <p:nvPr/>
        </p:nvSpPr>
        <p:spPr>
          <a:xfrm>
            <a:off x="2194560" y="3703320"/>
            <a:ext cx="2286000" cy="237744"/>
          </a:xfrm>
          <a:prstGeom prst="rect">
            <a:avLst/>
          </a:prstGeom>
          <a:solidFill>
            <a:srgbClr val="1F2937"/>
          </a:solidFill>
          <a:ln w="12700">
            <a:solidFill>
              <a:srgbClr val="333333"/>
            </a:solidFill>
            <a:prstDash val="solid"/>
          </a:ln>
        </p:spPr>
      </p:sp>
      <p:sp>
        <p:nvSpPr>
          <p:cNvPr id="44" name="Text 42"/>
          <p:cNvSpPr/>
          <p:nvPr/>
        </p:nvSpPr>
        <p:spPr>
          <a:xfrm>
            <a:off x="2240280" y="3703320"/>
            <a:ext cx="2240280" cy="237744"/>
          </a:xfrm>
          <a:prstGeom prst="rect">
            <a:avLst/>
          </a:prstGeom>
          <a:noFill/>
          <a:ln/>
        </p:spPr>
        <p:txBody>
          <a:bodyPr wrap="square" lIns="0" tIns="0" rIns="0" bIns="0" rtlCol="0" anchor="ctr"/>
          <a:lstStyle/>
          <a:p>
            <a:pPr marL="0" indent="0">
              <a:buNone/>
            </a:pPr>
            <a:r>
              <a:rPr lang="en-US" sz="900" dirty="0">
                <a:solidFill>
                  <a:srgbClr val="FFFFFF"/>
                </a:solidFill>
                <a:latin typeface="Calibri" pitchFamily="34" charset="0"/>
                <a:ea typeface="Calibri" pitchFamily="34" charset="-122"/>
                <a:cs typeface="Calibri" pitchFamily="34" charset="-120"/>
              </a:rPr>
              <a:t>Number of patient reviews</a:t>
            </a:r>
            <a:endParaRPr lang="en-US" sz="900" dirty="0"/>
          </a:p>
        </p:txBody>
      </p:sp>
      <p:sp>
        <p:nvSpPr>
          <p:cNvPr id="45" name="Shape 43"/>
          <p:cNvSpPr/>
          <p:nvPr/>
        </p:nvSpPr>
        <p:spPr>
          <a:xfrm>
            <a:off x="365760" y="3950208"/>
            <a:ext cx="1645920" cy="237744"/>
          </a:xfrm>
          <a:prstGeom prst="rect">
            <a:avLst/>
          </a:prstGeom>
          <a:solidFill>
            <a:srgbClr val="111827"/>
          </a:solidFill>
          <a:ln w="12700">
            <a:solidFill>
              <a:srgbClr val="333333"/>
            </a:solidFill>
            <a:prstDash val="solid"/>
          </a:ln>
        </p:spPr>
      </p:sp>
      <p:sp>
        <p:nvSpPr>
          <p:cNvPr id="46" name="Text 44"/>
          <p:cNvSpPr/>
          <p:nvPr/>
        </p:nvSpPr>
        <p:spPr>
          <a:xfrm>
            <a:off x="411480" y="3950208"/>
            <a:ext cx="1600200" cy="237744"/>
          </a:xfrm>
          <a:prstGeom prst="rect">
            <a:avLst/>
          </a:prstGeom>
          <a:noFill/>
          <a:ln/>
        </p:spPr>
        <p:txBody>
          <a:bodyPr wrap="square" lIns="0" tIns="0" rIns="0" bIns="0" rtlCol="0" anchor="ctr"/>
          <a:lstStyle/>
          <a:p>
            <a:pPr marL="0" indent="0">
              <a:buNone/>
            </a:pPr>
            <a:r>
              <a:rPr lang="en-US" sz="900" dirty="0">
                <a:solidFill>
                  <a:srgbClr val="FFFFFF"/>
                </a:solidFill>
                <a:latin typeface="Calibri" pitchFamily="34" charset="0"/>
                <a:ea typeface="Calibri" pitchFamily="34" charset="-122"/>
                <a:cs typeface="Calibri" pitchFamily="34" charset="-120"/>
              </a:rPr>
              <a:t>pregnancy_category</a:t>
            </a:r>
            <a:endParaRPr lang="en-US" sz="900" dirty="0"/>
          </a:p>
        </p:txBody>
      </p:sp>
      <p:sp>
        <p:nvSpPr>
          <p:cNvPr id="47" name="Shape 45"/>
          <p:cNvSpPr/>
          <p:nvPr/>
        </p:nvSpPr>
        <p:spPr>
          <a:xfrm>
            <a:off x="2194560" y="3950208"/>
            <a:ext cx="2286000" cy="237744"/>
          </a:xfrm>
          <a:prstGeom prst="rect">
            <a:avLst/>
          </a:prstGeom>
          <a:solidFill>
            <a:srgbClr val="111827"/>
          </a:solidFill>
          <a:ln w="12700">
            <a:solidFill>
              <a:srgbClr val="333333"/>
            </a:solidFill>
            <a:prstDash val="solid"/>
          </a:ln>
        </p:spPr>
      </p:sp>
      <p:sp>
        <p:nvSpPr>
          <p:cNvPr id="48" name="Text 46"/>
          <p:cNvSpPr/>
          <p:nvPr/>
        </p:nvSpPr>
        <p:spPr>
          <a:xfrm>
            <a:off x="2240280" y="3950208"/>
            <a:ext cx="2240280" cy="237744"/>
          </a:xfrm>
          <a:prstGeom prst="rect">
            <a:avLst/>
          </a:prstGeom>
          <a:noFill/>
          <a:ln/>
        </p:spPr>
        <p:txBody>
          <a:bodyPr wrap="square" lIns="0" tIns="0" rIns="0" bIns="0" rtlCol="0" anchor="ctr"/>
          <a:lstStyle/>
          <a:p>
            <a:pPr marL="0" indent="0">
              <a:buNone/>
            </a:pPr>
            <a:r>
              <a:rPr lang="en-US" sz="900" dirty="0">
                <a:solidFill>
                  <a:srgbClr val="FFFFFF"/>
                </a:solidFill>
                <a:latin typeface="Calibri" pitchFamily="34" charset="0"/>
                <a:ea typeface="Calibri" pitchFamily="34" charset="-122"/>
                <a:cs typeface="Calibri" pitchFamily="34" charset="-120"/>
              </a:rPr>
              <a:t>FDA safety A/B/C/D/X</a:t>
            </a:r>
            <a:endParaRPr lang="en-US" sz="900" dirty="0"/>
          </a:p>
        </p:txBody>
      </p:sp>
      <p:sp>
        <p:nvSpPr>
          <p:cNvPr id="49" name="Shape 47"/>
          <p:cNvSpPr/>
          <p:nvPr/>
        </p:nvSpPr>
        <p:spPr>
          <a:xfrm>
            <a:off x="365760" y="4197096"/>
            <a:ext cx="1645920" cy="237744"/>
          </a:xfrm>
          <a:prstGeom prst="rect">
            <a:avLst/>
          </a:prstGeom>
          <a:solidFill>
            <a:srgbClr val="1F2937"/>
          </a:solidFill>
          <a:ln w="12700">
            <a:solidFill>
              <a:srgbClr val="333333"/>
            </a:solidFill>
            <a:prstDash val="solid"/>
          </a:ln>
        </p:spPr>
      </p:sp>
      <p:sp>
        <p:nvSpPr>
          <p:cNvPr id="50" name="Text 48"/>
          <p:cNvSpPr/>
          <p:nvPr/>
        </p:nvSpPr>
        <p:spPr>
          <a:xfrm>
            <a:off x="411480" y="4197096"/>
            <a:ext cx="1600200" cy="237744"/>
          </a:xfrm>
          <a:prstGeom prst="rect">
            <a:avLst/>
          </a:prstGeom>
          <a:noFill/>
          <a:ln/>
        </p:spPr>
        <p:txBody>
          <a:bodyPr wrap="square" lIns="0" tIns="0" rIns="0" bIns="0" rtlCol="0" anchor="ctr"/>
          <a:lstStyle/>
          <a:p>
            <a:pPr marL="0" indent="0">
              <a:buNone/>
            </a:pPr>
            <a:r>
              <a:rPr lang="en-US" sz="900" dirty="0">
                <a:solidFill>
                  <a:srgbClr val="FFFFFF"/>
                </a:solidFill>
                <a:latin typeface="Calibri" pitchFamily="34" charset="0"/>
                <a:ea typeface="Calibri" pitchFamily="34" charset="-122"/>
                <a:cs typeface="Calibri" pitchFamily="34" charset="-120"/>
              </a:rPr>
              <a:t>rx_otc</a:t>
            </a:r>
            <a:endParaRPr lang="en-US" sz="900" dirty="0"/>
          </a:p>
        </p:txBody>
      </p:sp>
      <p:sp>
        <p:nvSpPr>
          <p:cNvPr id="51" name="Shape 49"/>
          <p:cNvSpPr/>
          <p:nvPr/>
        </p:nvSpPr>
        <p:spPr>
          <a:xfrm>
            <a:off x="2194560" y="4197096"/>
            <a:ext cx="2286000" cy="237744"/>
          </a:xfrm>
          <a:prstGeom prst="rect">
            <a:avLst/>
          </a:prstGeom>
          <a:solidFill>
            <a:srgbClr val="1F2937"/>
          </a:solidFill>
          <a:ln w="12700">
            <a:solidFill>
              <a:srgbClr val="333333"/>
            </a:solidFill>
            <a:prstDash val="solid"/>
          </a:ln>
        </p:spPr>
      </p:sp>
      <p:sp>
        <p:nvSpPr>
          <p:cNvPr id="52" name="Text 50"/>
          <p:cNvSpPr/>
          <p:nvPr/>
        </p:nvSpPr>
        <p:spPr>
          <a:xfrm>
            <a:off x="2240280" y="4197096"/>
            <a:ext cx="2240280" cy="237744"/>
          </a:xfrm>
          <a:prstGeom prst="rect">
            <a:avLst/>
          </a:prstGeom>
          <a:noFill/>
          <a:ln/>
        </p:spPr>
        <p:txBody>
          <a:bodyPr wrap="square" lIns="0" tIns="0" rIns="0" bIns="0" rtlCol="0" anchor="ctr"/>
          <a:lstStyle/>
          <a:p>
            <a:pPr marL="0" indent="0">
              <a:buNone/>
            </a:pPr>
            <a:r>
              <a:rPr lang="en-US" sz="900" dirty="0">
                <a:solidFill>
                  <a:srgbClr val="FFFFFF"/>
                </a:solidFill>
                <a:latin typeface="Calibri" pitchFamily="34" charset="0"/>
                <a:ea typeface="Calibri" pitchFamily="34" charset="-122"/>
                <a:cs typeface="Calibri" pitchFamily="34" charset="-120"/>
              </a:rPr>
              <a:t>Prescription or OTC</a:t>
            </a:r>
            <a:endParaRPr lang="en-US" sz="900" dirty="0"/>
          </a:p>
        </p:txBody>
      </p:sp>
      <p:sp>
        <p:nvSpPr>
          <p:cNvPr id="53" name="Shape 51"/>
          <p:cNvSpPr/>
          <p:nvPr/>
        </p:nvSpPr>
        <p:spPr>
          <a:xfrm>
            <a:off x="365760" y="4443984"/>
            <a:ext cx="1645920" cy="237744"/>
          </a:xfrm>
          <a:prstGeom prst="rect">
            <a:avLst/>
          </a:prstGeom>
          <a:solidFill>
            <a:srgbClr val="111827"/>
          </a:solidFill>
          <a:ln w="12700">
            <a:solidFill>
              <a:srgbClr val="333333"/>
            </a:solidFill>
            <a:prstDash val="solid"/>
          </a:ln>
        </p:spPr>
      </p:sp>
      <p:sp>
        <p:nvSpPr>
          <p:cNvPr id="54" name="Text 52"/>
          <p:cNvSpPr/>
          <p:nvPr/>
        </p:nvSpPr>
        <p:spPr>
          <a:xfrm>
            <a:off x="411480" y="4443984"/>
            <a:ext cx="1600200" cy="237744"/>
          </a:xfrm>
          <a:prstGeom prst="rect">
            <a:avLst/>
          </a:prstGeom>
          <a:noFill/>
          <a:ln/>
        </p:spPr>
        <p:txBody>
          <a:bodyPr wrap="square" lIns="0" tIns="0" rIns="0" bIns="0" rtlCol="0" anchor="ctr"/>
          <a:lstStyle/>
          <a:p>
            <a:pPr marL="0" indent="0">
              <a:buNone/>
            </a:pPr>
            <a:r>
              <a:rPr lang="en-US" sz="900" dirty="0">
                <a:solidFill>
                  <a:srgbClr val="FFFFFF"/>
                </a:solidFill>
                <a:latin typeface="Calibri" pitchFamily="34" charset="0"/>
                <a:ea typeface="Calibri" pitchFamily="34" charset="-122"/>
                <a:cs typeface="Calibri" pitchFamily="34" charset="-120"/>
              </a:rPr>
              <a:t>alcohol</a:t>
            </a:r>
            <a:endParaRPr lang="en-US" sz="900" dirty="0"/>
          </a:p>
        </p:txBody>
      </p:sp>
      <p:sp>
        <p:nvSpPr>
          <p:cNvPr id="55" name="Shape 53"/>
          <p:cNvSpPr/>
          <p:nvPr/>
        </p:nvSpPr>
        <p:spPr>
          <a:xfrm>
            <a:off x="2194560" y="4443984"/>
            <a:ext cx="2286000" cy="237744"/>
          </a:xfrm>
          <a:prstGeom prst="rect">
            <a:avLst/>
          </a:prstGeom>
          <a:solidFill>
            <a:srgbClr val="111827"/>
          </a:solidFill>
          <a:ln w="12700">
            <a:solidFill>
              <a:srgbClr val="333333"/>
            </a:solidFill>
            <a:prstDash val="solid"/>
          </a:ln>
        </p:spPr>
      </p:sp>
      <p:sp>
        <p:nvSpPr>
          <p:cNvPr id="56" name="Text 54"/>
          <p:cNvSpPr/>
          <p:nvPr/>
        </p:nvSpPr>
        <p:spPr>
          <a:xfrm>
            <a:off x="2240280" y="4443984"/>
            <a:ext cx="2240280" cy="237744"/>
          </a:xfrm>
          <a:prstGeom prst="rect">
            <a:avLst/>
          </a:prstGeom>
          <a:noFill/>
          <a:ln/>
        </p:spPr>
        <p:txBody>
          <a:bodyPr wrap="square" lIns="0" tIns="0" rIns="0" bIns="0" rtlCol="0" anchor="ctr"/>
          <a:lstStyle/>
          <a:p>
            <a:pPr marL="0" indent="0">
              <a:buNone/>
            </a:pPr>
            <a:r>
              <a:rPr lang="en-US" sz="900" dirty="0">
                <a:solidFill>
                  <a:srgbClr val="FFFFFF"/>
                </a:solidFill>
                <a:latin typeface="Calibri" pitchFamily="34" charset="0"/>
                <a:ea typeface="Calibri" pitchFamily="34" charset="-122"/>
                <a:cs typeface="Calibri" pitchFamily="34" charset="-120"/>
              </a:rPr>
              <a:t>Alcohol interaction flag</a:t>
            </a:r>
            <a:endParaRPr lang="en-US" sz="900" dirty="0"/>
          </a:p>
        </p:txBody>
      </p:sp>
      <p:sp>
        <p:nvSpPr>
          <p:cNvPr id="57" name="Shape 55"/>
          <p:cNvSpPr/>
          <p:nvPr/>
        </p:nvSpPr>
        <p:spPr>
          <a:xfrm>
            <a:off x="365760" y="4690872"/>
            <a:ext cx="1645920" cy="237744"/>
          </a:xfrm>
          <a:prstGeom prst="rect">
            <a:avLst/>
          </a:prstGeom>
          <a:solidFill>
            <a:srgbClr val="1F2937"/>
          </a:solidFill>
          <a:ln w="12700">
            <a:solidFill>
              <a:srgbClr val="333333"/>
            </a:solidFill>
            <a:prstDash val="solid"/>
          </a:ln>
        </p:spPr>
      </p:sp>
      <p:sp>
        <p:nvSpPr>
          <p:cNvPr id="58" name="Text 56"/>
          <p:cNvSpPr/>
          <p:nvPr/>
        </p:nvSpPr>
        <p:spPr>
          <a:xfrm>
            <a:off x="411480" y="4690872"/>
            <a:ext cx="1600200" cy="237744"/>
          </a:xfrm>
          <a:prstGeom prst="rect">
            <a:avLst/>
          </a:prstGeom>
          <a:noFill/>
          <a:ln/>
        </p:spPr>
        <p:txBody>
          <a:bodyPr wrap="square" lIns="0" tIns="0" rIns="0" bIns="0" rtlCol="0" anchor="ctr"/>
          <a:lstStyle/>
          <a:p>
            <a:pPr marL="0" indent="0">
              <a:buNone/>
            </a:pPr>
            <a:r>
              <a:rPr lang="en-US" sz="900" dirty="0">
                <a:solidFill>
                  <a:srgbClr val="FFFFFF"/>
                </a:solidFill>
                <a:latin typeface="Calibri" pitchFamily="34" charset="0"/>
                <a:ea typeface="Calibri" pitchFamily="34" charset="-122"/>
                <a:cs typeface="Calibri" pitchFamily="34" charset="-120"/>
              </a:rPr>
              <a:t>side_effects</a:t>
            </a:r>
            <a:endParaRPr lang="en-US" sz="900" dirty="0"/>
          </a:p>
        </p:txBody>
      </p:sp>
      <p:sp>
        <p:nvSpPr>
          <p:cNvPr id="59" name="Shape 57"/>
          <p:cNvSpPr/>
          <p:nvPr/>
        </p:nvSpPr>
        <p:spPr>
          <a:xfrm>
            <a:off x="2194560" y="4690872"/>
            <a:ext cx="2286000" cy="237744"/>
          </a:xfrm>
          <a:prstGeom prst="rect">
            <a:avLst/>
          </a:prstGeom>
          <a:solidFill>
            <a:srgbClr val="1F2937"/>
          </a:solidFill>
          <a:ln w="12700">
            <a:solidFill>
              <a:srgbClr val="333333"/>
            </a:solidFill>
            <a:prstDash val="solid"/>
          </a:ln>
        </p:spPr>
      </p:sp>
      <p:sp>
        <p:nvSpPr>
          <p:cNvPr id="60" name="Text 58"/>
          <p:cNvSpPr/>
          <p:nvPr/>
        </p:nvSpPr>
        <p:spPr>
          <a:xfrm>
            <a:off x="2240280" y="4690872"/>
            <a:ext cx="2240280" cy="237744"/>
          </a:xfrm>
          <a:prstGeom prst="rect">
            <a:avLst/>
          </a:prstGeom>
          <a:noFill/>
          <a:ln/>
        </p:spPr>
        <p:txBody>
          <a:bodyPr wrap="square" lIns="0" tIns="0" rIns="0" bIns="0" rtlCol="0" anchor="ctr"/>
          <a:lstStyle/>
          <a:p>
            <a:pPr marL="0" indent="0">
              <a:buNone/>
            </a:pPr>
            <a:r>
              <a:rPr lang="en-US" sz="900" dirty="0">
                <a:solidFill>
                  <a:srgbClr val="FFFFFF"/>
                </a:solidFill>
                <a:latin typeface="Calibri" pitchFamily="34" charset="0"/>
                <a:ea typeface="Calibri" pitchFamily="34" charset="-122"/>
                <a:cs typeface="Calibri" pitchFamily="34" charset="-120"/>
              </a:rPr>
              <a:t>Listed side effects (text)</a:t>
            </a:r>
            <a:endParaRPr lang="en-US" sz="900" dirty="0"/>
          </a:p>
        </p:txBody>
      </p:sp>
      <p:sp>
        <p:nvSpPr>
          <p:cNvPr id="61" name="Text 59"/>
          <p:cNvSpPr/>
          <p:nvPr/>
        </p:nvSpPr>
        <p:spPr>
          <a:xfrm>
            <a:off x="4572000" y="2103120"/>
            <a:ext cx="4206240" cy="320040"/>
          </a:xfrm>
          <a:prstGeom prst="rect">
            <a:avLst/>
          </a:prstGeom>
          <a:noFill/>
          <a:ln/>
        </p:spPr>
        <p:txBody>
          <a:bodyPr wrap="square" lIns="0" tIns="0" rIns="0" bIns="0" rtlCol="0" anchor="ctr"/>
          <a:lstStyle/>
          <a:p>
            <a:pPr marL="0" indent="0">
              <a:buNone/>
            </a:pPr>
            <a:r>
              <a:rPr lang="en-US" sz="1300" b="1" dirty="0">
                <a:solidFill>
                  <a:srgbClr val="FFFFFF"/>
                </a:solidFill>
                <a:latin typeface="Arial" pitchFamily="34" charset="0"/>
                <a:ea typeface="Arial" pitchFamily="34" charset="-122"/>
                <a:cs typeface="Arial" pitchFamily="34" charset="-120"/>
              </a:rPr>
              <a:t>Null Cleaning Summary</a:t>
            </a:r>
            <a:endParaRPr lang="en-US" sz="1300" dirty="0"/>
          </a:p>
        </p:txBody>
      </p:sp>
      <p:sp>
        <p:nvSpPr>
          <p:cNvPr id="62" name="Shape 60"/>
          <p:cNvSpPr/>
          <p:nvPr/>
        </p:nvSpPr>
        <p:spPr>
          <a:xfrm>
            <a:off x="4572000" y="2452878"/>
            <a:ext cx="1280160" cy="237744"/>
          </a:xfrm>
          <a:prstGeom prst="rect">
            <a:avLst/>
          </a:prstGeom>
          <a:solidFill>
            <a:srgbClr val="00B4D8"/>
          </a:solidFill>
          <a:ln w="12700">
            <a:solidFill>
              <a:srgbClr val="333333"/>
            </a:solidFill>
            <a:prstDash val="solid"/>
          </a:ln>
        </p:spPr>
      </p:sp>
      <p:sp>
        <p:nvSpPr>
          <p:cNvPr id="63" name="Text 61"/>
          <p:cNvSpPr/>
          <p:nvPr/>
        </p:nvSpPr>
        <p:spPr>
          <a:xfrm>
            <a:off x="4617720" y="2468880"/>
            <a:ext cx="1280160" cy="237744"/>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Column</a:t>
            </a:r>
            <a:endParaRPr lang="en-US" sz="950" dirty="0"/>
          </a:p>
        </p:txBody>
      </p:sp>
      <p:sp>
        <p:nvSpPr>
          <p:cNvPr id="64" name="Shape 62"/>
          <p:cNvSpPr/>
          <p:nvPr/>
        </p:nvSpPr>
        <p:spPr>
          <a:xfrm>
            <a:off x="5861953" y="2455817"/>
            <a:ext cx="548640" cy="237744"/>
          </a:xfrm>
          <a:prstGeom prst="rect">
            <a:avLst/>
          </a:prstGeom>
          <a:solidFill>
            <a:srgbClr val="00B4D8"/>
          </a:solidFill>
          <a:ln w="12700">
            <a:solidFill>
              <a:srgbClr val="333333"/>
            </a:solidFill>
            <a:prstDash val="solid"/>
          </a:ln>
        </p:spPr>
      </p:sp>
      <p:sp>
        <p:nvSpPr>
          <p:cNvPr id="65" name="Text 63"/>
          <p:cNvSpPr/>
          <p:nvPr/>
        </p:nvSpPr>
        <p:spPr>
          <a:xfrm>
            <a:off x="5924004" y="2452878"/>
            <a:ext cx="548640" cy="237744"/>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Null %</a:t>
            </a:r>
            <a:endParaRPr lang="en-US" sz="950" dirty="0"/>
          </a:p>
        </p:txBody>
      </p:sp>
      <p:sp>
        <p:nvSpPr>
          <p:cNvPr id="66" name="Shape 64"/>
          <p:cNvSpPr/>
          <p:nvPr/>
        </p:nvSpPr>
        <p:spPr>
          <a:xfrm>
            <a:off x="6413866" y="2455818"/>
            <a:ext cx="2103120" cy="237744"/>
          </a:xfrm>
          <a:prstGeom prst="rect">
            <a:avLst/>
          </a:prstGeom>
          <a:solidFill>
            <a:srgbClr val="00B4D8"/>
          </a:solidFill>
          <a:ln w="12700">
            <a:solidFill>
              <a:srgbClr val="333333"/>
            </a:solidFill>
            <a:prstDash val="solid"/>
          </a:ln>
        </p:spPr>
      </p:sp>
      <p:sp>
        <p:nvSpPr>
          <p:cNvPr id="67" name="Text 65"/>
          <p:cNvSpPr/>
          <p:nvPr/>
        </p:nvSpPr>
        <p:spPr>
          <a:xfrm>
            <a:off x="6511836" y="2456432"/>
            <a:ext cx="2103120" cy="237744"/>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Action</a:t>
            </a:r>
            <a:endParaRPr lang="en-US" sz="950" dirty="0"/>
          </a:p>
        </p:txBody>
      </p:sp>
      <p:sp>
        <p:nvSpPr>
          <p:cNvPr id="68" name="Shape 66"/>
          <p:cNvSpPr/>
          <p:nvPr/>
        </p:nvSpPr>
        <p:spPr>
          <a:xfrm>
            <a:off x="4572000" y="2715768"/>
            <a:ext cx="1280160" cy="237744"/>
          </a:xfrm>
          <a:prstGeom prst="rect">
            <a:avLst/>
          </a:prstGeom>
          <a:solidFill>
            <a:srgbClr val="111827"/>
          </a:solidFill>
          <a:ln w="12700">
            <a:solidFill>
              <a:srgbClr val="333333"/>
            </a:solidFill>
            <a:prstDash val="solid"/>
          </a:ln>
        </p:spPr>
      </p:sp>
      <p:sp>
        <p:nvSpPr>
          <p:cNvPr id="69" name="Text 67"/>
          <p:cNvSpPr/>
          <p:nvPr/>
        </p:nvSpPr>
        <p:spPr>
          <a:xfrm>
            <a:off x="4617720" y="2715768"/>
            <a:ext cx="1280160" cy="237744"/>
          </a:xfrm>
          <a:prstGeom prst="rect">
            <a:avLst/>
          </a:prstGeom>
          <a:noFill/>
          <a:ln/>
        </p:spPr>
        <p:txBody>
          <a:bodyPr wrap="square" lIns="0" tIns="0" rIns="0" bIns="0" rtlCol="0" anchor="ctr"/>
          <a:lstStyle/>
          <a:p>
            <a:pPr marL="0" indent="0">
              <a:buNone/>
            </a:pPr>
            <a:r>
              <a:rPr lang="en-US" sz="900" dirty="0">
                <a:solidFill>
                  <a:srgbClr val="CBD5E1"/>
                </a:solidFill>
                <a:latin typeface="Calibri" pitchFamily="34" charset="0"/>
                <a:ea typeface="Calibri" pitchFamily="34" charset="-122"/>
                <a:cs typeface="Calibri" pitchFamily="34" charset="-120"/>
              </a:rPr>
              <a:t>alcohol</a:t>
            </a:r>
            <a:endParaRPr lang="en-US" sz="900" dirty="0"/>
          </a:p>
        </p:txBody>
      </p:sp>
      <p:sp>
        <p:nvSpPr>
          <p:cNvPr id="70" name="Shape 68"/>
          <p:cNvSpPr/>
          <p:nvPr/>
        </p:nvSpPr>
        <p:spPr>
          <a:xfrm>
            <a:off x="5858680" y="2715768"/>
            <a:ext cx="548640" cy="237744"/>
          </a:xfrm>
          <a:prstGeom prst="rect">
            <a:avLst/>
          </a:prstGeom>
          <a:solidFill>
            <a:srgbClr val="111827"/>
          </a:solidFill>
          <a:ln w="12700">
            <a:solidFill>
              <a:srgbClr val="333333"/>
            </a:solidFill>
            <a:prstDash val="solid"/>
          </a:ln>
        </p:spPr>
      </p:sp>
      <p:sp>
        <p:nvSpPr>
          <p:cNvPr id="71" name="Text 69"/>
          <p:cNvSpPr/>
          <p:nvPr/>
        </p:nvSpPr>
        <p:spPr>
          <a:xfrm>
            <a:off x="5910939" y="2722626"/>
            <a:ext cx="548640" cy="237744"/>
          </a:xfrm>
          <a:prstGeom prst="rect">
            <a:avLst/>
          </a:prstGeom>
          <a:noFill/>
          <a:ln/>
        </p:spPr>
        <p:txBody>
          <a:bodyPr wrap="square" lIns="0" tIns="0" rIns="0" bIns="0" rtlCol="0" anchor="ctr"/>
          <a:lstStyle/>
          <a:p>
            <a:pPr marL="0" indent="0">
              <a:buNone/>
            </a:pPr>
            <a:r>
              <a:rPr lang="en-US" sz="900" b="1" dirty="0">
                <a:solidFill>
                  <a:srgbClr val="EF4444"/>
                </a:solidFill>
                <a:latin typeface="Calibri" pitchFamily="34" charset="0"/>
                <a:ea typeface="Calibri" pitchFamily="34" charset="-122"/>
                <a:cs typeface="Calibri" pitchFamily="34" charset="-120"/>
              </a:rPr>
              <a:t>53%</a:t>
            </a:r>
            <a:endParaRPr lang="en-US" sz="900" dirty="0"/>
          </a:p>
        </p:txBody>
      </p:sp>
      <p:sp>
        <p:nvSpPr>
          <p:cNvPr id="72" name="Shape 70"/>
          <p:cNvSpPr/>
          <p:nvPr/>
        </p:nvSpPr>
        <p:spPr>
          <a:xfrm>
            <a:off x="6420397" y="2719686"/>
            <a:ext cx="2103120" cy="237744"/>
          </a:xfrm>
          <a:prstGeom prst="rect">
            <a:avLst/>
          </a:prstGeom>
          <a:solidFill>
            <a:srgbClr val="111827"/>
          </a:solidFill>
          <a:ln w="12700">
            <a:solidFill>
              <a:srgbClr val="333333"/>
            </a:solidFill>
            <a:prstDash val="solid"/>
          </a:ln>
        </p:spPr>
      </p:sp>
      <p:sp>
        <p:nvSpPr>
          <p:cNvPr id="73" name="Text 71"/>
          <p:cNvSpPr/>
          <p:nvPr/>
        </p:nvSpPr>
        <p:spPr>
          <a:xfrm>
            <a:off x="6629400" y="2697480"/>
            <a:ext cx="2103120" cy="237744"/>
          </a:xfrm>
          <a:prstGeom prst="rect">
            <a:avLst/>
          </a:prstGeom>
          <a:noFill/>
          <a:ln/>
        </p:spPr>
        <p:txBody>
          <a:bodyPr wrap="square" lIns="0" tIns="0" rIns="0" bIns="0" rtlCol="0" anchor="ctr"/>
          <a:lstStyle/>
          <a:p>
            <a:pPr marL="0" indent="0">
              <a:buNone/>
            </a:pPr>
            <a:r>
              <a:rPr lang="en-US" sz="900" dirty="0">
                <a:solidFill>
                  <a:srgbClr val="CBD5E1"/>
                </a:solidFill>
                <a:latin typeface="Calibri" pitchFamily="34" charset="0"/>
                <a:ea typeface="Calibri" pitchFamily="34" charset="-122"/>
                <a:cs typeface="Calibri" pitchFamily="34" charset="-120"/>
              </a:rPr>
              <a:t>Filled → No Data</a:t>
            </a:r>
            <a:endParaRPr lang="en-US" sz="900" dirty="0"/>
          </a:p>
        </p:txBody>
      </p:sp>
      <p:sp>
        <p:nvSpPr>
          <p:cNvPr id="74" name="Shape 72"/>
          <p:cNvSpPr/>
          <p:nvPr/>
        </p:nvSpPr>
        <p:spPr>
          <a:xfrm>
            <a:off x="4572000" y="2962656"/>
            <a:ext cx="1280160" cy="237744"/>
          </a:xfrm>
          <a:prstGeom prst="rect">
            <a:avLst/>
          </a:prstGeom>
          <a:solidFill>
            <a:srgbClr val="1F2937"/>
          </a:solidFill>
          <a:ln w="12700">
            <a:solidFill>
              <a:srgbClr val="333333"/>
            </a:solidFill>
            <a:prstDash val="solid"/>
          </a:ln>
        </p:spPr>
      </p:sp>
      <p:sp>
        <p:nvSpPr>
          <p:cNvPr id="75" name="Text 73"/>
          <p:cNvSpPr/>
          <p:nvPr/>
        </p:nvSpPr>
        <p:spPr>
          <a:xfrm>
            <a:off x="4617720" y="2962656"/>
            <a:ext cx="1280160" cy="237744"/>
          </a:xfrm>
          <a:prstGeom prst="rect">
            <a:avLst/>
          </a:prstGeom>
          <a:noFill/>
          <a:ln/>
        </p:spPr>
        <p:txBody>
          <a:bodyPr wrap="square" lIns="0" tIns="0" rIns="0" bIns="0" rtlCol="0" anchor="ctr"/>
          <a:lstStyle/>
          <a:p>
            <a:pPr marL="0" indent="0">
              <a:buNone/>
            </a:pPr>
            <a:r>
              <a:rPr lang="en-US" sz="900" dirty="0">
                <a:solidFill>
                  <a:srgbClr val="CBD5E1"/>
                </a:solidFill>
                <a:latin typeface="Calibri" pitchFamily="34" charset="0"/>
                <a:ea typeface="Calibri" pitchFamily="34" charset="-122"/>
                <a:cs typeface="Calibri" pitchFamily="34" charset="-120"/>
              </a:rPr>
              <a:t>related_drugs</a:t>
            </a:r>
            <a:endParaRPr lang="en-US" sz="900" dirty="0"/>
          </a:p>
        </p:txBody>
      </p:sp>
      <p:sp>
        <p:nvSpPr>
          <p:cNvPr id="76" name="Shape 74"/>
          <p:cNvSpPr/>
          <p:nvPr/>
        </p:nvSpPr>
        <p:spPr>
          <a:xfrm>
            <a:off x="5858680" y="2954203"/>
            <a:ext cx="548640" cy="237744"/>
          </a:xfrm>
          <a:prstGeom prst="rect">
            <a:avLst/>
          </a:prstGeom>
          <a:solidFill>
            <a:srgbClr val="1F2937"/>
          </a:solidFill>
          <a:ln w="12700">
            <a:solidFill>
              <a:srgbClr val="333333"/>
            </a:solidFill>
            <a:prstDash val="solid"/>
          </a:ln>
        </p:spPr>
      </p:sp>
      <p:sp>
        <p:nvSpPr>
          <p:cNvPr id="77" name="Text 75"/>
          <p:cNvSpPr/>
          <p:nvPr/>
        </p:nvSpPr>
        <p:spPr>
          <a:xfrm>
            <a:off x="5904400" y="2950899"/>
            <a:ext cx="548640" cy="237744"/>
          </a:xfrm>
          <a:prstGeom prst="rect">
            <a:avLst/>
          </a:prstGeom>
          <a:noFill/>
          <a:ln/>
        </p:spPr>
        <p:txBody>
          <a:bodyPr wrap="square" lIns="0" tIns="0" rIns="0" bIns="0" rtlCol="0" anchor="ctr"/>
          <a:lstStyle/>
          <a:p>
            <a:pPr marL="0" indent="0">
              <a:buNone/>
            </a:pPr>
            <a:r>
              <a:rPr lang="en-US" sz="900" b="1" dirty="0">
                <a:solidFill>
                  <a:srgbClr val="EF4444"/>
                </a:solidFill>
                <a:latin typeface="Calibri" pitchFamily="34" charset="0"/>
                <a:ea typeface="Calibri" pitchFamily="34" charset="-122"/>
                <a:cs typeface="Calibri" pitchFamily="34" charset="-120"/>
              </a:rPr>
              <a:t>50%</a:t>
            </a:r>
            <a:endParaRPr lang="en-US" sz="900" dirty="0"/>
          </a:p>
        </p:txBody>
      </p:sp>
      <p:sp>
        <p:nvSpPr>
          <p:cNvPr id="78" name="Shape 76"/>
          <p:cNvSpPr/>
          <p:nvPr/>
        </p:nvSpPr>
        <p:spPr>
          <a:xfrm>
            <a:off x="6407332" y="2968371"/>
            <a:ext cx="2103120" cy="237744"/>
          </a:xfrm>
          <a:prstGeom prst="rect">
            <a:avLst/>
          </a:prstGeom>
          <a:solidFill>
            <a:srgbClr val="1F2937"/>
          </a:solidFill>
          <a:ln w="12700">
            <a:solidFill>
              <a:srgbClr val="333333"/>
            </a:solidFill>
            <a:prstDash val="solid"/>
          </a:ln>
        </p:spPr>
      </p:sp>
      <p:sp>
        <p:nvSpPr>
          <p:cNvPr id="79" name="Text 77"/>
          <p:cNvSpPr/>
          <p:nvPr/>
        </p:nvSpPr>
        <p:spPr>
          <a:xfrm>
            <a:off x="6629400" y="2958737"/>
            <a:ext cx="2103120" cy="237744"/>
          </a:xfrm>
          <a:prstGeom prst="rect">
            <a:avLst/>
          </a:prstGeom>
          <a:noFill/>
          <a:ln/>
        </p:spPr>
        <p:txBody>
          <a:bodyPr wrap="square" lIns="0" tIns="0" rIns="0" bIns="0" rtlCol="0" anchor="ctr"/>
          <a:lstStyle/>
          <a:p>
            <a:pPr marL="0" indent="0">
              <a:buNone/>
            </a:pPr>
            <a:r>
              <a:rPr lang="en-US" sz="900" dirty="0">
                <a:solidFill>
                  <a:srgbClr val="CBD5E1"/>
                </a:solidFill>
                <a:latin typeface="Calibri" pitchFamily="34" charset="0"/>
                <a:ea typeface="Calibri" pitchFamily="34" charset="-122"/>
                <a:cs typeface="Calibri" pitchFamily="34" charset="-120"/>
              </a:rPr>
              <a:t>Filled → None Listed</a:t>
            </a:r>
            <a:endParaRPr lang="en-US" sz="900" dirty="0"/>
          </a:p>
        </p:txBody>
      </p:sp>
      <p:sp>
        <p:nvSpPr>
          <p:cNvPr id="80" name="Shape 78"/>
          <p:cNvSpPr/>
          <p:nvPr/>
        </p:nvSpPr>
        <p:spPr>
          <a:xfrm>
            <a:off x="4572000" y="3209544"/>
            <a:ext cx="1280160" cy="237744"/>
          </a:xfrm>
          <a:prstGeom prst="rect">
            <a:avLst/>
          </a:prstGeom>
          <a:solidFill>
            <a:srgbClr val="111827"/>
          </a:solidFill>
          <a:ln w="12700">
            <a:solidFill>
              <a:srgbClr val="333333"/>
            </a:solidFill>
            <a:prstDash val="solid"/>
          </a:ln>
        </p:spPr>
      </p:sp>
      <p:sp>
        <p:nvSpPr>
          <p:cNvPr id="81" name="Text 79"/>
          <p:cNvSpPr/>
          <p:nvPr/>
        </p:nvSpPr>
        <p:spPr>
          <a:xfrm>
            <a:off x="4617720" y="3209544"/>
            <a:ext cx="1280160" cy="237744"/>
          </a:xfrm>
          <a:prstGeom prst="rect">
            <a:avLst/>
          </a:prstGeom>
          <a:noFill/>
          <a:ln/>
        </p:spPr>
        <p:txBody>
          <a:bodyPr wrap="square" lIns="0" tIns="0" rIns="0" bIns="0" rtlCol="0" anchor="ctr"/>
          <a:lstStyle/>
          <a:p>
            <a:pPr marL="0" indent="0">
              <a:buNone/>
            </a:pPr>
            <a:r>
              <a:rPr lang="en-US" sz="900" dirty="0">
                <a:solidFill>
                  <a:srgbClr val="CBD5E1"/>
                </a:solidFill>
                <a:latin typeface="Calibri" pitchFamily="34" charset="0"/>
                <a:ea typeface="Calibri" pitchFamily="34" charset="-122"/>
                <a:cs typeface="Calibri" pitchFamily="34" charset="-120"/>
              </a:rPr>
              <a:t>rating</a:t>
            </a:r>
            <a:endParaRPr lang="en-US" sz="900" dirty="0"/>
          </a:p>
        </p:txBody>
      </p:sp>
      <p:sp>
        <p:nvSpPr>
          <p:cNvPr id="82" name="Shape 80"/>
          <p:cNvSpPr/>
          <p:nvPr/>
        </p:nvSpPr>
        <p:spPr>
          <a:xfrm>
            <a:off x="5852156" y="3209544"/>
            <a:ext cx="548640" cy="237744"/>
          </a:xfrm>
          <a:prstGeom prst="rect">
            <a:avLst/>
          </a:prstGeom>
          <a:solidFill>
            <a:srgbClr val="111827"/>
          </a:solidFill>
          <a:ln w="12700">
            <a:solidFill>
              <a:srgbClr val="333333"/>
            </a:solidFill>
            <a:prstDash val="solid"/>
          </a:ln>
        </p:spPr>
        <p:txBody>
          <a:bodyPr/>
          <a:lstStyle/>
          <a:p>
            <a:endParaRPr lang="en-IN" dirty="0"/>
          </a:p>
        </p:txBody>
      </p:sp>
      <p:sp>
        <p:nvSpPr>
          <p:cNvPr id="83" name="Text 81"/>
          <p:cNvSpPr/>
          <p:nvPr/>
        </p:nvSpPr>
        <p:spPr>
          <a:xfrm>
            <a:off x="5904400" y="3229138"/>
            <a:ext cx="548640" cy="237744"/>
          </a:xfrm>
          <a:prstGeom prst="rect">
            <a:avLst/>
          </a:prstGeom>
          <a:noFill/>
          <a:ln/>
        </p:spPr>
        <p:txBody>
          <a:bodyPr wrap="square" lIns="0" tIns="0" rIns="0" bIns="0" rtlCol="0" anchor="ctr"/>
          <a:lstStyle/>
          <a:p>
            <a:pPr marL="0" indent="0">
              <a:buNone/>
            </a:pPr>
            <a:r>
              <a:rPr lang="en-US" sz="900" b="1" dirty="0">
                <a:solidFill>
                  <a:srgbClr val="F59E0B"/>
                </a:solidFill>
                <a:latin typeface="Calibri" pitchFamily="34" charset="0"/>
                <a:ea typeface="Calibri" pitchFamily="34" charset="-122"/>
                <a:cs typeface="Calibri" pitchFamily="34" charset="-120"/>
              </a:rPr>
              <a:t>46%</a:t>
            </a:r>
            <a:endParaRPr lang="en-US" sz="900" dirty="0"/>
          </a:p>
        </p:txBody>
      </p:sp>
      <p:sp>
        <p:nvSpPr>
          <p:cNvPr id="84" name="Shape 82"/>
          <p:cNvSpPr/>
          <p:nvPr/>
        </p:nvSpPr>
        <p:spPr>
          <a:xfrm>
            <a:off x="6407332" y="3209544"/>
            <a:ext cx="2103120" cy="237744"/>
          </a:xfrm>
          <a:prstGeom prst="rect">
            <a:avLst/>
          </a:prstGeom>
          <a:solidFill>
            <a:srgbClr val="111827"/>
          </a:solidFill>
          <a:ln w="12700">
            <a:solidFill>
              <a:srgbClr val="333333"/>
            </a:solidFill>
            <a:prstDash val="solid"/>
          </a:ln>
        </p:spPr>
      </p:sp>
      <p:sp>
        <p:nvSpPr>
          <p:cNvPr id="85" name="Text 83"/>
          <p:cNvSpPr/>
          <p:nvPr/>
        </p:nvSpPr>
        <p:spPr>
          <a:xfrm>
            <a:off x="6629400" y="3197172"/>
            <a:ext cx="2103120" cy="237744"/>
          </a:xfrm>
          <a:prstGeom prst="rect">
            <a:avLst/>
          </a:prstGeom>
          <a:noFill/>
          <a:ln/>
        </p:spPr>
        <p:txBody>
          <a:bodyPr wrap="square" lIns="0" tIns="0" rIns="0" bIns="0" rtlCol="0" anchor="ctr"/>
          <a:lstStyle/>
          <a:p>
            <a:pPr marL="0" indent="0">
              <a:buNone/>
            </a:pPr>
            <a:r>
              <a:rPr lang="en-US" sz="900" dirty="0">
                <a:solidFill>
                  <a:srgbClr val="CBD5E1"/>
                </a:solidFill>
                <a:latin typeface="Calibri" pitchFamily="34" charset="0"/>
                <a:ea typeface="Calibri" pitchFamily="34" charset="-122"/>
                <a:cs typeface="Calibri" pitchFamily="34" charset="-120"/>
              </a:rPr>
              <a:t>Median by condition</a:t>
            </a:r>
            <a:endParaRPr lang="en-US" sz="900" dirty="0"/>
          </a:p>
        </p:txBody>
      </p:sp>
      <p:sp>
        <p:nvSpPr>
          <p:cNvPr id="86" name="Shape 84"/>
          <p:cNvSpPr/>
          <p:nvPr/>
        </p:nvSpPr>
        <p:spPr>
          <a:xfrm>
            <a:off x="4572000" y="3456432"/>
            <a:ext cx="1280160" cy="237744"/>
          </a:xfrm>
          <a:prstGeom prst="rect">
            <a:avLst/>
          </a:prstGeom>
          <a:solidFill>
            <a:srgbClr val="1F2937"/>
          </a:solidFill>
          <a:ln w="12700">
            <a:solidFill>
              <a:srgbClr val="333333"/>
            </a:solidFill>
            <a:prstDash val="solid"/>
          </a:ln>
        </p:spPr>
      </p:sp>
      <p:sp>
        <p:nvSpPr>
          <p:cNvPr id="87" name="Text 85"/>
          <p:cNvSpPr/>
          <p:nvPr/>
        </p:nvSpPr>
        <p:spPr>
          <a:xfrm>
            <a:off x="4617720" y="3456432"/>
            <a:ext cx="1280160" cy="237744"/>
          </a:xfrm>
          <a:prstGeom prst="rect">
            <a:avLst/>
          </a:prstGeom>
          <a:noFill/>
          <a:ln/>
        </p:spPr>
        <p:txBody>
          <a:bodyPr wrap="square" lIns="0" tIns="0" rIns="0" bIns="0" rtlCol="0" anchor="ctr"/>
          <a:lstStyle/>
          <a:p>
            <a:pPr marL="0" indent="0">
              <a:buNone/>
            </a:pPr>
            <a:r>
              <a:rPr lang="en-US" sz="900" dirty="0">
                <a:solidFill>
                  <a:srgbClr val="CBD5E1"/>
                </a:solidFill>
                <a:latin typeface="Calibri" pitchFamily="34" charset="0"/>
                <a:ea typeface="Calibri" pitchFamily="34" charset="-122"/>
                <a:cs typeface="Calibri" pitchFamily="34" charset="-120"/>
              </a:rPr>
              <a:t>brand_names</a:t>
            </a:r>
            <a:endParaRPr lang="en-US" sz="900" dirty="0"/>
          </a:p>
        </p:txBody>
      </p:sp>
      <p:sp>
        <p:nvSpPr>
          <p:cNvPr id="88" name="Shape 86"/>
          <p:cNvSpPr/>
          <p:nvPr/>
        </p:nvSpPr>
        <p:spPr>
          <a:xfrm>
            <a:off x="5852156" y="3465576"/>
            <a:ext cx="548640" cy="237744"/>
          </a:xfrm>
          <a:prstGeom prst="rect">
            <a:avLst/>
          </a:prstGeom>
          <a:solidFill>
            <a:srgbClr val="1F2937"/>
          </a:solidFill>
          <a:ln w="12700">
            <a:solidFill>
              <a:srgbClr val="333333"/>
            </a:solidFill>
            <a:prstDash val="solid"/>
          </a:ln>
        </p:spPr>
      </p:sp>
      <p:sp>
        <p:nvSpPr>
          <p:cNvPr id="89" name="Text 87"/>
          <p:cNvSpPr/>
          <p:nvPr/>
        </p:nvSpPr>
        <p:spPr>
          <a:xfrm>
            <a:off x="5910939" y="3465576"/>
            <a:ext cx="548640" cy="237744"/>
          </a:xfrm>
          <a:prstGeom prst="rect">
            <a:avLst/>
          </a:prstGeom>
          <a:noFill/>
          <a:ln/>
        </p:spPr>
        <p:txBody>
          <a:bodyPr wrap="square" lIns="0" tIns="0" rIns="0" bIns="0" rtlCol="0" anchor="ctr"/>
          <a:lstStyle/>
          <a:p>
            <a:pPr marL="0" indent="0">
              <a:buNone/>
            </a:pPr>
            <a:r>
              <a:rPr lang="en-US" sz="900" b="1" dirty="0">
                <a:solidFill>
                  <a:srgbClr val="F59E0B"/>
                </a:solidFill>
                <a:latin typeface="Calibri" pitchFamily="34" charset="0"/>
                <a:ea typeface="Calibri" pitchFamily="34" charset="-122"/>
                <a:cs typeface="Calibri" pitchFamily="34" charset="-120"/>
              </a:rPr>
              <a:t>41%</a:t>
            </a:r>
            <a:endParaRPr lang="en-US" sz="900" dirty="0"/>
          </a:p>
        </p:txBody>
      </p:sp>
      <p:sp>
        <p:nvSpPr>
          <p:cNvPr id="90" name="Shape 88"/>
          <p:cNvSpPr/>
          <p:nvPr/>
        </p:nvSpPr>
        <p:spPr>
          <a:xfrm>
            <a:off x="6407332" y="3469495"/>
            <a:ext cx="2103120" cy="237744"/>
          </a:xfrm>
          <a:prstGeom prst="rect">
            <a:avLst/>
          </a:prstGeom>
          <a:solidFill>
            <a:srgbClr val="1F2937"/>
          </a:solidFill>
          <a:ln w="12700">
            <a:solidFill>
              <a:srgbClr val="333333"/>
            </a:solidFill>
            <a:prstDash val="solid"/>
          </a:ln>
        </p:spPr>
      </p:sp>
      <p:sp>
        <p:nvSpPr>
          <p:cNvPr id="91" name="Text 89"/>
          <p:cNvSpPr/>
          <p:nvPr/>
        </p:nvSpPr>
        <p:spPr>
          <a:xfrm>
            <a:off x="6629400" y="3409712"/>
            <a:ext cx="2103120" cy="237744"/>
          </a:xfrm>
          <a:prstGeom prst="rect">
            <a:avLst/>
          </a:prstGeom>
          <a:noFill/>
          <a:ln/>
        </p:spPr>
        <p:txBody>
          <a:bodyPr wrap="square" lIns="0" tIns="0" rIns="0" bIns="0" rtlCol="0" anchor="ctr"/>
          <a:lstStyle/>
          <a:p>
            <a:pPr marL="0" indent="0">
              <a:buNone/>
            </a:pPr>
            <a:r>
              <a:rPr lang="en-US" sz="900" dirty="0">
                <a:solidFill>
                  <a:srgbClr val="CBD5E1"/>
                </a:solidFill>
                <a:latin typeface="Calibri" pitchFamily="34" charset="0"/>
                <a:ea typeface="Calibri" pitchFamily="34" charset="-122"/>
                <a:cs typeface="Calibri" pitchFamily="34" charset="-120"/>
              </a:rPr>
              <a:t>Filled → No Brand Listed</a:t>
            </a:r>
            <a:endParaRPr lang="en-US" sz="900" dirty="0"/>
          </a:p>
        </p:txBody>
      </p:sp>
      <p:sp>
        <p:nvSpPr>
          <p:cNvPr id="92" name="Shape 90"/>
          <p:cNvSpPr/>
          <p:nvPr/>
        </p:nvSpPr>
        <p:spPr>
          <a:xfrm>
            <a:off x="4572000" y="3703320"/>
            <a:ext cx="1280160" cy="237744"/>
          </a:xfrm>
          <a:prstGeom prst="rect">
            <a:avLst/>
          </a:prstGeom>
          <a:solidFill>
            <a:srgbClr val="111827"/>
          </a:solidFill>
          <a:ln w="12700">
            <a:solidFill>
              <a:srgbClr val="333333"/>
            </a:solidFill>
            <a:prstDash val="solid"/>
          </a:ln>
        </p:spPr>
      </p:sp>
      <p:sp>
        <p:nvSpPr>
          <p:cNvPr id="93" name="Text 91"/>
          <p:cNvSpPr/>
          <p:nvPr/>
        </p:nvSpPr>
        <p:spPr>
          <a:xfrm>
            <a:off x="4617720" y="3703320"/>
            <a:ext cx="1280160" cy="237744"/>
          </a:xfrm>
          <a:prstGeom prst="rect">
            <a:avLst/>
          </a:prstGeom>
          <a:noFill/>
          <a:ln/>
        </p:spPr>
        <p:txBody>
          <a:bodyPr wrap="square" lIns="0" tIns="0" rIns="0" bIns="0" rtlCol="0" anchor="ctr"/>
          <a:lstStyle/>
          <a:p>
            <a:pPr marL="0" indent="0">
              <a:buNone/>
            </a:pPr>
            <a:r>
              <a:rPr lang="en-US" sz="900" dirty="0">
                <a:solidFill>
                  <a:srgbClr val="CBD5E1"/>
                </a:solidFill>
                <a:latin typeface="Calibri" pitchFamily="34" charset="0"/>
                <a:ea typeface="Calibri" pitchFamily="34" charset="-122"/>
                <a:cs typeface="Calibri" pitchFamily="34" charset="-120"/>
              </a:rPr>
              <a:t>pregnancy_cat</a:t>
            </a:r>
            <a:endParaRPr lang="en-US" sz="900" dirty="0"/>
          </a:p>
        </p:txBody>
      </p:sp>
      <p:sp>
        <p:nvSpPr>
          <p:cNvPr id="94" name="Shape 92"/>
          <p:cNvSpPr/>
          <p:nvPr/>
        </p:nvSpPr>
        <p:spPr>
          <a:xfrm>
            <a:off x="5858692" y="3694176"/>
            <a:ext cx="548640" cy="237744"/>
          </a:xfrm>
          <a:prstGeom prst="rect">
            <a:avLst/>
          </a:prstGeom>
          <a:solidFill>
            <a:srgbClr val="111827"/>
          </a:solidFill>
          <a:ln w="12700">
            <a:solidFill>
              <a:srgbClr val="333333"/>
            </a:solidFill>
            <a:prstDash val="solid"/>
          </a:ln>
        </p:spPr>
      </p:sp>
      <p:sp>
        <p:nvSpPr>
          <p:cNvPr id="95" name="Text 93"/>
          <p:cNvSpPr/>
          <p:nvPr/>
        </p:nvSpPr>
        <p:spPr>
          <a:xfrm>
            <a:off x="5910939" y="3698095"/>
            <a:ext cx="548640" cy="237744"/>
          </a:xfrm>
          <a:prstGeom prst="rect">
            <a:avLst/>
          </a:prstGeom>
          <a:noFill/>
          <a:ln/>
        </p:spPr>
        <p:txBody>
          <a:bodyPr wrap="square" lIns="0" tIns="0" rIns="0" bIns="0" rtlCol="0" anchor="ctr"/>
          <a:lstStyle/>
          <a:p>
            <a:pPr marL="0" indent="0">
              <a:buNone/>
            </a:pPr>
            <a:r>
              <a:rPr lang="en-US" sz="900" b="1" dirty="0">
                <a:solidFill>
                  <a:srgbClr val="10B981"/>
                </a:solidFill>
                <a:latin typeface="Calibri" pitchFamily="34" charset="0"/>
                <a:ea typeface="Calibri" pitchFamily="34" charset="-122"/>
                <a:cs typeface="Calibri" pitchFamily="34" charset="-120"/>
              </a:rPr>
              <a:t>8%</a:t>
            </a:r>
            <a:endParaRPr lang="en-US" sz="900" dirty="0"/>
          </a:p>
        </p:txBody>
      </p:sp>
      <p:sp>
        <p:nvSpPr>
          <p:cNvPr id="96" name="Shape 94"/>
          <p:cNvSpPr/>
          <p:nvPr/>
        </p:nvSpPr>
        <p:spPr>
          <a:xfrm>
            <a:off x="6407332" y="3694176"/>
            <a:ext cx="2103120" cy="237744"/>
          </a:xfrm>
          <a:prstGeom prst="rect">
            <a:avLst/>
          </a:prstGeom>
          <a:solidFill>
            <a:srgbClr val="111827"/>
          </a:solidFill>
          <a:ln w="12700">
            <a:solidFill>
              <a:srgbClr val="333333"/>
            </a:solidFill>
            <a:prstDash val="solid"/>
          </a:ln>
        </p:spPr>
      </p:sp>
      <p:sp>
        <p:nvSpPr>
          <p:cNvPr id="97" name="Text 95"/>
          <p:cNvSpPr/>
          <p:nvPr/>
        </p:nvSpPr>
        <p:spPr>
          <a:xfrm>
            <a:off x="6642458" y="3648456"/>
            <a:ext cx="2103120" cy="237744"/>
          </a:xfrm>
          <a:prstGeom prst="rect">
            <a:avLst/>
          </a:prstGeom>
          <a:noFill/>
          <a:ln/>
        </p:spPr>
        <p:txBody>
          <a:bodyPr wrap="square" lIns="0" tIns="0" rIns="0" bIns="0" rtlCol="0" anchor="ctr"/>
          <a:lstStyle/>
          <a:p>
            <a:pPr marL="0" indent="0">
              <a:buNone/>
            </a:pPr>
            <a:r>
              <a:rPr lang="en-US" sz="900" dirty="0">
                <a:solidFill>
                  <a:srgbClr val="CBD5E1"/>
                </a:solidFill>
                <a:latin typeface="Calibri" pitchFamily="34" charset="0"/>
                <a:ea typeface="Calibri" pitchFamily="34" charset="-122"/>
                <a:cs typeface="Calibri" pitchFamily="34" charset="-120"/>
              </a:rPr>
              <a:t>Filled → Not Classified</a:t>
            </a:r>
            <a:endParaRPr lang="en-US" sz="900" dirty="0"/>
          </a:p>
        </p:txBody>
      </p:sp>
      <p:sp>
        <p:nvSpPr>
          <p:cNvPr id="98" name="Shape 96"/>
          <p:cNvSpPr/>
          <p:nvPr/>
        </p:nvSpPr>
        <p:spPr>
          <a:xfrm>
            <a:off x="4572000" y="3950208"/>
            <a:ext cx="1280160" cy="237744"/>
          </a:xfrm>
          <a:prstGeom prst="rect">
            <a:avLst/>
          </a:prstGeom>
          <a:solidFill>
            <a:srgbClr val="1F2937"/>
          </a:solidFill>
          <a:ln w="12700">
            <a:solidFill>
              <a:srgbClr val="333333"/>
            </a:solidFill>
            <a:prstDash val="solid"/>
          </a:ln>
        </p:spPr>
      </p:sp>
      <p:sp>
        <p:nvSpPr>
          <p:cNvPr id="99" name="Text 97"/>
          <p:cNvSpPr/>
          <p:nvPr/>
        </p:nvSpPr>
        <p:spPr>
          <a:xfrm>
            <a:off x="4617720" y="3950208"/>
            <a:ext cx="1280160" cy="237744"/>
          </a:xfrm>
          <a:prstGeom prst="rect">
            <a:avLst/>
          </a:prstGeom>
          <a:noFill/>
          <a:ln/>
        </p:spPr>
        <p:txBody>
          <a:bodyPr wrap="square" lIns="0" tIns="0" rIns="0" bIns="0" rtlCol="0" anchor="ctr"/>
          <a:lstStyle/>
          <a:p>
            <a:pPr marL="0" indent="0">
              <a:buNone/>
            </a:pPr>
            <a:r>
              <a:rPr lang="en-US" sz="900" dirty="0">
                <a:solidFill>
                  <a:srgbClr val="CBD5E1"/>
                </a:solidFill>
                <a:latin typeface="Calibri" pitchFamily="34" charset="0"/>
                <a:ea typeface="Calibri" pitchFamily="34" charset="-122"/>
                <a:cs typeface="Calibri" pitchFamily="34" charset="-120"/>
              </a:rPr>
              <a:t>side_effects</a:t>
            </a:r>
            <a:endParaRPr lang="en-US" sz="900" dirty="0"/>
          </a:p>
        </p:txBody>
      </p:sp>
      <p:sp>
        <p:nvSpPr>
          <p:cNvPr id="100" name="Shape 98"/>
          <p:cNvSpPr/>
          <p:nvPr/>
        </p:nvSpPr>
        <p:spPr>
          <a:xfrm>
            <a:off x="5858692" y="3943677"/>
            <a:ext cx="548640" cy="237744"/>
          </a:xfrm>
          <a:prstGeom prst="rect">
            <a:avLst/>
          </a:prstGeom>
          <a:solidFill>
            <a:srgbClr val="1F2937"/>
          </a:solidFill>
          <a:ln w="12700">
            <a:solidFill>
              <a:srgbClr val="333333"/>
            </a:solidFill>
            <a:prstDash val="solid"/>
          </a:ln>
        </p:spPr>
      </p:sp>
      <p:sp>
        <p:nvSpPr>
          <p:cNvPr id="101" name="Text 99"/>
          <p:cNvSpPr/>
          <p:nvPr/>
        </p:nvSpPr>
        <p:spPr>
          <a:xfrm>
            <a:off x="5904400" y="3943677"/>
            <a:ext cx="548640" cy="237744"/>
          </a:xfrm>
          <a:prstGeom prst="rect">
            <a:avLst/>
          </a:prstGeom>
          <a:noFill/>
          <a:ln/>
        </p:spPr>
        <p:txBody>
          <a:bodyPr wrap="square" lIns="0" tIns="0" rIns="0" bIns="0" rtlCol="0" anchor="ctr"/>
          <a:lstStyle/>
          <a:p>
            <a:pPr marL="0" indent="0">
              <a:buNone/>
            </a:pPr>
            <a:r>
              <a:rPr lang="en-US" sz="900" b="1" dirty="0">
                <a:solidFill>
                  <a:srgbClr val="10B981"/>
                </a:solidFill>
                <a:latin typeface="Calibri" pitchFamily="34" charset="0"/>
                <a:ea typeface="Calibri" pitchFamily="34" charset="-122"/>
                <a:cs typeface="Calibri" pitchFamily="34" charset="-120"/>
              </a:rPr>
              <a:t>4%</a:t>
            </a:r>
            <a:endParaRPr lang="en-US" sz="900" dirty="0"/>
          </a:p>
        </p:txBody>
      </p:sp>
      <p:sp>
        <p:nvSpPr>
          <p:cNvPr id="102" name="Shape 100"/>
          <p:cNvSpPr/>
          <p:nvPr/>
        </p:nvSpPr>
        <p:spPr>
          <a:xfrm>
            <a:off x="6420397" y="3941064"/>
            <a:ext cx="2103120" cy="237744"/>
          </a:xfrm>
          <a:prstGeom prst="rect">
            <a:avLst/>
          </a:prstGeom>
          <a:solidFill>
            <a:srgbClr val="1F2937"/>
          </a:solidFill>
          <a:ln w="12700">
            <a:solidFill>
              <a:srgbClr val="333333"/>
            </a:solidFill>
            <a:prstDash val="solid"/>
          </a:ln>
        </p:spPr>
        <p:txBody>
          <a:bodyPr/>
          <a:lstStyle/>
          <a:p>
            <a:endParaRPr lang="en-IN" dirty="0"/>
          </a:p>
        </p:txBody>
      </p:sp>
      <p:sp>
        <p:nvSpPr>
          <p:cNvPr id="103" name="Text 101"/>
          <p:cNvSpPr/>
          <p:nvPr/>
        </p:nvSpPr>
        <p:spPr>
          <a:xfrm>
            <a:off x="6642458" y="3900990"/>
            <a:ext cx="2103120" cy="237744"/>
          </a:xfrm>
          <a:prstGeom prst="rect">
            <a:avLst/>
          </a:prstGeom>
          <a:noFill/>
          <a:ln/>
        </p:spPr>
        <p:txBody>
          <a:bodyPr wrap="square" lIns="0" tIns="0" rIns="0" bIns="0" rtlCol="0" anchor="ctr"/>
          <a:lstStyle/>
          <a:p>
            <a:pPr marL="0" indent="0">
              <a:buNone/>
            </a:pPr>
            <a:r>
              <a:rPr lang="en-US" sz="900" dirty="0">
                <a:solidFill>
                  <a:srgbClr val="CBD5E1"/>
                </a:solidFill>
                <a:latin typeface="Calibri" pitchFamily="34" charset="0"/>
                <a:ea typeface="Calibri" pitchFamily="34" charset="-122"/>
                <a:cs typeface="Calibri" pitchFamily="34" charset="-120"/>
              </a:rPr>
              <a:t>Filled → Not Listed</a:t>
            </a:r>
            <a:endParaRPr lang="en-US" sz="900" dirty="0"/>
          </a:p>
        </p:txBody>
      </p:sp>
      <p:sp>
        <p:nvSpPr>
          <p:cNvPr id="104" name="Shape 102"/>
          <p:cNvSpPr/>
          <p:nvPr/>
        </p:nvSpPr>
        <p:spPr>
          <a:xfrm>
            <a:off x="4572000" y="4197096"/>
            <a:ext cx="1280160" cy="237744"/>
          </a:xfrm>
          <a:prstGeom prst="rect">
            <a:avLst/>
          </a:prstGeom>
          <a:solidFill>
            <a:srgbClr val="111827"/>
          </a:solidFill>
          <a:ln w="12700">
            <a:solidFill>
              <a:srgbClr val="333333"/>
            </a:solidFill>
            <a:prstDash val="solid"/>
          </a:ln>
        </p:spPr>
      </p:sp>
      <p:sp>
        <p:nvSpPr>
          <p:cNvPr id="105" name="Text 103"/>
          <p:cNvSpPr/>
          <p:nvPr/>
        </p:nvSpPr>
        <p:spPr>
          <a:xfrm>
            <a:off x="4617720" y="4197096"/>
            <a:ext cx="1280160" cy="237744"/>
          </a:xfrm>
          <a:prstGeom prst="rect">
            <a:avLst/>
          </a:prstGeom>
          <a:noFill/>
          <a:ln/>
        </p:spPr>
        <p:txBody>
          <a:bodyPr wrap="square" lIns="0" tIns="0" rIns="0" bIns="0" rtlCol="0" anchor="ctr"/>
          <a:lstStyle/>
          <a:p>
            <a:pPr marL="0" indent="0">
              <a:buNone/>
            </a:pPr>
            <a:r>
              <a:rPr lang="en-US" sz="900" dirty="0">
                <a:solidFill>
                  <a:srgbClr val="CBD5E1"/>
                </a:solidFill>
                <a:latin typeface="Calibri" pitchFamily="34" charset="0"/>
                <a:ea typeface="Calibri" pitchFamily="34" charset="-122"/>
                <a:cs typeface="Calibri" pitchFamily="34" charset="-120"/>
              </a:rPr>
              <a:t>drug_classes</a:t>
            </a:r>
            <a:endParaRPr lang="en-US" sz="900" dirty="0"/>
          </a:p>
        </p:txBody>
      </p:sp>
      <p:sp>
        <p:nvSpPr>
          <p:cNvPr id="106" name="Shape 104"/>
          <p:cNvSpPr/>
          <p:nvPr/>
        </p:nvSpPr>
        <p:spPr>
          <a:xfrm>
            <a:off x="5852156" y="4197096"/>
            <a:ext cx="548640" cy="237744"/>
          </a:xfrm>
          <a:prstGeom prst="rect">
            <a:avLst/>
          </a:prstGeom>
          <a:solidFill>
            <a:srgbClr val="111827"/>
          </a:solidFill>
          <a:ln w="12700">
            <a:solidFill>
              <a:srgbClr val="333333"/>
            </a:solidFill>
            <a:prstDash val="solid"/>
          </a:ln>
        </p:spPr>
      </p:sp>
      <p:sp>
        <p:nvSpPr>
          <p:cNvPr id="107" name="Text 105"/>
          <p:cNvSpPr/>
          <p:nvPr/>
        </p:nvSpPr>
        <p:spPr>
          <a:xfrm>
            <a:off x="5891347" y="4181421"/>
            <a:ext cx="548640" cy="237744"/>
          </a:xfrm>
          <a:prstGeom prst="rect">
            <a:avLst/>
          </a:prstGeom>
          <a:noFill/>
          <a:ln/>
        </p:spPr>
        <p:txBody>
          <a:bodyPr wrap="square" lIns="0" tIns="0" rIns="0" bIns="0" rtlCol="0" anchor="ctr"/>
          <a:lstStyle/>
          <a:p>
            <a:pPr marL="0" indent="0">
              <a:buNone/>
            </a:pPr>
            <a:r>
              <a:rPr lang="en-US" sz="900" b="1" dirty="0">
                <a:solidFill>
                  <a:srgbClr val="10B981"/>
                </a:solidFill>
                <a:latin typeface="Calibri" pitchFamily="34" charset="0"/>
                <a:ea typeface="Calibri" pitchFamily="34" charset="-122"/>
                <a:cs typeface="Calibri" pitchFamily="34" charset="-120"/>
              </a:rPr>
              <a:t>3%</a:t>
            </a:r>
            <a:endParaRPr lang="en-US" sz="900" dirty="0"/>
          </a:p>
        </p:txBody>
      </p:sp>
      <p:sp>
        <p:nvSpPr>
          <p:cNvPr id="108" name="Shape 106"/>
          <p:cNvSpPr/>
          <p:nvPr/>
        </p:nvSpPr>
        <p:spPr>
          <a:xfrm>
            <a:off x="6407332" y="4187952"/>
            <a:ext cx="2103120" cy="237744"/>
          </a:xfrm>
          <a:prstGeom prst="rect">
            <a:avLst/>
          </a:prstGeom>
          <a:solidFill>
            <a:srgbClr val="111827"/>
          </a:solidFill>
          <a:ln w="12700">
            <a:solidFill>
              <a:srgbClr val="333333"/>
            </a:solidFill>
            <a:prstDash val="solid"/>
          </a:ln>
        </p:spPr>
      </p:sp>
      <p:sp>
        <p:nvSpPr>
          <p:cNvPr id="109" name="Text 107"/>
          <p:cNvSpPr/>
          <p:nvPr/>
        </p:nvSpPr>
        <p:spPr>
          <a:xfrm>
            <a:off x="6662054" y="4197096"/>
            <a:ext cx="2103120" cy="237744"/>
          </a:xfrm>
          <a:prstGeom prst="rect">
            <a:avLst/>
          </a:prstGeom>
          <a:noFill/>
          <a:ln/>
        </p:spPr>
        <p:txBody>
          <a:bodyPr wrap="square" lIns="0" tIns="0" rIns="0" bIns="0" rtlCol="0" anchor="ctr"/>
          <a:lstStyle/>
          <a:p>
            <a:pPr marL="0" indent="0">
              <a:buNone/>
            </a:pPr>
            <a:r>
              <a:rPr lang="en-US" sz="900" dirty="0">
                <a:solidFill>
                  <a:srgbClr val="CBD5E1"/>
                </a:solidFill>
                <a:latin typeface="Calibri" pitchFamily="34" charset="0"/>
                <a:ea typeface="Calibri" pitchFamily="34" charset="-122"/>
                <a:cs typeface="Calibri" pitchFamily="34" charset="-120"/>
              </a:rPr>
              <a:t>Filled → Unclassified</a:t>
            </a:r>
            <a:endParaRPr lang="en-US" sz="900" dirty="0"/>
          </a:p>
        </p:txBody>
      </p:sp>
      <p:sp>
        <p:nvSpPr>
          <p:cNvPr id="110" name="Shape 108"/>
          <p:cNvSpPr/>
          <p:nvPr/>
        </p:nvSpPr>
        <p:spPr>
          <a:xfrm>
            <a:off x="4572000" y="4443984"/>
            <a:ext cx="1280160" cy="237744"/>
          </a:xfrm>
          <a:prstGeom prst="rect">
            <a:avLst/>
          </a:prstGeom>
          <a:solidFill>
            <a:srgbClr val="1F2937"/>
          </a:solidFill>
          <a:ln w="12700">
            <a:solidFill>
              <a:srgbClr val="333333"/>
            </a:solidFill>
            <a:prstDash val="solid"/>
          </a:ln>
        </p:spPr>
      </p:sp>
      <p:sp>
        <p:nvSpPr>
          <p:cNvPr id="111" name="Text 109"/>
          <p:cNvSpPr/>
          <p:nvPr/>
        </p:nvSpPr>
        <p:spPr>
          <a:xfrm>
            <a:off x="4617720" y="4443984"/>
            <a:ext cx="1280160" cy="237744"/>
          </a:xfrm>
          <a:prstGeom prst="rect">
            <a:avLst/>
          </a:prstGeom>
          <a:noFill/>
          <a:ln/>
        </p:spPr>
        <p:txBody>
          <a:bodyPr wrap="square" lIns="0" tIns="0" rIns="0" bIns="0" rtlCol="0" anchor="ctr"/>
          <a:lstStyle/>
          <a:p>
            <a:pPr marL="0" indent="0">
              <a:buNone/>
            </a:pPr>
            <a:r>
              <a:rPr lang="en-US" sz="900" dirty="0">
                <a:solidFill>
                  <a:srgbClr val="CBD5E1"/>
                </a:solidFill>
                <a:latin typeface="Calibri" pitchFamily="34" charset="0"/>
                <a:ea typeface="Calibri" pitchFamily="34" charset="-122"/>
                <a:cs typeface="Calibri" pitchFamily="34" charset="-120"/>
              </a:rPr>
              <a:t>generic_name</a:t>
            </a:r>
            <a:endParaRPr lang="en-US" sz="900" dirty="0"/>
          </a:p>
        </p:txBody>
      </p:sp>
      <p:sp>
        <p:nvSpPr>
          <p:cNvPr id="112" name="Shape 110"/>
          <p:cNvSpPr/>
          <p:nvPr/>
        </p:nvSpPr>
        <p:spPr>
          <a:xfrm>
            <a:off x="5845626" y="4453128"/>
            <a:ext cx="548640" cy="237744"/>
          </a:xfrm>
          <a:prstGeom prst="rect">
            <a:avLst/>
          </a:prstGeom>
          <a:solidFill>
            <a:srgbClr val="1F2937"/>
          </a:solidFill>
          <a:ln w="12700">
            <a:solidFill>
              <a:srgbClr val="333333"/>
            </a:solidFill>
            <a:prstDash val="solid"/>
          </a:ln>
        </p:spPr>
      </p:sp>
      <p:sp>
        <p:nvSpPr>
          <p:cNvPr id="113" name="Text 111"/>
          <p:cNvSpPr/>
          <p:nvPr/>
        </p:nvSpPr>
        <p:spPr>
          <a:xfrm>
            <a:off x="5910939" y="4437453"/>
            <a:ext cx="548640" cy="237744"/>
          </a:xfrm>
          <a:prstGeom prst="rect">
            <a:avLst/>
          </a:prstGeom>
          <a:noFill/>
          <a:ln/>
        </p:spPr>
        <p:txBody>
          <a:bodyPr wrap="square" lIns="0" tIns="0" rIns="0" bIns="0" rtlCol="0" anchor="ctr"/>
          <a:lstStyle/>
          <a:p>
            <a:pPr marL="0" indent="0">
              <a:buNone/>
            </a:pPr>
            <a:r>
              <a:rPr lang="en-US" sz="900" b="1" dirty="0">
                <a:solidFill>
                  <a:srgbClr val="10B981"/>
                </a:solidFill>
                <a:latin typeface="Calibri" pitchFamily="34" charset="0"/>
                <a:ea typeface="Calibri" pitchFamily="34" charset="-122"/>
                <a:cs typeface="Calibri" pitchFamily="34" charset="-120"/>
              </a:rPr>
              <a:t>1%</a:t>
            </a:r>
            <a:endParaRPr lang="en-US" sz="900" dirty="0"/>
          </a:p>
        </p:txBody>
      </p:sp>
      <p:sp>
        <p:nvSpPr>
          <p:cNvPr id="114" name="Shape 112"/>
          <p:cNvSpPr/>
          <p:nvPr/>
        </p:nvSpPr>
        <p:spPr>
          <a:xfrm>
            <a:off x="6394266" y="4447903"/>
            <a:ext cx="2103120" cy="237744"/>
          </a:xfrm>
          <a:prstGeom prst="rect">
            <a:avLst/>
          </a:prstGeom>
          <a:solidFill>
            <a:srgbClr val="1F2937"/>
          </a:solidFill>
          <a:ln w="12700">
            <a:solidFill>
              <a:srgbClr val="333333"/>
            </a:solidFill>
            <a:prstDash val="solid"/>
          </a:ln>
        </p:spPr>
      </p:sp>
      <p:sp>
        <p:nvSpPr>
          <p:cNvPr id="115" name="Text 113"/>
          <p:cNvSpPr/>
          <p:nvPr/>
        </p:nvSpPr>
        <p:spPr>
          <a:xfrm>
            <a:off x="6655522" y="4434840"/>
            <a:ext cx="2103120" cy="237744"/>
          </a:xfrm>
          <a:prstGeom prst="rect">
            <a:avLst/>
          </a:prstGeom>
          <a:noFill/>
          <a:ln/>
        </p:spPr>
        <p:txBody>
          <a:bodyPr wrap="square" lIns="0" tIns="0" rIns="0" bIns="0" rtlCol="0" anchor="ctr"/>
          <a:lstStyle/>
          <a:p>
            <a:pPr marL="0" indent="0">
              <a:buNone/>
            </a:pPr>
            <a:r>
              <a:rPr lang="en-US" sz="900" dirty="0">
                <a:solidFill>
                  <a:srgbClr val="CBD5E1"/>
                </a:solidFill>
                <a:latin typeface="Calibri" pitchFamily="34" charset="0"/>
                <a:ea typeface="Calibri" pitchFamily="34" charset="-122"/>
                <a:cs typeface="Calibri" pitchFamily="34" charset="-120"/>
              </a:rPr>
              <a:t>Filled with drug_name</a:t>
            </a:r>
            <a:endParaRPr lang="en-US" sz="900" dirty="0"/>
          </a:p>
        </p:txBody>
      </p:sp>
      <p:sp>
        <p:nvSpPr>
          <p:cNvPr id="116" name="Shape 114"/>
          <p:cNvSpPr/>
          <p:nvPr/>
        </p:nvSpPr>
        <p:spPr>
          <a:xfrm>
            <a:off x="0" y="5070348"/>
            <a:ext cx="9144000" cy="73152"/>
          </a:xfrm>
          <a:prstGeom prst="rect">
            <a:avLst/>
          </a:prstGeom>
          <a:solidFill>
            <a:srgbClr val="00B4D8"/>
          </a:solidFill>
          <a:ln w="12700">
            <a:solidFill>
              <a:srgbClr val="333333"/>
            </a:solidFill>
            <a:prstDash val="solid"/>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0B4D8"/>
          </a:solidFill>
          <a:ln w="12700">
            <a:solidFill>
              <a:srgbClr val="333333"/>
            </a:solidFill>
            <a:prstDash val="solid"/>
          </a:ln>
        </p:spPr>
      </p:sp>
      <p:sp>
        <p:nvSpPr>
          <p:cNvPr id="3" name="Text 1"/>
          <p:cNvSpPr/>
          <p:nvPr/>
        </p:nvSpPr>
        <p:spPr>
          <a:xfrm>
            <a:off x="457200" y="137160"/>
            <a:ext cx="8229600" cy="502920"/>
          </a:xfrm>
          <a:prstGeom prst="rect">
            <a:avLst/>
          </a:prstGeom>
          <a:noFill/>
          <a:ln/>
        </p:spPr>
        <p:txBody>
          <a:bodyPr wrap="square" rtlCol="0" anchor="ctr"/>
          <a:lstStyle/>
          <a:p>
            <a:pPr marL="0" indent="0">
              <a:buNone/>
            </a:pPr>
            <a:r>
              <a:rPr lang="en-US" sz="2800" b="1" dirty="0">
                <a:solidFill>
                  <a:srgbClr val="FFFFFF"/>
                </a:solidFill>
                <a:latin typeface="Arial Black" pitchFamily="34" charset="0"/>
                <a:ea typeface="Arial Black" pitchFamily="34" charset="-122"/>
                <a:cs typeface="Arial Black" pitchFamily="34" charset="-120"/>
              </a:rPr>
              <a:t>Dashboard Page 1 — Overview</a:t>
            </a:r>
            <a:endParaRPr lang="en-US" sz="2800" dirty="0"/>
          </a:p>
        </p:txBody>
      </p:sp>
      <p:sp>
        <p:nvSpPr>
          <p:cNvPr id="4" name="Shape 2"/>
          <p:cNvSpPr/>
          <p:nvPr/>
        </p:nvSpPr>
        <p:spPr>
          <a:xfrm>
            <a:off x="274320" y="777240"/>
            <a:ext cx="1920240" cy="868680"/>
          </a:xfrm>
          <a:prstGeom prst="rect">
            <a:avLst/>
          </a:prstGeom>
          <a:solidFill>
            <a:srgbClr val="1F2937"/>
          </a:solidFill>
          <a:ln w="12700">
            <a:solidFill>
              <a:srgbClr val="333333"/>
            </a:solidFill>
            <a:prstDash val="solid"/>
          </a:ln>
          <a:effectLst>
            <a:outerShdw blurRad="101600" dist="38100" dir="8100000" algn="bl" rotWithShape="0">
              <a:srgbClr val="000000">
                <a:alpha val="25000"/>
              </a:srgbClr>
            </a:outerShdw>
          </a:effectLst>
        </p:spPr>
      </p:sp>
      <p:sp>
        <p:nvSpPr>
          <p:cNvPr id="5" name="Text 3"/>
          <p:cNvSpPr/>
          <p:nvPr/>
        </p:nvSpPr>
        <p:spPr>
          <a:xfrm>
            <a:off x="274320" y="822960"/>
            <a:ext cx="1920240" cy="457200"/>
          </a:xfrm>
          <a:prstGeom prst="rect">
            <a:avLst/>
          </a:prstGeom>
          <a:noFill/>
          <a:ln/>
        </p:spPr>
        <p:txBody>
          <a:bodyPr wrap="square" lIns="0" tIns="0" rIns="0" bIns="0" rtlCol="0" anchor="ctr"/>
          <a:lstStyle/>
          <a:p>
            <a:pPr marL="0" indent="0" algn="ctr">
              <a:buNone/>
            </a:pPr>
            <a:r>
              <a:rPr lang="en-US" sz="2400" b="1" dirty="0">
                <a:solidFill>
                  <a:srgbClr val="00B4D8"/>
                </a:solidFill>
                <a:latin typeface="Arial Black" pitchFamily="34" charset="0"/>
                <a:ea typeface="Arial Black" pitchFamily="34" charset="-122"/>
                <a:cs typeface="Arial Black" pitchFamily="34" charset="-120"/>
              </a:rPr>
              <a:t>2,931</a:t>
            </a:r>
            <a:endParaRPr lang="en-US" sz="2400" dirty="0"/>
          </a:p>
        </p:txBody>
      </p:sp>
      <p:sp>
        <p:nvSpPr>
          <p:cNvPr id="6" name="Text 4"/>
          <p:cNvSpPr/>
          <p:nvPr/>
        </p:nvSpPr>
        <p:spPr>
          <a:xfrm>
            <a:off x="274320" y="1261872"/>
            <a:ext cx="1920240" cy="274320"/>
          </a:xfrm>
          <a:prstGeom prst="rect">
            <a:avLst/>
          </a:prstGeom>
          <a:noFill/>
          <a:ln/>
        </p:spPr>
        <p:txBody>
          <a:bodyPr wrap="square" lIns="0" tIns="0" rIns="0" bIns="0" rtlCol="0" anchor="ctr"/>
          <a:lstStyle/>
          <a:p>
            <a:pPr marL="0" indent="0" algn="ctr">
              <a:buNone/>
            </a:pPr>
            <a:r>
              <a:rPr lang="en-US" sz="950" dirty="0">
                <a:solidFill>
                  <a:srgbClr val="94A3B8"/>
                </a:solidFill>
                <a:latin typeface="Calibri" pitchFamily="34" charset="0"/>
                <a:ea typeface="Calibri" pitchFamily="34" charset="-122"/>
                <a:cs typeface="Calibri" pitchFamily="34" charset="-120"/>
              </a:rPr>
              <a:t>Total Drugs</a:t>
            </a:r>
            <a:endParaRPr lang="en-US" sz="950" dirty="0"/>
          </a:p>
        </p:txBody>
      </p:sp>
      <p:sp>
        <p:nvSpPr>
          <p:cNvPr id="7" name="Shape 5"/>
          <p:cNvSpPr/>
          <p:nvPr/>
        </p:nvSpPr>
        <p:spPr>
          <a:xfrm>
            <a:off x="2432304" y="777240"/>
            <a:ext cx="1920240" cy="868680"/>
          </a:xfrm>
          <a:prstGeom prst="rect">
            <a:avLst/>
          </a:prstGeom>
          <a:solidFill>
            <a:srgbClr val="1F2937"/>
          </a:solidFill>
          <a:ln w="12700">
            <a:solidFill>
              <a:srgbClr val="333333"/>
            </a:solidFill>
            <a:prstDash val="solid"/>
          </a:ln>
          <a:effectLst>
            <a:outerShdw blurRad="101600" dist="38100" dir="8100000" algn="bl" rotWithShape="0">
              <a:srgbClr val="000000">
                <a:alpha val="25000"/>
              </a:srgbClr>
            </a:outerShdw>
          </a:effectLst>
        </p:spPr>
      </p:sp>
      <p:sp>
        <p:nvSpPr>
          <p:cNvPr id="8" name="Text 6"/>
          <p:cNvSpPr/>
          <p:nvPr/>
        </p:nvSpPr>
        <p:spPr>
          <a:xfrm>
            <a:off x="2432304" y="822960"/>
            <a:ext cx="1920240" cy="457200"/>
          </a:xfrm>
          <a:prstGeom prst="rect">
            <a:avLst/>
          </a:prstGeom>
          <a:noFill/>
          <a:ln/>
        </p:spPr>
        <p:txBody>
          <a:bodyPr wrap="square" lIns="0" tIns="0" rIns="0" bIns="0" rtlCol="0" anchor="ctr"/>
          <a:lstStyle/>
          <a:p>
            <a:pPr marL="0" indent="0" algn="ctr">
              <a:buNone/>
            </a:pPr>
            <a:r>
              <a:rPr lang="en-US" sz="2400" b="1" dirty="0">
                <a:solidFill>
                  <a:srgbClr val="10B981"/>
                </a:solidFill>
                <a:latin typeface="Arial Black" pitchFamily="34" charset="0"/>
                <a:ea typeface="Arial Black" pitchFamily="34" charset="-122"/>
                <a:cs typeface="Arial Black" pitchFamily="34" charset="-120"/>
              </a:rPr>
              <a:t>7.1</a:t>
            </a:r>
            <a:endParaRPr lang="en-US" sz="2400" dirty="0"/>
          </a:p>
        </p:txBody>
      </p:sp>
      <p:sp>
        <p:nvSpPr>
          <p:cNvPr id="9" name="Text 7"/>
          <p:cNvSpPr/>
          <p:nvPr/>
        </p:nvSpPr>
        <p:spPr>
          <a:xfrm>
            <a:off x="2432304" y="1261872"/>
            <a:ext cx="1920240" cy="274320"/>
          </a:xfrm>
          <a:prstGeom prst="rect">
            <a:avLst/>
          </a:prstGeom>
          <a:noFill/>
          <a:ln/>
        </p:spPr>
        <p:txBody>
          <a:bodyPr wrap="square" lIns="0" tIns="0" rIns="0" bIns="0" rtlCol="0" anchor="ctr"/>
          <a:lstStyle/>
          <a:p>
            <a:pPr marL="0" indent="0" algn="ctr">
              <a:buNone/>
            </a:pPr>
            <a:r>
              <a:rPr lang="en-US" sz="950" dirty="0">
                <a:solidFill>
                  <a:srgbClr val="94A3B8"/>
                </a:solidFill>
                <a:latin typeface="Calibri" pitchFamily="34" charset="0"/>
                <a:ea typeface="Calibri" pitchFamily="34" charset="-122"/>
                <a:cs typeface="Calibri" pitchFamily="34" charset="-120"/>
              </a:rPr>
              <a:t>Avg Rating</a:t>
            </a:r>
            <a:endParaRPr lang="en-US" sz="950" dirty="0"/>
          </a:p>
        </p:txBody>
      </p:sp>
      <p:sp>
        <p:nvSpPr>
          <p:cNvPr id="10" name="Shape 8"/>
          <p:cNvSpPr/>
          <p:nvPr/>
        </p:nvSpPr>
        <p:spPr>
          <a:xfrm>
            <a:off x="4590288" y="777240"/>
            <a:ext cx="1920240" cy="868680"/>
          </a:xfrm>
          <a:prstGeom prst="rect">
            <a:avLst/>
          </a:prstGeom>
          <a:solidFill>
            <a:srgbClr val="1F2937"/>
          </a:solidFill>
          <a:ln w="12700">
            <a:solidFill>
              <a:srgbClr val="333333"/>
            </a:solidFill>
            <a:prstDash val="solid"/>
          </a:ln>
          <a:effectLst>
            <a:outerShdw blurRad="101600" dist="38100" dir="8100000" algn="bl" rotWithShape="0">
              <a:srgbClr val="000000">
                <a:alpha val="25000"/>
              </a:srgbClr>
            </a:outerShdw>
          </a:effectLst>
        </p:spPr>
      </p:sp>
      <p:sp>
        <p:nvSpPr>
          <p:cNvPr id="11" name="Text 9"/>
          <p:cNvSpPr/>
          <p:nvPr/>
        </p:nvSpPr>
        <p:spPr>
          <a:xfrm>
            <a:off x="4590288" y="822960"/>
            <a:ext cx="1920240" cy="457200"/>
          </a:xfrm>
          <a:prstGeom prst="rect">
            <a:avLst/>
          </a:prstGeom>
          <a:noFill/>
          <a:ln/>
        </p:spPr>
        <p:txBody>
          <a:bodyPr wrap="square" lIns="0" tIns="0" rIns="0" bIns="0" rtlCol="0" anchor="ctr"/>
          <a:lstStyle/>
          <a:p>
            <a:pPr marL="0" indent="0" algn="ctr">
              <a:buNone/>
            </a:pPr>
            <a:r>
              <a:rPr lang="en-US" sz="2400" b="1" dirty="0">
                <a:solidFill>
                  <a:srgbClr val="F59E0B"/>
                </a:solidFill>
                <a:latin typeface="Arial Black" pitchFamily="34" charset="0"/>
                <a:ea typeface="Arial Black" pitchFamily="34" charset="-122"/>
                <a:cs typeface="Arial Black" pitchFamily="34" charset="-120"/>
              </a:rPr>
              <a:t>68.2%</a:t>
            </a:r>
            <a:endParaRPr lang="en-US" sz="2400" dirty="0"/>
          </a:p>
        </p:txBody>
      </p:sp>
      <p:sp>
        <p:nvSpPr>
          <p:cNvPr id="12" name="Text 10"/>
          <p:cNvSpPr/>
          <p:nvPr/>
        </p:nvSpPr>
        <p:spPr>
          <a:xfrm>
            <a:off x="4590288" y="1261872"/>
            <a:ext cx="1920240" cy="274320"/>
          </a:xfrm>
          <a:prstGeom prst="rect">
            <a:avLst/>
          </a:prstGeom>
          <a:noFill/>
          <a:ln/>
        </p:spPr>
        <p:txBody>
          <a:bodyPr wrap="square" lIns="0" tIns="0" rIns="0" bIns="0" rtlCol="0" anchor="ctr"/>
          <a:lstStyle/>
          <a:p>
            <a:pPr marL="0" indent="0" algn="ctr">
              <a:buNone/>
            </a:pPr>
            <a:r>
              <a:rPr lang="en-US" sz="950" dirty="0">
                <a:solidFill>
                  <a:srgbClr val="94A3B8"/>
                </a:solidFill>
                <a:latin typeface="Calibri" pitchFamily="34" charset="0"/>
                <a:ea typeface="Calibri" pitchFamily="34" charset="-122"/>
                <a:cs typeface="Calibri" pitchFamily="34" charset="-120"/>
              </a:rPr>
              <a:t>Prescription Only</a:t>
            </a:r>
            <a:endParaRPr lang="en-US" sz="950" dirty="0"/>
          </a:p>
        </p:txBody>
      </p:sp>
      <p:sp>
        <p:nvSpPr>
          <p:cNvPr id="13" name="Shape 11"/>
          <p:cNvSpPr/>
          <p:nvPr/>
        </p:nvSpPr>
        <p:spPr>
          <a:xfrm>
            <a:off x="6748272" y="777240"/>
            <a:ext cx="1920240" cy="868680"/>
          </a:xfrm>
          <a:prstGeom prst="rect">
            <a:avLst/>
          </a:prstGeom>
          <a:solidFill>
            <a:srgbClr val="1F2937"/>
          </a:solidFill>
          <a:ln w="12700">
            <a:solidFill>
              <a:srgbClr val="333333"/>
            </a:solidFill>
            <a:prstDash val="solid"/>
          </a:ln>
          <a:effectLst>
            <a:outerShdw blurRad="101600" dist="38100" dir="8100000" algn="bl" rotWithShape="0">
              <a:srgbClr val="000000">
                <a:alpha val="25000"/>
              </a:srgbClr>
            </a:outerShdw>
          </a:effectLst>
        </p:spPr>
      </p:sp>
      <p:sp>
        <p:nvSpPr>
          <p:cNvPr id="14" name="Text 12"/>
          <p:cNvSpPr/>
          <p:nvPr/>
        </p:nvSpPr>
        <p:spPr>
          <a:xfrm>
            <a:off x="6748272" y="822960"/>
            <a:ext cx="1920240" cy="457200"/>
          </a:xfrm>
          <a:prstGeom prst="rect">
            <a:avLst/>
          </a:prstGeom>
          <a:noFill/>
          <a:ln/>
        </p:spPr>
        <p:txBody>
          <a:bodyPr wrap="square" lIns="0" tIns="0" rIns="0" bIns="0" rtlCol="0" anchor="ctr"/>
          <a:lstStyle/>
          <a:p>
            <a:pPr marL="0" indent="0" algn="ctr">
              <a:buNone/>
            </a:pPr>
            <a:r>
              <a:rPr lang="en-US" sz="2400" b="1" dirty="0">
                <a:solidFill>
                  <a:srgbClr val="EF4444"/>
                </a:solidFill>
                <a:latin typeface="Arial Black" pitchFamily="34" charset="0"/>
                <a:ea typeface="Arial Black" pitchFamily="34" charset="-122"/>
                <a:cs typeface="Arial Black" pitchFamily="34" charset="-120"/>
              </a:rPr>
              <a:t>47.0%</a:t>
            </a:r>
            <a:endParaRPr lang="en-US" sz="2400" dirty="0"/>
          </a:p>
        </p:txBody>
      </p:sp>
      <p:sp>
        <p:nvSpPr>
          <p:cNvPr id="15" name="Text 13"/>
          <p:cNvSpPr/>
          <p:nvPr/>
        </p:nvSpPr>
        <p:spPr>
          <a:xfrm>
            <a:off x="6748272" y="1261872"/>
            <a:ext cx="1920240" cy="274320"/>
          </a:xfrm>
          <a:prstGeom prst="rect">
            <a:avLst/>
          </a:prstGeom>
          <a:noFill/>
          <a:ln/>
        </p:spPr>
        <p:txBody>
          <a:bodyPr wrap="square" lIns="0" tIns="0" rIns="0" bIns="0" rtlCol="0" anchor="ctr"/>
          <a:lstStyle/>
          <a:p>
            <a:pPr marL="0" indent="0" algn="ctr">
              <a:buNone/>
            </a:pPr>
            <a:r>
              <a:rPr lang="en-US" sz="950" dirty="0">
                <a:solidFill>
                  <a:srgbClr val="94A3B8"/>
                </a:solidFill>
                <a:latin typeface="Calibri" pitchFamily="34" charset="0"/>
                <a:ea typeface="Calibri" pitchFamily="34" charset="-122"/>
                <a:cs typeface="Calibri" pitchFamily="34" charset="-120"/>
              </a:rPr>
              <a:t>Alcohol Risk</a:t>
            </a:r>
            <a:endParaRPr lang="en-US" sz="950" dirty="0"/>
          </a:p>
        </p:txBody>
      </p:sp>
      <p:graphicFrame>
        <p:nvGraphicFramePr>
          <p:cNvPr id="16" name="Chart 0"/>
          <p:cNvGraphicFramePr/>
          <p:nvPr/>
        </p:nvGraphicFramePr>
        <p:xfrm>
          <a:off x="274320" y="1783080"/>
          <a:ext cx="2926080" cy="310896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7" name="Chart 1"/>
          <p:cNvGraphicFramePr/>
          <p:nvPr/>
        </p:nvGraphicFramePr>
        <p:xfrm>
          <a:off x="3383280" y="1783080"/>
          <a:ext cx="2743200" cy="310896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8" name="Chart 2"/>
          <p:cNvGraphicFramePr/>
          <p:nvPr/>
        </p:nvGraphicFramePr>
        <p:xfrm>
          <a:off x="6217920" y="1783080"/>
          <a:ext cx="2651760" cy="3108960"/>
        </p:xfrm>
        <a:graphic>
          <a:graphicData uri="http://schemas.openxmlformats.org/drawingml/2006/chart">
            <c:chart xmlns:c="http://schemas.openxmlformats.org/drawingml/2006/chart" xmlns:r="http://schemas.openxmlformats.org/officeDocument/2006/relationships" r:id="rId5"/>
          </a:graphicData>
        </a:graphic>
      </p:graphicFrame>
      <p:sp>
        <p:nvSpPr>
          <p:cNvPr id="19" name="Shape 14"/>
          <p:cNvSpPr/>
          <p:nvPr/>
        </p:nvSpPr>
        <p:spPr>
          <a:xfrm>
            <a:off x="0" y="5070348"/>
            <a:ext cx="9144000" cy="73152"/>
          </a:xfrm>
          <a:prstGeom prst="rect">
            <a:avLst/>
          </a:prstGeom>
          <a:solidFill>
            <a:srgbClr val="00B4D8"/>
          </a:solidFill>
          <a:ln w="12700">
            <a:solidFill>
              <a:srgbClr val="333333"/>
            </a:solidFill>
            <a:prstDash val="solid"/>
          </a:ln>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F4444"/>
          </a:solidFill>
          <a:ln w="12700">
            <a:solidFill>
              <a:srgbClr val="333333"/>
            </a:solidFill>
            <a:prstDash val="solid"/>
          </a:ln>
        </p:spPr>
      </p:sp>
      <p:sp>
        <p:nvSpPr>
          <p:cNvPr id="3" name="Text 1"/>
          <p:cNvSpPr/>
          <p:nvPr/>
        </p:nvSpPr>
        <p:spPr>
          <a:xfrm>
            <a:off x="457200" y="137160"/>
            <a:ext cx="8229600" cy="502920"/>
          </a:xfrm>
          <a:prstGeom prst="rect">
            <a:avLst/>
          </a:prstGeom>
          <a:noFill/>
          <a:ln/>
        </p:spPr>
        <p:txBody>
          <a:bodyPr wrap="square" rtlCol="0" anchor="ctr"/>
          <a:lstStyle/>
          <a:p>
            <a:pPr marL="0" indent="0">
              <a:buNone/>
            </a:pPr>
            <a:r>
              <a:rPr lang="en-US" sz="2800" b="1" dirty="0">
                <a:solidFill>
                  <a:srgbClr val="FFFFFF"/>
                </a:solidFill>
                <a:latin typeface="Arial Black" pitchFamily="34" charset="0"/>
                <a:ea typeface="Arial Black" pitchFamily="34" charset="-122"/>
                <a:cs typeface="Arial Black" pitchFamily="34" charset="-120"/>
              </a:rPr>
              <a:t>Dashboard Page 2 — Safety Profile</a:t>
            </a:r>
            <a:endParaRPr lang="en-US" sz="2800" dirty="0"/>
          </a:p>
        </p:txBody>
      </p:sp>
      <p:sp>
        <p:nvSpPr>
          <p:cNvPr id="4" name="Shape 2"/>
          <p:cNvSpPr/>
          <p:nvPr/>
        </p:nvSpPr>
        <p:spPr>
          <a:xfrm>
            <a:off x="457200" y="777240"/>
            <a:ext cx="2468880" cy="868680"/>
          </a:xfrm>
          <a:prstGeom prst="rect">
            <a:avLst/>
          </a:prstGeom>
          <a:solidFill>
            <a:srgbClr val="1F2937"/>
          </a:solidFill>
          <a:ln w="12700">
            <a:solidFill>
              <a:srgbClr val="333333"/>
            </a:solidFill>
            <a:prstDash val="solid"/>
          </a:ln>
          <a:effectLst>
            <a:outerShdw blurRad="101600" dist="38100" dir="8100000" algn="bl" rotWithShape="0">
              <a:srgbClr val="000000">
                <a:alpha val="25000"/>
              </a:srgbClr>
            </a:outerShdw>
          </a:effectLst>
        </p:spPr>
      </p:sp>
      <p:sp>
        <p:nvSpPr>
          <p:cNvPr id="5" name="Text 3"/>
          <p:cNvSpPr/>
          <p:nvPr/>
        </p:nvSpPr>
        <p:spPr>
          <a:xfrm>
            <a:off x="457200" y="822960"/>
            <a:ext cx="2468880" cy="457200"/>
          </a:xfrm>
          <a:prstGeom prst="rect">
            <a:avLst/>
          </a:prstGeom>
          <a:noFill/>
          <a:ln/>
        </p:spPr>
        <p:txBody>
          <a:bodyPr wrap="square" lIns="0" tIns="0" rIns="0" bIns="0" rtlCol="0" anchor="ctr"/>
          <a:lstStyle/>
          <a:p>
            <a:pPr marL="0" indent="0" algn="ctr">
              <a:buNone/>
            </a:pPr>
            <a:r>
              <a:rPr lang="en-US" sz="2400" b="1" dirty="0">
                <a:solidFill>
                  <a:srgbClr val="10B981"/>
                </a:solidFill>
                <a:latin typeface="Arial Black" pitchFamily="34" charset="0"/>
                <a:ea typeface="Arial Black" pitchFamily="34" charset="-122"/>
                <a:cs typeface="Arial Black" pitchFamily="34" charset="-120"/>
              </a:rPr>
              <a:t>18</a:t>
            </a:r>
            <a:endParaRPr lang="en-US" sz="2400" dirty="0"/>
          </a:p>
        </p:txBody>
      </p:sp>
      <p:sp>
        <p:nvSpPr>
          <p:cNvPr id="6" name="Text 4"/>
          <p:cNvSpPr/>
          <p:nvPr/>
        </p:nvSpPr>
        <p:spPr>
          <a:xfrm>
            <a:off x="457200" y="1261872"/>
            <a:ext cx="2468880" cy="274320"/>
          </a:xfrm>
          <a:prstGeom prst="rect">
            <a:avLst/>
          </a:prstGeom>
          <a:noFill/>
          <a:ln/>
        </p:spPr>
        <p:txBody>
          <a:bodyPr wrap="square" lIns="0" tIns="0" rIns="0" bIns="0" rtlCol="0" anchor="ctr"/>
          <a:lstStyle/>
          <a:p>
            <a:pPr marL="0" indent="0" algn="ctr">
              <a:buNone/>
            </a:pPr>
            <a:r>
              <a:rPr lang="en-US" sz="950" dirty="0">
                <a:solidFill>
                  <a:srgbClr val="94A3B8"/>
                </a:solidFill>
                <a:latin typeface="Calibri" pitchFamily="34" charset="0"/>
                <a:ea typeface="Calibri" pitchFamily="34" charset="-122"/>
                <a:cs typeface="Calibri" pitchFamily="34" charset="-120"/>
              </a:rPr>
              <a:t>Safe (Cat A) Drugs</a:t>
            </a:r>
            <a:endParaRPr lang="en-US" sz="950" dirty="0"/>
          </a:p>
        </p:txBody>
      </p:sp>
      <p:sp>
        <p:nvSpPr>
          <p:cNvPr id="7" name="Shape 5"/>
          <p:cNvSpPr/>
          <p:nvPr/>
        </p:nvSpPr>
        <p:spPr>
          <a:xfrm>
            <a:off x="3291840" y="777240"/>
            <a:ext cx="2468880" cy="868680"/>
          </a:xfrm>
          <a:prstGeom prst="rect">
            <a:avLst/>
          </a:prstGeom>
          <a:solidFill>
            <a:srgbClr val="1F2937"/>
          </a:solidFill>
          <a:ln w="12700">
            <a:solidFill>
              <a:srgbClr val="333333"/>
            </a:solidFill>
            <a:prstDash val="solid"/>
          </a:ln>
          <a:effectLst>
            <a:outerShdw blurRad="101600" dist="38100" dir="8100000" algn="bl" rotWithShape="0">
              <a:srgbClr val="000000">
                <a:alpha val="25000"/>
              </a:srgbClr>
            </a:outerShdw>
          </a:effectLst>
        </p:spPr>
      </p:sp>
      <p:sp>
        <p:nvSpPr>
          <p:cNvPr id="8" name="Text 6"/>
          <p:cNvSpPr/>
          <p:nvPr/>
        </p:nvSpPr>
        <p:spPr>
          <a:xfrm>
            <a:off x="3291840" y="822960"/>
            <a:ext cx="2468880" cy="457200"/>
          </a:xfrm>
          <a:prstGeom prst="rect">
            <a:avLst/>
          </a:prstGeom>
          <a:noFill/>
          <a:ln/>
        </p:spPr>
        <p:txBody>
          <a:bodyPr wrap="square" lIns="0" tIns="0" rIns="0" bIns="0" rtlCol="0" anchor="ctr"/>
          <a:lstStyle/>
          <a:p>
            <a:pPr marL="0" indent="0" algn="ctr">
              <a:buNone/>
            </a:pPr>
            <a:r>
              <a:rPr lang="en-US" sz="2400" b="1" dirty="0">
                <a:solidFill>
                  <a:srgbClr val="00B4D8"/>
                </a:solidFill>
                <a:latin typeface="Arial Black" pitchFamily="34" charset="0"/>
                <a:ea typeface="Arial Black" pitchFamily="34" charset="-122"/>
                <a:cs typeface="Arial Black" pitchFamily="34" charset="-120"/>
              </a:rPr>
              <a:t>0.61%</a:t>
            </a:r>
            <a:endParaRPr lang="en-US" sz="2400" dirty="0"/>
          </a:p>
        </p:txBody>
      </p:sp>
      <p:sp>
        <p:nvSpPr>
          <p:cNvPr id="9" name="Text 7"/>
          <p:cNvSpPr/>
          <p:nvPr/>
        </p:nvSpPr>
        <p:spPr>
          <a:xfrm>
            <a:off x="3291840" y="1261872"/>
            <a:ext cx="2468880" cy="274320"/>
          </a:xfrm>
          <a:prstGeom prst="rect">
            <a:avLst/>
          </a:prstGeom>
          <a:noFill/>
          <a:ln/>
        </p:spPr>
        <p:txBody>
          <a:bodyPr wrap="square" lIns="0" tIns="0" rIns="0" bIns="0" rtlCol="0" anchor="ctr"/>
          <a:lstStyle/>
          <a:p>
            <a:pPr marL="0" indent="0" algn="ctr">
              <a:buNone/>
            </a:pPr>
            <a:r>
              <a:rPr lang="en-US" sz="950" dirty="0">
                <a:solidFill>
                  <a:srgbClr val="94A3B8"/>
                </a:solidFill>
                <a:latin typeface="Calibri" pitchFamily="34" charset="0"/>
                <a:ea typeface="Calibri" pitchFamily="34" charset="-122"/>
                <a:cs typeface="Calibri" pitchFamily="34" charset="-120"/>
              </a:rPr>
              <a:t>Truly Safe Drugs</a:t>
            </a:r>
            <a:endParaRPr lang="en-US" sz="950" dirty="0"/>
          </a:p>
        </p:txBody>
      </p:sp>
      <p:sp>
        <p:nvSpPr>
          <p:cNvPr id="10" name="Shape 8"/>
          <p:cNvSpPr/>
          <p:nvPr/>
        </p:nvSpPr>
        <p:spPr>
          <a:xfrm>
            <a:off x="6126480" y="777240"/>
            <a:ext cx="2468880" cy="868680"/>
          </a:xfrm>
          <a:prstGeom prst="rect">
            <a:avLst/>
          </a:prstGeom>
          <a:solidFill>
            <a:srgbClr val="1F2937"/>
          </a:solidFill>
          <a:ln w="12700">
            <a:solidFill>
              <a:srgbClr val="333333"/>
            </a:solidFill>
            <a:prstDash val="solid"/>
          </a:ln>
          <a:effectLst>
            <a:outerShdw blurRad="101600" dist="38100" dir="8100000" algn="bl" rotWithShape="0">
              <a:srgbClr val="000000">
                <a:alpha val="25000"/>
              </a:srgbClr>
            </a:outerShdw>
          </a:effectLst>
        </p:spPr>
      </p:sp>
      <p:sp>
        <p:nvSpPr>
          <p:cNvPr id="11" name="Text 9"/>
          <p:cNvSpPr/>
          <p:nvPr/>
        </p:nvSpPr>
        <p:spPr>
          <a:xfrm>
            <a:off x="6126480" y="822960"/>
            <a:ext cx="2468880" cy="457200"/>
          </a:xfrm>
          <a:prstGeom prst="rect">
            <a:avLst/>
          </a:prstGeom>
          <a:noFill/>
          <a:ln/>
        </p:spPr>
        <p:txBody>
          <a:bodyPr wrap="square" lIns="0" tIns="0" rIns="0" bIns="0" rtlCol="0" anchor="ctr"/>
          <a:lstStyle/>
          <a:p>
            <a:pPr marL="0" indent="0" algn="ctr">
              <a:buNone/>
            </a:pPr>
            <a:r>
              <a:rPr lang="en-US" sz="2400" b="1" dirty="0">
                <a:solidFill>
                  <a:srgbClr val="EF4444"/>
                </a:solidFill>
                <a:latin typeface="Arial Black" pitchFamily="34" charset="0"/>
                <a:ea typeface="Arial Black" pitchFamily="34" charset="-122"/>
                <a:cs typeface="Arial Black" pitchFamily="34" charset="-120"/>
              </a:rPr>
              <a:t>12.2%</a:t>
            </a:r>
            <a:endParaRPr lang="en-US" sz="2400" dirty="0"/>
          </a:p>
        </p:txBody>
      </p:sp>
      <p:sp>
        <p:nvSpPr>
          <p:cNvPr id="12" name="Text 10"/>
          <p:cNvSpPr/>
          <p:nvPr/>
        </p:nvSpPr>
        <p:spPr>
          <a:xfrm>
            <a:off x="6126480" y="1261872"/>
            <a:ext cx="2468880" cy="274320"/>
          </a:xfrm>
          <a:prstGeom prst="rect">
            <a:avLst/>
          </a:prstGeom>
          <a:noFill/>
          <a:ln/>
        </p:spPr>
        <p:txBody>
          <a:bodyPr wrap="square" lIns="0" tIns="0" rIns="0" bIns="0" rtlCol="0" anchor="ctr"/>
          <a:lstStyle/>
          <a:p>
            <a:pPr marL="0" indent="0" algn="ctr">
              <a:buNone/>
            </a:pPr>
            <a:r>
              <a:rPr lang="en-US" sz="950" dirty="0">
                <a:solidFill>
                  <a:srgbClr val="94A3B8"/>
                </a:solidFill>
                <a:latin typeface="Calibri" pitchFamily="34" charset="0"/>
                <a:ea typeface="Calibri" pitchFamily="34" charset="-122"/>
                <a:cs typeface="Calibri" pitchFamily="34" charset="-120"/>
              </a:rPr>
              <a:t>High Risk Drugs</a:t>
            </a:r>
            <a:endParaRPr lang="en-US" sz="950" dirty="0"/>
          </a:p>
        </p:txBody>
      </p:sp>
      <p:graphicFrame>
        <p:nvGraphicFramePr>
          <p:cNvPr id="13" name="Chart 0"/>
          <p:cNvGraphicFramePr/>
          <p:nvPr/>
        </p:nvGraphicFramePr>
        <p:xfrm>
          <a:off x="274320" y="1783080"/>
          <a:ext cx="4114800" cy="310896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4" name="Chart 1"/>
          <p:cNvGraphicFramePr/>
          <p:nvPr/>
        </p:nvGraphicFramePr>
        <p:xfrm>
          <a:off x="4572000" y="1783080"/>
          <a:ext cx="2194560" cy="182880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5" name="Chart 2"/>
          <p:cNvGraphicFramePr/>
          <p:nvPr/>
        </p:nvGraphicFramePr>
        <p:xfrm>
          <a:off x="6858000" y="1783080"/>
          <a:ext cx="2011680" cy="3108960"/>
        </p:xfrm>
        <a:graphic>
          <a:graphicData uri="http://schemas.openxmlformats.org/drawingml/2006/chart">
            <c:chart xmlns:c="http://schemas.openxmlformats.org/drawingml/2006/chart" xmlns:r="http://schemas.openxmlformats.org/officeDocument/2006/relationships" r:id="rId5"/>
          </a:graphicData>
        </a:graphic>
      </p:graphicFrame>
      <p:sp>
        <p:nvSpPr>
          <p:cNvPr id="16" name="Shape 11"/>
          <p:cNvSpPr/>
          <p:nvPr/>
        </p:nvSpPr>
        <p:spPr>
          <a:xfrm>
            <a:off x="4572000" y="3703320"/>
            <a:ext cx="2194560" cy="1188720"/>
          </a:xfrm>
          <a:prstGeom prst="rect">
            <a:avLst/>
          </a:prstGeom>
          <a:solidFill>
            <a:srgbClr val="1A0A0A"/>
          </a:solidFill>
          <a:ln w="12700">
            <a:solidFill>
              <a:srgbClr val="EF4444"/>
            </a:solidFill>
            <a:prstDash val="solid"/>
          </a:ln>
        </p:spPr>
      </p:sp>
      <p:sp>
        <p:nvSpPr>
          <p:cNvPr id="17" name="Text 12"/>
          <p:cNvSpPr/>
          <p:nvPr/>
        </p:nvSpPr>
        <p:spPr>
          <a:xfrm>
            <a:off x="4617720" y="3749040"/>
            <a:ext cx="2103120" cy="274320"/>
          </a:xfrm>
          <a:prstGeom prst="rect">
            <a:avLst/>
          </a:prstGeom>
          <a:noFill/>
          <a:ln/>
        </p:spPr>
        <p:txBody>
          <a:bodyPr wrap="square" lIns="0" tIns="0" rIns="0" bIns="0" rtlCol="0" anchor="ctr"/>
          <a:lstStyle/>
          <a:p>
            <a:pPr marL="0" indent="0">
              <a:buNone/>
            </a:pPr>
            <a:r>
              <a:rPr lang="en-US" sz="1000" b="1" dirty="0">
                <a:solidFill>
                  <a:srgbClr val="EF4444"/>
                </a:solidFill>
                <a:latin typeface="Arial" pitchFamily="34" charset="0"/>
                <a:ea typeface="Arial" pitchFamily="34" charset="-122"/>
                <a:cs typeface="Arial" pitchFamily="34" charset="-120"/>
              </a:rPr>
              <a:t>🔴 Key Insight</a:t>
            </a:r>
            <a:endParaRPr lang="en-US" sz="1000" dirty="0"/>
          </a:p>
        </p:txBody>
      </p:sp>
      <p:sp>
        <p:nvSpPr>
          <p:cNvPr id="18" name="Text 13"/>
          <p:cNvSpPr/>
          <p:nvPr/>
        </p:nvSpPr>
        <p:spPr>
          <a:xfrm>
            <a:off x="4617720" y="4041648"/>
            <a:ext cx="2103120" cy="777240"/>
          </a:xfrm>
          <a:prstGeom prst="rect">
            <a:avLst/>
          </a:prstGeom>
          <a:noFill/>
          <a:ln/>
        </p:spPr>
        <p:txBody>
          <a:bodyPr wrap="square" lIns="0" tIns="0" rIns="0" bIns="0" rtlCol="0" anchor="ctr"/>
          <a:lstStyle/>
          <a:p>
            <a:pPr marL="0" indent="0">
              <a:buNone/>
            </a:pPr>
            <a:r>
              <a:rPr lang="en-US" sz="950" dirty="0">
                <a:solidFill>
                  <a:srgbClr val="CBD5E1"/>
                </a:solidFill>
                <a:latin typeface="Calibri" pitchFamily="34" charset="0"/>
                <a:ea typeface="Calibri" pitchFamily="34" charset="-122"/>
                <a:cs typeface="Calibri" pitchFamily="34" charset="-120"/>
              </a:rPr>
              <a:t>Only 18 out of 2,931 drugs are completely safe during pregnancy. 47% say avoid alcohol.</a:t>
            </a:r>
            <a:endParaRPr lang="en-US" sz="950" dirty="0"/>
          </a:p>
        </p:txBody>
      </p:sp>
      <p:sp>
        <p:nvSpPr>
          <p:cNvPr id="19" name="Shape 14"/>
          <p:cNvSpPr/>
          <p:nvPr/>
        </p:nvSpPr>
        <p:spPr>
          <a:xfrm>
            <a:off x="0" y="5070348"/>
            <a:ext cx="9144000" cy="73152"/>
          </a:xfrm>
          <a:prstGeom prst="rect">
            <a:avLst/>
          </a:prstGeom>
          <a:solidFill>
            <a:srgbClr val="EF4444"/>
          </a:solidFill>
          <a:ln w="12700">
            <a:solidFill>
              <a:srgbClr val="333333"/>
            </a:solidFill>
            <a:prstDash val="solid"/>
          </a:ln>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10B981"/>
          </a:solidFill>
          <a:ln w="12700">
            <a:solidFill>
              <a:srgbClr val="333333"/>
            </a:solidFill>
            <a:prstDash val="solid"/>
          </a:ln>
        </p:spPr>
      </p:sp>
      <p:sp>
        <p:nvSpPr>
          <p:cNvPr id="3" name="Text 1"/>
          <p:cNvSpPr/>
          <p:nvPr/>
        </p:nvSpPr>
        <p:spPr>
          <a:xfrm>
            <a:off x="457200" y="137160"/>
            <a:ext cx="8229600" cy="502920"/>
          </a:xfrm>
          <a:prstGeom prst="rect">
            <a:avLst/>
          </a:prstGeom>
          <a:noFill/>
          <a:ln/>
        </p:spPr>
        <p:txBody>
          <a:bodyPr wrap="square" rtlCol="0" anchor="ctr"/>
          <a:lstStyle/>
          <a:p>
            <a:pPr marL="0" indent="0">
              <a:buNone/>
            </a:pPr>
            <a:r>
              <a:rPr lang="en-US" sz="2800" b="1" dirty="0">
                <a:solidFill>
                  <a:srgbClr val="FFFFFF"/>
                </a:solidFill>
                <a:latin typeface="Arial Black" pitchFamily="34" charset="0"/>
                <a:ea typeface="Arial Black" pitchFamily="34" charset="-122"/>
                <a:cs typeface="Arial Black" pitchFamily="34" charset="-120"/>
              </a:rPr>
              <a:t>Dashboard Page 3 — Drug Ratings</a:t>
            </a:r>
            <a:endParaRPr lang="en-US" sz="2800" dirty="0"/>
          </a:p>
        </p:txBody>
      </p:sp>
      <p:sp>
        <p:nvSpPr>
          <p:cNvPr id="4" name="Shape 2"/>
          <p:cNvSpPr/>
          <p:nvPr/>
        </p:nvSpPr>
        <p:spPr>
          <a:xfrm>
            <a:off x="457200" y="777240"/>
            <a:ext cx="2468880" cy="868680"/>
          </a:xfrm>
          <a:prstGeom prst="rect">
            <a:avLst/>
          </a:prstGeom>
          <a:solidFill>
            <a:srgbClr val="1F2937"/>
          </a:solidFill>
          <a:ln w="12700">
            <a:solidFill>
              <a:srgbClr val="333333"/>
            </a:solidFill>
            <a:prstDash val="solid"/>
          </a:ln>
          <a:effectLst>
            <a:outerShdw blurRad="101600" dist="38100" dir="8100000" algn="bl" rotWithShape="0">
              <a:srgbClr val="000000">
                <a:alpha val="25000"/>
              </a:srgbClr>
            </a:outerShdw>
          </a:effectLst>
        </p:spPr>
      </p:sp>
      <p:sp>
        <p:nvSpPr>
          <p:cNvPr id="5" name="Text 3"/>
          <p:cNvSpPr/>
          <p:nvPr/>
        </p:nvSpPr>
        <p:spPr>
          <a:xfrm>
            <a:off x="457200" y="822960"/>
            <a:ext cx="2468880" cy="457200"/>
          </a:xfrm>
          <a:prstGeom prst="rect">
            <a:avLst/>
          </a:prstGeom>
          <a:noFill/>
          <a:ln/>
        </p:spPr>
        <p:txBody>
          <a:bodyPr wrap="square" lIns="0" tIns="0" rIns="0" bIns="0" rtlCol="0" anchor="ctr"/>
          <a:lstStyle/>
          <a:p>
            <a:pPr marL="0" indent="0" algn="ctr">
              <a:buNone/>
            </a:pPr>
            <a:r>
              <a:rPr lang="en-US" sz="2200" b="1" dirty="0">
                <a:solidFill>
                  <a:srgbClr val="10B981"/>
                </a:solidFill>
                <a:latin typeface="Arial Black" pitchFamily="34" charset="0"/>
                <a:ea typeface="Arial Black" pitchFamily="34" charset="-122"/>
                <a:cs typeface="Arial Black" pitchFamily="34" charset="-120"/>
              </a:rPr>
              <a:t>7.1</a:t>
            </a:r>
            <a:endParaRPr lang="en-US" sz="2200" dirty="0"/>
          </a:p>
        </p:txBody>
      </p:sp>
      <p:sp>
        <p:nvSpPr>
          <p:cNvPr id="6" name="Text 4"/>
          <p:cNvSpPr/>
          <p:nvPr/>
        </p:nvSpPr>
        <p:spPr>
          <a:xfrm>
            <a:off x="457200" y="1261872"/>
            <a:ext cx="2468880" cy="274320"/>
          </a:xfrm>
          <a:prstGeom prst="rect">
            <a:avLst/>
          </a:prstGeom>
          <a:noFill/>
          <a:ln/>
        </p:spPr>
        <p:txBody>
          <a:bodyPr wrap="square" lIns="0" tIns="0" rIns="0" bIns="0" rtlCol="0" anchor="ctr"/>
          <a:lstStyle/>
          <a:p>
            <a:pPr marL="0" indent="0" algn="ctr">
              <a:buNone/>
            </a:pPr>
            <a:r>
              <a:rPr lang="en-US" sz="950" dirty="0">
                <a:solidFill>
                  <a:srgbClr val="94A3B8"/>
                </a:solidFill>
                <a:latin typeface="Calibri" pitchFamily="34" charset="0"/>
                <a:ea typeface="Calibri" pitchFamily="34" charset="-122"/>
                <a:cs typeface="Calibri" pitchFamily="34" charset="-120"/>
              </a:rPr>
              <a:t>Avg Rating (0-10)</a:t>
            </a:r>
            <a:endParaRPr lang="en-US" sz="950" dirty="0"/>
          </a:p>
        </p:txBody>
      </p:sp>
      <p:sp>
        <p:nvSpPr>
          <p:cNvPr id="7" name="Shape 5"/>
          <p:cNvSpPr/>
          <p:nvPr/>
        </p:nvSpPr>
        <p:spPr>
          <a:xfrm>
            <a:off x="3291840" y="777240"/>
            <a:ext cx="2468880" cy="868680"/>
          </a:xfrm>
          <a:prstGeom prst="rect">
            <a:avLst/>
          </a:prstGeom>
          <a:solidFill>
            <a:srgbClr val="1F2937"/>
          </a:solidFill>
          <a:ln w="12700">
            <a:solidFill>
              <a:srgbClr val="333333"/>
            </a:solidFill>
            <a:prstDash val="solid"/>
          </a:ln>
          <a:effectLst>
            <a:outerShdw blurRad="101600" dist="38100" dir="8100000" algn="bl" rotWithShape="0">
              <a:srgbClr val="000000">
                <a:alpha val="25000"/>
              </a:srgbClr>
            </a:outerShdw>
          </a:effectLst>
        </p:spPr>
      </p:sp>
      <p:sp>
        <p:nvSpPr>
          <p:cNvPr id="8" name="Text 6"/>
          <p:cNvSpPr/>
          <p:nvPr/>
        </p:nvSpPr>
        <p:spPr>
          <a:xfrm>
            <a:off x="3291840" y="822960"/>
            <a:ext cx="2468880" cy="457200"/>
          </a:xfrm>
          <a:prstGeom prst="rect">
            <a:avLst/>
          </a:prstGeom>
          <a:noFill/>
          <a:ln/>
        </p:spPr>
        <p:txBody>
          <a:bodyPr wrap="square" lIns="0" tIns="0" rIns="0" bIns="0" rtlCol="0" anchor="ctr"/>
          <a:lstStyle/>
          <a:p>
            <a:pPr marL="0" indent="0" algn="ctr">
              <a:buNone/>
            </a:pPr>
            <a:r>
              <a:rPr lang="en-US" sz="2200" b="1" dirty="0">
                <a:solidFill>
                  <a:srgbClr val="00B4D8"/>
                </a:solidFill>
                <a:latin typeface="Arial Black" pitchFamily="34" charset="0"/>
                <a:ea typeface="Arial Black" pitchFamily="34" charset="-122"/>
                <a:cs typeface="Arial Black" pitchFamily="34" charset="-120"/>
              </a:rPr>
              <a:t>119,053</a:t>
            </a:r>
            <a:endParaRPr lang="en-US" sz="2200" dirty="0"/>
          </a:p>
        </p:txBody>
      </p:sp>
      <p:sp>
        <p:nvSpPr>
          <p:cNvPr id="9" name="Text 7"/>
          <p:cNvSpPr/>
          <p:nvPr/>
        </p:nvSpPr>
        <p:spPr>
          <a:xfrm>
            <a:off x="3291840" y="1261872"/>
            <a:ext cx="2468880" cy="274320"/>
          </a:xfrm>
          <a:prstGeom prst="rect">
            <a:avLst/>
          </a:prstGeom>
          <a:noFill/>
          <a:ln/>
        </p:spPr>
        <p:txBody>
          <a:bodyPr wrap="square" lIns="0" tIns="0" rIns="0" bIns="0" rtlCol="0" anchor="ctr"/>
          <a:lstStyle/>
          <a:p>
            <a:pPr marL="0" indent="0" algn="ctr">
              <a:buNone/>
            </a:pPr>
            <a:r>
              <a:rPr lang="en-US" sz="950" dirty="0">
                <a:solidFill>
                  <a:srgbClr val="94A3B8"/>
                </a:solidFill>
                <a:latin typeface="Calibri" pitchFamily="34" charset="0"/>
                <a:ea typeface="Calibri" pitchFamily="34" charset="-122"/>
                <a:cs typeface="Calibri" pitchFamily="34" charset="-120"/>
              </a:rPr>
              <a:t>Total Reviews</a:t>
            </a:r>
            <a:endParaRPr lang="en-US" sz="950" dirty="0"/>
          </a:p>
        </p:txBody>
      </p:sp>
      <p:sp>
        <p:nvSpPr>
          <p:cNvPr id="10" name="Shape 8"/>
          <p:cNvSpPr/>
          <p:nvPr/>
        </p:nvSpPr>
        <p:spPr>
          <a:xfrm>
            <a:off x="6126480" y="777240"/>
            <a:ext cx="2468880" cy="868680"/>
          </a:xfrm>
          <a:prstGeom prst="rect">
            <a:avLst/>
          </a:prstGeom>
          <a:solidFill>
            <a:srgbClr val="1F2937"/>
          </a:solidFill>
          <a:ln w="12700">
            <a:solidFill>
              <a:srgbClr val="333333"/>
            </a:solidFill>
            <a:prstDash val="solid"/>
          </a:ln>
          <a:effectLst>
            <a:outerShdw blurRad="101600" dist="38100" dir="8100000" algn="bl" rotWithShape="0">
              <a:srgbClr val="000000">
                <a:alpha val="25000"/>
              </a:srgbClr>
            </a:outerShdw>
          </a:effectLst>
        </p:spPr>
      </p:sp>
      <p:sp>
        <p:nvSpPr>
          <p:cNvPr id="11" name="Text 9"/>
          <p:cNvSpPr/>
          <p:nvPr/>
        </p:nvSpPr>
        <p:spPr>
          <a:xfrm>
            <a:off x="6126480" y="822960"/>
            <a:ext cx="2468880" cy="457200"/>
          </a:xfrm>
          <a:prstGeom prst="rect">
            <a:avLst/>
          </a:prstGeom>
          <a:noFill/>
          <a:ln/>
        </p:spPr>
        <p:txBody>
          <a:bodyPr wrap="square" lIns="0" tIns="0" rIns="0" bIns="0" rtlCol="0" anchor="ctr"/>
          <a:lstStyle/>
          <a:p>
            <a:pPr marL="0" indent="0" algn="ctr">
              <a:buNone/>
            </a:pPr>
            <a:r>
              <a:rPr lang="en-US" sz="2200" b="1" dirty="0">
                <a:solidFill>
                  <a:srgbClr val="EF4444"/>
                </a:solidFill>
                <a:latin typeface="Arial Black" pitchFamily="34" charset="0"/>
                <a:ea typeface="Arial Black" pitchFamily="34" charset="-122"/>
                <a:cs typeface="Arial Black" pitchFamily="34" charset="-120"/>
              </a:rPr>
              <a:t>12.2%</a:t>
            </a:r>
            <a:endParaRPr lang="en-US" sz="2200" dirty="0"/>
          </a:p>
        </p:txBody>
      </p:sp>
      <p:sp>
        <p:nvSpPr>
          <p:cNvPr id="12" name="Text 10"/>
          <p:cNvSpPr/>
          <p:nvPr/>
        </p:nvSpPr>
        <p:spPr>
          <a:xfrm>
            <a:off x="6126480" y="1261872"/>
            <a:ext cx="2468880" cy="274320"/>
          </a:xfrm>
          <a:prstGeom prst="rect">
            <a:avLst/>
          </a:prstGeom>
          <a:noFill/>
          <a:ln/>
        </p:spPr>
        <p:txBody>
          <a:bodyPr wrap="square" lIns="0" tIns="0" rIns="0" bIns="0" rtlCol="0" anchor="ctr"/>
          <a:lstStyle/>
          <a:p>
            <a:pPr marL="0" indent="0" algn="ctr">
              <a:buNone/>
            </a:pPr>
            <a:r>
              <a:rPr lang="en-US" sz="950" dirty="0">
                <a:solidFill>
                  <a:srgbClr val="94A3B8"/>
                </a:solidFill>
                <a:latin typeface="Calibri" pitchFamily="34" charset="0"/>
                <a:ea typeface="Calibri" pitchFamily="34" charset="-122"/>
                <a:cs typeface="Calibri" pitchFamily="34" charset="-120"/>
              </a:rPr>
              <a:t>High Risk Drugs</a:t>
            </a:r>
            <a:endParaRPr lang="en-US" sz="950" dirty="0"/>
          </a:p>
        </p:txBody>
      </p:sp>
      <p:graphicFrame>
        <p:nvGraphicFramePr>
          <p:cNvPr id="13" name="Chart 0"/>
          <p:cNvGraphicFramePr/>
          <p:nvPr/>
        </p:nvGraphicFramePr>
        <p:xfrm>
          <a:off x="274320" y="1783080"/>
          <a:ext cx="4114800" cy="310896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4" name="Chart 1"/>
          <p:cNvGraphicFramePr/>
          <p:nvPr/>
        </p:nvGraphicFramePr>
        <p:xfrm>
          <a:off x="4572000" y="1783080"/>
          <a:ext cx="2103120" cy="146304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5" name="Chart 2"/>
          <p:cNvGraphicFramePr/>
          <p:nvPr/>
        </p:nvGraphicFramePr>
        <p:xfrm>
          <a:off x="4572000" y="3383280"/>
          <a:ext cx="2103120" cy="1508760"/>
        </p:xfrm>
        <a:graphic>
          <a:graphicData uri="http://schemas.openxmlformats.org/drawingml/2006/chart">
            <c:chart xmlns:c="http://schemas.openxmlformats.org/drawingml/2006/chart" xmlns:r="http://schemas.openxmlformats.org/officeDocument/2006/relationships" r:id="rId5"/>
          </a:graphicData>
        </a:graphic>
      </p:graphicFrame>
      <p:sp>
        <p:nvSpPr>
          <p:cNvPr id="16" name="Shape 11"/>
          <p:cNvSpPr/>
          <p:nvPr/>
        </p:nvSpPr>
        <p:spPr>
          <a:xfrm>
            <a:off x="6858000" y="1783080"/>
            <a:ext cx="2011680" cy="3108960"/>
          </a:xfrm>
          <a:prstGeom prst="rect">
            <a:avLst/>
          </a:prstGeom>
          <a:solidFill>
            <a:srgbClr val="0A1A0A"/>
          </a:solidFill>
          <a:ln w="12700">
            <a:solidFill>
              <a:srgbClr val="10B981"/>
            </a:solidFill>
            <a:prstDash val="solid"/>
          </a:ln>
        </p:spPr>
      </p:sp>
      <p:sp>
        <p:nvSpPr>
          <p:cNvPr id="17" name="Text 12"/>
          <p:cNvSpPr/>
          <p:nvPr/>
        </p:nvSpPr>
        <p:spPr>
          <a:xfrm>
            <a:off x="6903720" y="1874520"/>
            <a:ext cx="1920240" cy="274320"/>
          </a:xfrm>
          <a:prstGeom prst="rect">
            <a:avLst/>
          </a:prstGeom>
          <a:noFill/>
          <a:ln/>
        </p:spPr>
        <p:txBody>
          <a:bodyPr wrap="square" lIns="0" tIns="0" rIns="0" bIns="0" rtlCol="0" anchor="ctr"/>
          <a:lstStyle/>
          <a:p>
            <a:pPr marL="0" indent="0">
              <a:buNone/>
            </a:pPr>
            <a:r>
              <a:rPr lang="en-US" sz="1000" b="1" dirty="0">
                <a:solidFill>
                  <a:srgbClr val="10B981"/>
                </a:solidFill>
                <a:latin typeface="Arial" pitchFamily="34" charset="0"/>
                <a:ea typeface="Arial" pitchFamily="34" charset="-122"/>
                <a:cs typeface="Arial" pitchFamily="34" charset="-120"/>
              </a:rPr>
              <a:t>📊 Key Insights</a:t>
            </a:r>
            <a:endParaRPr lang="en-US" sz="1000" dirty="0"/>
          </a:p>
        </p:txBody>
      </p:sp>
      <p:sp>
        <p:nvSpPr>
          <p:cNvPr id="18" name="Shape 13"/>
          <p:cNvSpPr/>
          <p:nvPr/>
        </p:nvSpPr>
        <p:spPr>
          <a:xfrm>
            <a:off x="6903720" y="2240280"/>
            <a:ext cx="54864" cy="320040"/>
          </a:xfrm>
          <a:prstGeom prst="rect">
            <a:avLst/>
          </a:prstGeom>
          <a:solidFill>
            <a:srgbClr val="10B981"/>
          </a:solidFill>
          <a:ln w="12700">
            <a:solidFill>
              <a:srgbClr val="333333"/>
            </a:solidFill>
            <a:prstDash val="solid"/>
          </a:ln>
        </p:spPr>
      </p:sp>
      <p:sp>
        <p:nvSpPr>
          <p:cNvPr id="19" name="Text 14"/>
          <p:cNvSpPr/>
          <p:nvPr/>
        </p:nvSpPr>
        <p:spPr>
          <a:xfrm>
            <a:off x="7022592" y="2240280"/>
            <a:ext cx="1783080" cy="411480"/>
          </a:xfrm>
          <a:prstGeom prst="rect">
            <a:avLst/>
          </a:prstGeom>
          <a:noFill/>
          <a:ln/>
        </p:spPr>
        <p:txBody>
          <a:bodyPr wrap="square" lIns="0" tIns="0" rIns="0" bIns="0" rtlCol="0" anchor="ctr"/>
          <a:lstStyle/>
          <a:p>
            <a:pPr marL="0" indent="0">
              <a:buNone/>
            </a:pPr>
            <a:r>
              <a:rPr lang="en-US" sz="900" dirty="0">
                <a:solidFill>
                  <a:srgbClr val="CBD5E1"/>
                </a:solidFill>
                <a:latin typeface="Calibri" pitchFamily="34" charset="0"/>
                <a:ea typeface="Calibri" pitchFamily="34" charset="-122"/>
                <a:cs typeface="Calibri" pitchFamily="34" charset="-120"/>
              </a:rPr>
              <a:t>OTC drugs rated slightly higher than Rx drugs</a:t>
            </a:r>
            <a:endParaRPr lang="en-US" sz="900" dirty="0"/>
          </a:p>
        </p:txBody>
      </p:sp>
      <p:sp>
        <p:nvSpPr>
          <p:cNvPr id="20" name="Shape 15"/>
          <p:cNvSpPr/>
          <p:nvPr/>
        </p:nvSpPr>
        <p:spPr>
          <a:xfrm>
            <a:off x="6903720" y="2743200"/>
            <a:ext cx="54864" cy="320040"/>
          </a:xfrm>
          <a:prstGeom prst="rect">
            <a:avLst/>
          </a:prstGeom>
          <a:solidFill>
            <a:srgbClr val="10B981"/>
          </a:solidFill>
          <a:ln w="12700">
            <a:solidFill>
              <a:srgbClr val="333333"/>
            </a:solidFill>
            <a:prstDash val="solid"/>
          </a:ln>
        </p:spPr>
      </p:sp>
      <p:sp>
        <p:nvSpPr>
          <p:cNvPr id="21" name="Text 16"/>
          <p:cNvSpPr/>
          <p:nvPr/>
        </p:nvSpPr>
        <p:spPr>
          <a:xfrm>
            <a:off x="7022592" y="2743200"/>
            <a:ext cx="1783080" cy="411480"/>
          </a:xfrm>
          <a:prstGeom prst="rect">
            <a:avLst/>
          </a:prstGeom>
          <a:noFill/>
          <a:ln/>
        </p:spPr>
        <p:txBody>
          <a:bodyPr wrap="square" lIns="0" tIns="0" rIns="0" bIns="0" rtlCol="0" anchor="ctr"/>
          <a:lstStyle/>
          <a:p>
            <a:pPr marL="0" indent="0">
              <a:buNone/>
            </a:pPr>
            <a:r>
              <a:rPr lang="en-US" sz="900" dirty="0">
                <a:solidFill>
                  <a:srgbClr val="CBD5E1"/>
                </a:solidFill>
                <a:latin typeface="Calibri" pitchFamily="34" charset="0"/>
                <a:ea typeface="Calibri" pitchFamily="34" charset="-122"/>
                <a:cs typeface="Calibri" pitchFamily="34" charset="-120"/>
              </a:rPr>
              <a:t>Eczema drugs have highest avg rating (8.75)</a:t>
            </a:r>
            <a:endParaRPr lang="en-US" sz="900" dirty="0"/>
          </a:p>
        </p:txBody>
      </p:sp>
      <p:sp>
        <p:nvSpPr>
          <p:cNvPr id="22" name="Shape 17"/>
          <p:cNvSpPr/>
          <p:nvPr/>
        </p:nvSpPr>
        <p:spPr>
          <a:xfrm>
            <a:off x="6903720" y="3246120"/>
            <a:ext cx="54864" cy="320040"/>
          </a:xfrm>
          <a:prstGeom prst="rect">
            <a:avLst/>
          </a:prstGeom>
          <a:solidFill>
            <a:srgbClr val="10B981"/>
          </a:solidFill>
          <a:ln w="12700">
            <a:solidFill>
              <a:srgbClr val="333333"/>
            </a:solidFill>
            <a:prstDash val="solid"/>
          </a:ln>
        </p:spPr>
      </p:sp>
      <p:sp>
        <p:nvSpPr>
          <p:cNvPr id="23" name="Text 18"/>
          <p:cNvSpPr/>
          <p:nvPr/>
        </p:nvSpPr>
        <p:spPr>
          <a:xfrm>
            <a:off x="7022592" y="3246120"/>
            <a:ext cx="1783080" cy="411480"/>
          </a:xfrm>
          <a:prstGeom prst="rect">
            <a:avLst/>
          </a:prstGeom>
          <a:noFill/>
          <a:ln/>
        </p:spPr>
        <p:txBody>
          <a:bodyPr wrap="square" lIns="0" tIns="0" rIns="0" bIns="0" rtlCol="0" anchor="ctr"/>
          <a:lstStyle/>
          <a:p>
            <a:pPr marL="0" indent="0">
              <a:buNone/>
            </a:pPr>
            <a:r>
              <a:rPr lang="en-US" sz="900" dirty="0">
                <a:solidFill>
                  <a:srgbClr val="CBD5E1"/>
                </a:solidFill>
                <a:latin typeface="Calibri" pitchFamily="34" charset="0"/>
                <a:ea typeface="Calibri" pitchFamily="34" charset="-122"/>
                <a:cs typeface="Calibri" pitchFamily="34" charset="-120"/>
              </a:rPr>
              <a:t>Seizure drugs have lowest avg rating (~7.0)</a:t>
            </a:r>
            <a:endParaRPr lang="en-US" sz="900" dirty="0"/>
          </a:p>
        </p:txBody>
      </p:sp>
      <p:sp>
        <p:nvSpPr>
          <p:cNvPr id="24" name="Shape 19"/>
          <p:cNvSpPr/>
          <p:nvPr/>
        </p:nvSpPr>
        <p:spPr>
          <a:xfrm>
            <a:off x="6903720" y="3749040"/>
            <a:ext cx="54864" cy="320040"/>
          </a:xfrm>
          <a:prstGeom prst="rect">
            <a:avLst/>
          </a:prstGeom>
          <a:solidFill>
            <a:srgbClr val="10B981"/>
          </a:solidFill>
          <a:ln w="12700">
            <a:solidFill>
              <a:srgbClr val="333333"/>
            </a:solidFill>
            <a:prstDash val="solid"/>
          </a:ln>
        </p:spPr>
      </p:sp>
      <p:sp>
        <p:nvSpPr>
          <p:cNvPr id="25" name="Text 20"/>
          <p:cNvSpPr/>
          <p:nvPr/>
        </p:nvSpPr>
        <p:spPr>
          <a:xfrm>
            <a:off x="7022592" y="3749040"/>
            <a:ext cx="1783080" cy="411480"/>
          </a:xfrm>
          <a:prstGeom prst="rect">
            <a:avLst/>
          </a:prstGeom>
          <a:noFill/>
          <a:ln/>
        </p:spPr>
        <p:txBody>
          <a:bodyPr wrap="square" lIns="0" tIns="0" rIns="0" bIns="0" rtlCol="0" anchor="ctr"/>
          <a:lstStyle/>
          <a:p>
            <a:pPr marL="0" indent="0">
              <a:buNone/>
            </a:pPr>
            <a:r>
              <a:rPr lang="en-US" sz="900" dirty="0">
                <a:solidFill>
                  <a:srgbClr val="CBD5E1"/>
                </a:solidFill>
                <a:latin typeface="Calibri" pitchFamily="34" charset="0"/>
                <a:ea typeface="Calibri" pitchFamily="34" charset="-122"/>
                <a:cs typeface="Calibri" pitchFamily="34" charset="-120"/>
              </a:rPr>
              <a:t>Most drugs fall in 'Well Rated' band (6–7.9)</a:t>
            </a:r>
            <a:endParaRPr lang="en-US" sz="900" dirty="0"/>
          </a:p>
        </p:txBody>
      </p:sp>
      <p:sp>
        <p:nvSpPr>
          <p:cNvPr id="26" name="Shape 21"/>
          <p:cNvSpPr/>
          <p:nvPr/>
        </p:nvSpPr>
        <p:spPr>
          <a:xfrm>
            <a:off x="6903720" y="4251960"/>
            <a:ext cx="54864" cy="320040"/>
          </a:xfrm>
          <a:prstGeom prst="rect">
            <a:avLst/>
          </a:prstGeom>
          <a:solidFill>
            <a:srgbClr val="10B981"/>
          </a:solidFill>
          <a:ln w="12700">
            <a:solidFill>
              <a:srgbClr val="333333"/>
            </a:solidFill>
            <a:prstDash val="solid"/>
          </a:ln>
        </p:spPr>
      </p:sp>
      <p:sp>
        <p:nvSpPr>
          <p:cNvPr id="27" name="Text 22"/>
          <p:cNvSpPr/>
          <p:nvPr/>
        </p:nvSpPr>
        <p:spPr>
          <a:xfrm>
            <a:off x="7022592" y="4251960"/>
            <a:ext cx="1783080" cy="411480"/>
          </a:xfrm>
          <a:prstGeom prst="rect">
            <a:avLst/>
          </a:prstGeom>
          <a:noFill/>
          <a:ln/>
        </p:spPr>
        <p:txBody>
          <a:bodyPr wrap="square" lIns="0" tIns="0" rIns="0" bIns="0" rtlCol="0" anchor="ctr"/>
          <a:lstStyle/>
          <a:p>
            <a:pPr marL="0" indent="0">
              <a:buNone/>
            </a:pPr>
            <a:r>
              <a:rPr lang="en-US" sz="900" dirty="0">
                <a:solidFill>
                  <a:srgbClr val="CBD5E1"/>
                </a:solidFill>
                <a:latin typeface="Calibri" pitchFamily="34" charset="0"/>
                <a:ea typeface="Calibri" pitchFamily="34" charset="-122"/>
                <a:cs typeface="Calibri" pitchFamily="34" charset="-120"/>
              </a:rPr>
              <a:t>Only 248 drugs are Low Rated out of 2,931</a:t>
            </a:r>
            <a:endParaRPr lang="en-US" sz="900" dirty="0"/>
          </a:p>
        </p:txBody>
      </p:sp>
      <p:sp>
        <p:nvSpPr>
          <p:cNvPr id="28" name="Shape 23"/>
          <p:cNvSpPr/>
          <p:nvPr/>
        </p:nvSpPr>
        <p:spPr>
          <a:xfrm>
            <a:off x="0" y="5070348"/>
            <a:ext cx="9144000" cy="73152"/>
          </a:xfrm>
          <a:prstGeom prst="rect">
            <a:avLst/>
          </a:prstGeom>
          <a:solidFill>
            <a:srgbClr val="10B981"/>
          </a:solidFill>
          <a:ln w="12700">
            <a:solidFill>
              <a:srgbClr val="333333"/>
            </a:solidFill>
            <a:prstDash val="solid"/>
          </a:ln>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59E0B"/>
          </a:solidFill>
          <a:ln w="12700">
            <a:solidFill>
              <a:srgbClr val="333333"/>
            </a:solidFill>
            <a:prstDash val="solid"/>
          </a:ln>
        </p:spPr>
      </p:sp>
      <p:sp>
        <p:nvSpPr>
          <p:cNvPr id="3" name="Text 1"/>
          <p:cNvSpPr/>
          <p:nvPr/>
        </p:nvSpPr>
        <p:spPr>
          <a:xfrm>
            <a:off x="457200" y="137160"/>
            <a:ext cx="8229600" cy="502920"/>
          </a:xfrm>
          <a:prstGeom prst="rect">
            <a:avLst/>
          </a:prstGeom>
          <a:noFill/>
          <a:ln/>
        </p:spPr>
        <p:txBody>
          <a:bodyPr wrap="square" rtlCol="0" anchor="ctr"/>
          <a:lstStyle/>
          <a:p>
            <a:pPr marL="0" indent="0">
              <a:buNone/>
            </a:pPr>
            <a:r>
              <a:rPr lang="en-US" sz="2800" b="1" dirty="0">
                <a:solidFill>
                  <a:srgbClr val="FFFFFF"/>
                </a:solidFill>
                <a:latin typeface="Arial Black" pitchFamily="34" charset="0"/>
                <a:ea typeface="Arial Black" pitchFamily="34" charset="-122"/>
                <a:cs typeface="Arial Black" pitchFamily="34" charset="-120"/>
              </a:rPr>
              <a:t>Dashboard Page 4 — Side Effects</a:t>
            </a:r>
            <a:endParaRPr lang="en-US" sz="2800" dirty="0"/>
          </a:p>
        </p:txBody>
      </p:sp>
      <p:sp>
        <p:nvSpPr>
          <p:cNvPr id="4" name="Shape 2"/>
          <p:cNvSpPr/>
          <p:nvPr/>
        </p:nvSpPr>
        <p:spPr>
          <a:xfrm>
            <a:off x="457200" y="777240"/>
            <a:ext cx="2468880" cy="868680"/>
          </a:xfrm>
          <a:prstGeom prst="rect">
            <a:avLst/>
          </a:prstGeom>
          <a:solidFill>
            <a:srgbClr val="1F2937"/>
          </a:solidFill>
          <a:ln w="12700">
            <a:solidFill>
              <a:srgbClr val="333333"/>
            </a:solidFill>
            <a:prstDash val="solid"/>
          </a:ln>
          <a:effectLst>
            <a:outerShdw blurRad="101600" dist="38100" dir="8100000" algn="bl" rotWithShape="0">
              <a:srgbClr val="000000">
                <a:alpha val="25000"/>
              </a:srgbClr>
            </a:outerShdw>
          </a:effectLst>
        </p:spPr>
      </p:sp>
      <p:sp>
        <p:nvSpPr>
          <p:cNvPr id="5" name="Text 3"/>
          <p:cNvSpPr/>
          <p:nvPr/>
        </p:nvSpPr>
        <p:spPr>
          <a:xfrm>
            <a:off x="457200" y="822960"/>
            <a:ext cx="2468880" cy="457200"/>
          </a:xfrm>
          <a:prstGeom prst="rect">
            <a:avLst/>
          </a:prstGeom>
          <a:noFill/>
          <a:ln/>
        </p:spPr>
        <p:txBody>
          <a:bodyPr wrap="square" lIns="0" tIns="0" rIns="0" bIns="0" rtlCol="0" anchor="ctr"/>
          <a:lstStyle/>
          <a:p>
            <a:pPr marL="0" indent="0" algn="ctr">
              <a:buNone/>
            </a:pPr>
            <a:r>
              <a:rPr lang="en-US" sz="2200" b="1" dirty="0">
                <a:solidFill>
                  <a:srgbClr val="EF4444"/>
                </a:solidFill>
                <a:latin typeface="Arial Black" pitchFamily="34" charset="0"/>
                <a:ea typeface="Arial Black" pitchFamily="34" charset="-122"/>
                <a:cs typeface="Arial Black" pitchFamily="34" charset="-120"/>
              </a:rPr>
              <a:t>95.77%</a:t>
            </a:r>
            <a:endParaRPr lang="en-US" sz="2200" dirty="0"/>
          </a:p>
        </p:txBody>
      </p:sp>
      <p:sp>
        <p:nvSpPr>
          <p:cNvPr id="6" name="Text 4"/>
          <p:cNvSpPr/>
          <p:nvPr/>
        </p:nvSpPr>
        <p:spPr>
          <a:xfrm>
            <a:off x="457200" y="1261872"/>
            <a:ext cx="2468880" cy="274320"/>
          </a:xfrm>
          <a:prstGeom prst="rect">
            <a:avLst/>
          </a:prstGeom>
          <a:noFill/>
          <a:ln/>
        </p:spPr>
        <p:txBody>
          <a:bodyPr wrap="square" lIns="0" tIns="0" rIns="0" bIns="0" rtlCol="0" anchor="ctr"/>
          <a:lstStyle/>
          <a:p>
            <a:pPr marL="0" indent="0" algn="ctr">
              <a:buNone/>
            </a:pPr>
            <a:r>
              <a:rPr lang="en-US" sz="950" dirty="0">
                <a:solidFill>
                  <a:srgbClr val="94A3B8"/>
                </a:solidFill>
                <a:latin typeface="Calibri" pitchFamily="34" charset="0"/>
                <a:ea typeface="Calibri" pitchFamily="34" charset="-122"/>
                <a:cs typeface="Calibri" pitchFamily="34" charset="-120"/>
              </a:rPr>
              <a:t>Drugs With Side Effects</a:t>
            </a:r>
            <a:endParaRPr lang="en-US" sz="950" dirty="0"/>
          </a:p>
        </p:txBody>
      </p:sp>
      <p:sp>
        <p:nvSpPr>
          <p:cNvPr id="7" name="Shape 5"/>
          <p:cNvSpPr/>
          <p:nvPr/>
        </p:nvSpPr>
        <p:spPr>
          <a:xfrm>
            <a:off x="3291840" y="777240"/>
            <a:ext cx="2468880" cy="868680"/>
          </a:xfrm>
          <a:prstGeom prst="rect">
            <a:avLst/>
          </a:prstGeom>
          <a:solidFill>
            <a:srgbClr val="1F2937"/>
          </a:solidFill>
          <a:ln w="12700">
            <a:solidFill>
              <a:srgbClr val="333333"/>
            </a:solidFill>
            <a:prstDash val="solid"/>
          </a:ln>
          <a:effectLst>
            <a:outerShdw blurRad="101600" dist="38100" dir="8100000" algn="bl" rotWithShape="0">
              <a:srgbClr val="000000">
                <a:alpha val="25000"/>
              </a:srgbClr>
            </a:outerShdw>
          </a:effectLst>
        </p:spPr>
      </p:sp>
      <p:sp>
        <p:nvSpPr>
          <p:cNvPr id="8" name="Text 6"/>
          <p:cNvSpPr/>
          <p:nvPr/>
        </p:nvSpPr>
        <p:spPr>
          <a:xfrm>
            <a:off x="3291840" y="822960"/>
            <a:ext cx="2468880" cy="457200"/>
          </a:xfrm>
          <a:prstGeom prst="rect">
            <a:avLst/>
          </a:prstGeom>
          <a:noFill/>
          <a:ln/>
        </p:spPr>
        <p:txBody>
          <a:bodyPr wrap="square" lIns="0" tIns="0" rIns="0" bIns="0" rtlCol="0" anchor="ctr"/>
          <a:lstStyle/>
          <a:p>
            <a:pPr marL="0" indent="0" algn="ctr">
              <a:buNone/>
            </a:pPr>
            <a:r>
              <a:rPr lang="en-US" sz="2200" b="1" dirty="0">
                <a:solidFill>
                  <a:srgbClr val="F59E0B"/>
                </a:solidFill>
                <a:latin typeface="Arial Black" pitchFamily="34" charset="0"/>
                <a:ea typeface="Arial Black" pitchFamily="34" charset="-122"/>
                <a:cs typeface="Arial Black" pitchFamily="34" charset="-120"/>
              </a:rPr>
              <a:t>9.0</a:t>
            </a:r>
            <a:endParaRPr lang="en-US" sz="2200" dirty="0"/>
          </a:p>
        </p:txBody>
      </p:sp>
      <p:sp>
        <p:nvSpPr>
          <p:cNvPr id="9" name="Text 7"/>
          <p:cNvSpPr/>
          <p:nvPr/>
        </p:nvSpPr>
        <p:spPr>
          <a:xfrm>
            <a:off x="3291840" y="1261872"/>
            <a:ext cx="2468880" cy="274320"/>
          </a:xfrm>
          <a:prstGeom prst="rect">
            <a:avLst/>
          </a:prstGeom>
          <a:noFill/>
          <a:ln/>
        </p:spPr>
        <p:txBody>
          <a:bodyPr wrap="square" lIns="0" tIns="0" rIns="0" bIns="0" rtlCol="0" anchor="ctr"/>
          <a:lstStyle/>
          <a:p>
            <a:pPr marL="0" indent="0" algn="ctr">
              <a:buNone/>
            </a:pPr>
            <a:r>
              <a:rPr lang="en-US" sz="950" dirty="0">
                <a:solidFill>
                  <a:srgbClr val="94A3B8"/>
                </a:solidFill>
                <a:latin typeface="Calibri" pitchFamily="34" charset="0"/>
                <a:ea typeface="Calibri" pitchFamily="34" charset="-122"/>
                <a:cs typeface="Calibri" pitchFamily="34" charset="-120"/>
              </a:rPr>
              <a:t>Avg Side Effects / Drug</a:t>
            </a:r>
            <a:endParaRPr lang="en-US" sz="950" dirty="0"/>
          </a:p>
        </p:txBody>
      </p:sp>
      <p:sp>
        <p:nvSpPr>
          <p:cNvPr id="10" name="Shape 8"/>
          <p:cNvSpPr/>
          <p:nvPr/>
        </p:nvSpPr>
        <p:spPr>
          <a:xfrm>
            <a:off x="6126480" y="777240"/>
            <a:ext cx="2468880" cy="868680"/>
          </a:xfrm>
          <a:prstGeom prst="rect">
            <a:avLst/>
          </a:prstGeom>
          <a:solidFill>
            <a:srgbClr val="1F2937"/>
          </a:solidFill>
          <a:ln w="12700">
            <a:solidFill>
              <a:srgbClr val="333333"/>
            </a:solidFill>
            <a:prstDash val="solid"/>
          </a:ln>
          <a:effectLst>
            <a:outerShdw blurRad="101600" dist="38100" dir="8100000" algn="bl" rotWithShape="0">
              <a:srgbClr val="000000">
                <a:alpha val="25000"/>
              </a:srgbClr>
            </a:outerShdw>
          </a:effectLst>
        </p:spPr>
      </p:sp>
      <p:sp>
        <p:nvSpPr>
          <p:cNvPr id="11" name="Text 9"/>
          <p:cNvSpPr/>
          <p:nvPr/>
        </p:nvSpPr>
        <p:spPr>
          <a:xfrm>
            <a:off x="6126480" y="822960"/>
            <a:ext cx="2468880" cy="457200"/>
          </a:xfrm>
          <a:prstGeom prst="rect">
            <a:avLst/>
          </a:prstGeom>
          <a:noFill/>
          <a:ln/>
        </p:spPr>
        <p:txBody>
          <a:bodyPr wrap="square" lIns="0" tIns="0" rIns="0" bIns="0" rtlCol="0" anchor="ctr"/>
          <a:lstStyle/>
          <a:p>
            <a:pPr marL="0" indent="0" algn="ctr">
              <a:buNone/>
            </a:pPr>
            <a:r>
              <a:rPr lang="en-US" sz="2200" b="1" dirty="0">
                <a:solidFill>
                  <a:srgbClr val="00B4D8"/>
                </a:solidFill>
                <a:latin typeface="Arial Black" pitchFamily="34" charset="0"/>
                <a:ea typeface="Arial Black" pitchFamily="34" charset="-122"/>
                <a:cs typeface="Arial Black" pitchFamily="34" charset="-120"/>
              </a:rPr>
              <a:t>2,807</a:t>
            </a:r>
            <a:endParaRPr lang="en-US" sz="2200" dirty="0"/>
          </a:p>
        </p:txBody>
      </p:sp>
      <p:sp>
        <p:nvSpPr>
          <p:cNvPr id="12" name="Text 10"/>
          <p:cNvSpPr/>
          <p:nvPr/>
        </p:nvSpPr>
        <p:spPr>
          <a:xfrm>
            <a:off x="6126480" y="1261872"/>
            <a:ext cx="2468880" cy="274320"/>
          </a:xfrm>
          <a:prstGeom prst="rect">
            <a:avLst/>
          </a:prstGeom>
          <a:noFill/>
          <a:ln/>
        </p:spPr>
        <p:txBody>
          <a:bodyPr wrap="square" lIns="0" tIns="0" rIns="0" bIns="0" rtlCol="0" anchor="ctr"/>
          <a:lstStyle/>
          <a:p>
            <a:pPr marL="0" indent="0" algn="ctr">
              <a:buNone/>
            </a:pPr>
            <a:r>
              <a:rPr lang="en-US" sz="950" dirty="0">
                <a:solidFill>
                  <a:srgbClr val="94A3B8"/>
                </a:solidFill>
                <a:latin typeface="Calibri" pitchFamily="34" charset="0"/>
                <a:ea typeface="Calibri" pitchFamily="34" charset="-122"/>
                <a:cs typeface="Calibri" pitchFamily="34" charset="-120"/>
              </a:rPr>
              <a:t>Drugs With Data</a:t>
            </a:r>
            <a:endParaRPr lang="en-US" sz="950" dirty="0"/>
          </a:p>
        </p:txBody>
      </p:sp>
      <p:graphicFrame>
        <p:nvGraphicFramePr>
          <p:cNvPr id="13" name="Chart 0"/>
          <p:cNvGraphicFramePr/>
          <p:nvPr/>
        </p:nvGraphicFramePr>
        <p:xfrm>
          <a:off x="274320" y="1783080"/>
          <a:ext cx="4114800" cy="310896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4" name="Chart 1"/>
          <p:cNvGraphicFramePr/>
          <p:nvPr/>
        </p:nvGraphicFramePr>
        <p:xfrm>
          <a:off x="4572000" y="1783080"/>
          <a:ext cx="2103120" cy="201168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5" name="Chart 2"/>
          <p:cNvGraphicFramePr/>
          <p:nvPr/>
        </p:nvGraphicFramePr>
        <p:xfrm>
          <a:off x="4572000" y="3840480"/>
          <a:ext cx="2103120" cy="1051560"/>
        </p:xfrm>
        <a:graphic>
          <a:graphicData uri="http://schemas.openxmlformats.org/drawingml/2006/chart">
            <c:chart xmlns:c="http://schemas.openxmlformats.org/drawingml/2006/chart" xmlns:r="http://schemas.openxmlformats.org/officeDocument/2006/relationships" r:id="rId5"/>
          </a:graphicData>
        </a:graphic>
      </p:graphicFrame>
      <p:sp>
        <p:nvSpPr>
          <p:cNvPr id="16" name="Shape 11"/>
          <p:cNvSpPr/>
          <p:nvPr/>
        </p:nvSpPr>
        <p:spPr>
          <a:xfrm>
            <a:off x="6858000" y="1783080"/>
            <a:ext cx="2011680" cy="3108960"/>
          </a:xfrm>
          <a:prstGeom prst="rect">
            <a:avLst/>
          </a:prstGeom>
          <a:solidFill>
            <a:srgbClr val="1A0D00"/>
          </a:solidFill>
          <a:ln w="12700">
            <a:solidFill>
              <a:srgbClr val="F59E0B"/>
            </a:solidFill>
            <a:prstDash val="solid"/>
          </a:ln>
        </p:spPr>
      </p:sp>
      <p:sp>
        <p:nvSpPr>
          <p:cNvPr id="17" name="Text 12"/>
          <p:cNvSpPr/>
          <p:nvPr/>
        </p:nvSpPr>
        <p:spPr>
          <a:xfrm>
            <a:off x="6903720" y="1874520"/>
            <a:ext cx="1920240" cy="274320"/>
          </a:xfrm>
          <a:prstGeom prst="rect">
            <a:avLst/>
          </a:prstGeom>
          <a:noFill/>
          <a:ln/>
        </p:spPr>
        <p:txBody>
          <a:bodyPr wrap="square" lIns="0" tIns="0" rIns="0" bIns="0" rtlCol="0" anchor="ctr"/>
          <a:lstStyle/>
          <a:p>
            <a:pPr marL="0" indent="0">
              <a:buNone/>
            </a:pPr>
            <a:r>
              <a:rPr lang="en-US" sz="1000" b="1" dirty="0">
                <a:solidFill>
                  <a:srgbClr val="F59E0B"/>
                </a:solidFill>
                <a:latin typeface="Arial" pitchFamily="34" charset="0"/>
                <a:ea typeface="Arial" pitchFamily="34" charset="-122"/>
                <a:cs typeface="Arial" pitchFamily="34" charset="-120"/>
              </a:rPr>
              <a:t>⚡ Key Insights</a:t>
            </a:r>
            <a:endParaRPr lang="en-US" sz="1000" dirty="0"/>
          </a:p>
        </p:txBody>
      </p:sp>
      <p:sp>
        <p:nvSpPr>
          <p:cNvPr id="18" name="Shape 13"/>
          <p:cNvSpPr/>
          <p:nvPr/>
        </p:nvSpPr>
        <p:spPr>
          <a:xfrm>
            <a:off x="6903720" y="2240280"/>
            <a:ext cx="54864" cy="320040"/>
          </a:xfrm>
          <a:prstGeom prst="rect">
            <a:avLst/>
          </a:prstGeom>
          <a:solidFill>
            <a:srgbClr val="F59E0B"/>
          </a:solidFill>
          <a:ln w="12700">
            <a:solidFill>
              <a:srgbClr val="333333"/>
            </a:solidFill>
            <a:prstDash val="solid"/>
          </a:ln>
        </p:spPr>
      </p:sp>
      <p:sp>
        <p:nvSpPr>
          <p:cNvPr id="19" name="Text 14"/>
          <p:cNvSpPr/>
          <p:nvPr/>
        </p:nvSpPr>
        <p:spPr>
          <a:xfrm>
            <a:off x="7022592" y="2240280"/>
            <a:ext cx="1783080" cy="411480"/>
          </a:xfrm>
          <a:prstGeom prst="rect">
            <a:avLst/>
          </a:prstGeom>
          <a:noFill/>
          <a:ln/>
        </p:spPr>
        <p:txBody>
          <a:bodyPr wrap="square" lIns="0" tIns="0" rIns="0" bIns="0" rtlCol="0" anchor="ctr"/>
          <a:lstStyle/>
          <a:p>
            <a:pPr marL="0" indent="0">
              <a:buNone/>
            </a:pPr>
            <a:r>
              <a:rPr lang="en-US" sz="900" dirty="0">
                <a:solidFill>
                  <a:srgbClr val="CBD5E1"/>
                </a:solidFill>
                <a:latin typeface="Calibri" pitchFamily="34" charset="0"/>
                <a:ea typeface="Calibri" pitchFamily="34" charset="-122"/>
                <a:cs typeface="Calibri" pitchFamily="34" charset="-120"/>
              </a:rPr>
              <a:t>95.77% of drugs have at least one side effect</a:t>
            </a:r>
            <a:endParaRPr lang="en-US" sz="900" dirty="0"/>
          </a:p>
        </p:txBody>
      </p:sp>
      <p:sp>
        <p:nvSpPr>
          <p:cNvPr id="20" name="Shape 15"/>
          <p:cNvSpPr/>
          <p:nvPr/>
        </p:nvSpPr>
        <p:spPr>
          <a:xfrm>
            <a:off x="6903720" y="2743200"/>
            <a:ext cx="54864" cy="320040"/>
          </a:xfrm>
          <a:prstGeom prst="rect">
            <a:avLst/>
          </a:prstGeom>
          <a:solidFill>
            <a:srgbClr val="F59E0B"/>
          </a:solidFill>
          <a:ln w="12700">
            <a:solidFill>
              <a:srgbClr val="333333"/>
            </a:solidFill>
            <a:prstDash val="solid"/>
          </a:ln>
        </p:spPr>
      </p:sp>
      <p:sp>
        <p:nvSpPr>
          <p:cNvPr id="21" name="Text 16"/>
          <p:cNvSpPr/>
          <p:nvPr/>
        </p:nvSpPr>
        <p:spPr>
          <a:xfrm>
            <a:off x="7022592" y="2743200"/>
            <a:ext cx="1783080" cy="411480"/>
          </a:xfrm>
          <a:prstGeom prst="rect">
            <a:avLst/>
          </a:prstGeom>
          <a:noFill/>
          <a:ln/>
        </p:spPr>
        <p:txBody>
          <a:bodyPr wrap="square" lIns="0" tIns="0" rIns="0" bIns="0" rtlCol="0" anchor="ctr"/>
          <a:lstStyle/>
          <a:p>
            <a:pPr marL="0" indent="0">
              <a:buNone/>
            </a:pPr>
            <a:r>
              <a:rPr lang="en-US" sz="900" dirty="0">
                <a:solidFill>
                  <a:srgbClr val="CBD5E1"/>
                </a:solidFill>
                <a:latin typeface="Calibri" pitchFamily="34" charset="0"/>
                <a:ea typeface="Calibri" pitchFamily="34" charset="-122"/>
                <a:cs typeface="Calibri" pitchFamily="34" charset="-120"/>
              </a:rPr>
              <a:t>Menopause drugs have most side effects (avg 19)</a:t>
            </a:r>
            <a:endParaRPr lang="en-US" sz="900" dirty="0"/>
          </a:p>
        </p:txBody>
      </p:sp>
      <p:sp>
        <p:nvSpPr>
          <p:cNvPr id="22" name="Shape 17"/>
          <p:cNvSpPr/>
          <p:nvPr/>
        </p:nvSpPr>
        <p:spPr>
          <a:xfrm>
            <a:off x="6903720" y="3246120"/>
            <a:ext cx="54864" cy="320040"/>
          </a:xfrm>
          <a:prstGeom prst="rect">
            <a:avLst/>
          </a:prstGeom>
          <a:solidFill>
            <a:srgbClr val="F59E0B"/>
          </a:solidFill>
          <a:ln w="12700">
            <a:solidFill>
              <a:srgbClr val="333333"/>
            </a:solidFill>
            <a:prstDash val="solid"/>
          </a:ln>
        </p:spPr>
      </p:sp>
      <p:sp>
        <p:nvSpPr>
          <p:cNvPr id="23" name="Text 18"/>
          <p:cNvSpPr/>
          <p:nvPr/>
        </p:nvSpPr>
        <p:spPr>
          <a:xfrm>
            <a:off x="7022592" y="3246120"/>
            <a:ext cx="1783080" cy="411480"/>
          </a:xfrm>
          <a:prstGeom prst="rect">
            <a:avLst/>
          </a:prstGeom>
          <a:noFill/>
          <a:ln/>
        </p:spPr>
        <p:txBody>
          <a:bodyPr wrap="square" lIns="0" tIns="0" rIns="0" bIns="0" rtlCol="0" anchor="ctr"/>
          <a:lstStyle/>
          <a:p>
            <a:pPr marL="0" indent="0">
              <a:buNone/>
            </a:pPr>
            <a:r>
              <a:rPr lang="en-US" sz="900" dirty="0">
                <a:solidFill>
                  <a:srgbClr val="CBD5E1"/>
                </a:solidFill>
                <a:latin typeface="Calibri" pitchFamily="34" charset="0"/>
                <a:ea typeface="Calibri" pitchFamily="34" charset="-122"/>
                <a:cs typeface="Calibri" pitchFamily="34" charset="-120"/>
              </a:rPr>
              <a:t>Prescription drugs have more side effects than OTC</a:t>
            </a:r>
            <a:endParaRPr lang="en-US" sz="900" dirty="0"/>
          </a:p>
        </p:txBody>
      </p:sp>
      <p:sp>
        <p:nvSpPr>
          <p:cNvPr id="24" name="Shape 19"/>
          <p:cNvSpPr/>
          <p:nvPr/>
        </p:nvSpPr>
        <p:spPr>
          <a:xfrm>
            <a:off x="6903720" y="3749040"/>
            <a:ext cx="54864" cy="320040"/>
          </a:xfrm>
          <a:prstGeom prst="rect">
            <a:avLst/>
          </a:prstGeom>
          <a:solidFill>
            <a:srgbClr val="F59E0B"/>
          </a:solidFill>
          <a:ln w="12700">
            <a:solidFill>
              <a:srgbClr val="333333"/>
            </a:solidFill>
            <a:prstDash val="solid"/>
          </a:ln>
        </p:spPr>
      </p:sp>
      <p:sp>
        <p:nvSpPr>
          <p:cNvPr id="25" name="Text 20"/>
          <p:cNvSpPr/>
          <p:nvPr/>
        </p:nvSpPr>
        <p:spPr>
          <a:xfrm>
            <a:off x="7022592" y="3749040"/>
            <a:ext cx="1783080" cy="411480"/>
          </a:xfrm>
          <a:prstGeom prst="rect">
            <a:avLst/>
          </a:prstGeom>
          <a:noFill/>
          <a:ln/>
        </p:spPr>
        <p:txBody>
          <a:bodyPr wrap="square" lIns="0" tIns="0" rIns="0" bIns="0" rtlCol="0" anchor="ctr"/>
          <a:lstStyle/>
          <a:p>
            <a:pPr marL="0" indent="0">
              <a:buNone/>
            </a:pPr>
            <a:r>
              <a:rPr lang="en-US" sz="900" dirty="0">
                <a:solidFill>
                  <a:srgbClr val="CBD5E1"/>
                </a:solidFill>
                <a:latin typeface="Calibri" pitchFamily="34" charset="0"/>
                <a:ea typeface="Calibri" pitchFamily="34" charset="-122"/>
                <a:cs typeface="Calibri" pitchFamily="34" charset="-120"/>
              </a:rPr>
              <a:t>Only 124 drugs have no side effects listed</a:t>
            </a:r>
            <a:endParaRPr lang="en-US" sz="900" dirty="0"/>
          </a:p>
        </p:txBody>
      </p:sp>
      <p:sp>
        <p:nvSpPr>
          <p:cNvPr id="26" name="Shape 21"/>
          <p:cNvSpPr/>
          <p:nvPr/>
        </p:nvSpPr>
        <p:spPr>
          <a:xfrm>
            <a:off x="6903720" y="4251960"/>
            <a:ext cx="54864" cy="320040"/>
          </a:xfrm>
          <a:prstGeom prst="rect">
            <a:avLst/>
          </a:prstGeom>
          <a:solidFill>
            <a:srgbClr val="F59E0B"/>
          </a:solidFill>
          <a:ln w="12700">
            <a:solidFill>
              <a:srgbClr val="333333"/>
            </a:solidFill>
            <a:prstDash val="solid"/>
          </a:ln>
        </p:spPr>
      </p:sp>
      <p:sp>
        <p:nvSpPr>
          <p:cNvPr id="27" name="Text 22"/>
          <p:cNvSpPr/>
          <p:nvPr/>
        </p:nvSpPr>
        <p:spPr>
          <a:xfrm>
            <a:off x="7022592" y="4251960"/>
            <a:ext cx="1783080" cy="411480"/>
          </a:xfrm>
          <a:prstGeom prst="rect">
            <a:avLst/>
          </a:prstGeom>
          <a:noFill/>
          <a:ln/>
        </p:spPr>
        <p:txBody>
          <a:bodyPr wrap="square" lIns="0" tIns="0" rIns="0" bIns="0" rtlCol="0" anchor="ctr"/>
          <a:lstStyle/>
          <a:p>
            <a:pPr marL="0" indent="0">
              <a:buNone/>
            </a:pPr>
            <a:r>
              <a:rPr lang="en-US" sz="900" dirty="0">
                <a:solidFill>
                  <a:srgbClr val="CBD5E1"/>
                </a:solidFill>
                <a:latin typeface="Calibri" pitchFamily="34" charset="0"/>
                <a:ea typeface="Calibri" pitchFamily="34" charset="-122"/>
                <a:cs typeface="Calibri" pitchFamily="34" charset="-120"/>
              </a:rPr>
              <a:t>Schizophrenia &amp; Bipolar drugs among highest risk</a:t>
            </a:r>
            <a:endParaRPr lang="en-US" sz="900" dirty="0"/>
          </a:p>
        </p:txBody>
      </p:sp>
      <p:sp>
        <p:nvSpPr>
          <p:cNvPr id="28" name="Shape 23"/>
          <p:cNvSpPr/>
          <p:nvPr/>
        </p:nvSpPr>
        <p:spPr>
          <a:xfrm>
            <a:off x="0" y="5070348"/>
            <a:ext cx="9144000" cy="73152"/>
          </a:xfrm>
          <a:prstGeom prst="rect">
            <a:avLst/>
          </a:prstGeom>
          <a:solidFill>
            <a:srgbClr val="F59E0B"/>
          </a:solidFill>
          <a:ln w="12700">
            <a:solidFill>
              <a:srgbClr val="333333"/>
            </a:solidFill>
            <a:prstDash val="solid"/>
          </a:ln>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8B5CF6"/>
          </a:solidFill>
          <a:ln w="12700">
            <a:solidFill>
              <a:srgbClr val="333333"/>
            </a:solidFill>
            <a:prstDash val="solid"/>
          </a:ln>
        </p:spPr>
      </p:sp>
      <p:sp>
        <p:nvSpPr>
          <p:cNvPr id="3" name="Text 1"/>
          <p:cNvSpPr/>
          <p:nvPr/>
        </p:nvSpPr>
        <p:spPr>
          <a:xfrm>
            <a:off x="457200" y="164592"/>
            <a:ext cx="8229600" cy="548640"/>
          </a:xfrm>
          <a:prstGeom prst="rect">
            <a:avLst/>
          </a:prstGeom>
          <a:noFill/>
          <a:ln/>
        </p:spPr>
        <p:txBody>
          <a:bodyPr wrap="square" rtlCol="0" anchor="ctr"/>
          <a:lstStyle/>
          <a:p>
            <a:pPr marL="0" indent="0">
              <a:buNone/>
            </a:pPr>
            <a:r>
              <a:rPr lang="en-US" sz="3200" b="1" dirty="0">
                <a:solidFill>
                  <a:srgbClr val="FFFFFF"/>
                </a:solidFill>
                <a:latin typeface="Arial Black" pitchFamily="34" charset="0"/>
                <a:ea typeface="Arial Black" pitchFamily="34" charset="-122"/>
                <a:cs typeface="Arial Black" pitchFamily="34" charset="-120"/>
              </a:rPr>
              <a:t>Key Findings</a:t>
            </a:r>
            <a:endParaRPr lang="en-US" sz="3200" dirty="0"/>
          </a:p>
        </p:txBody>
      </p:sp>
      <p:sp>
        <p:nvSpPr>
          <p:cNvPr id="4" name="Shape 2"/>
          <p:cNvSpPr/>
          <p:nvPr/>
        </p:nvSpPr>
        <p:spPr>
          <a:xfrm>
            <a:off x="365760" y="868680"/>
            <a:ext cx="4023360" cy="1234440"/>
          </a:xfrm>
          <a:prstGeom prst="rect">
            <a:avLst/>
          </a:prstGeom>
          <a:solidFill>
            <a:srgbClr val="1F2937"/>
          </a:solidFill>
          <a:ln w="12700">
            <a:solidFill>
              <a:srgbClr val="333333"/>
            </a:solidFill>
            <a:prstDash val="solid"/>
          </a:ln>
          <a:effectLst>
            <a:outerShdw blurRad="101600" dist="38100" dir="8100000" algn="bl" rotWithShape="0">
              <a:srgbClr val="000000">
                <a:alpha val="25000"/>
              </a:srgbClr>
            </a:outerShdw>
          </a:effectLst>
        </p:spPr>
      </p:sp>
      <p:sp>
        <p:nvSpPr>
          <p:cNvPr id="5" name="Shape 3"/>
          <p:cNvSpPr/>
          <p:nvPr/>
        </p:nvSpPr>
        <p:spPr>
          <a:xfrm>
            <a:off x="365760" y="868680"/>
            <a:ext cx="54864" cy="1234440"/>
          </a:xfrm>
          <a:prstGeom prst="rect">
            <a:avLst/>
          </a:prstGeom>
          <a:solidFill>
            <a:srgbClr val="00B4D8"/>
          </a:solidFill>
          <a:ln w="12700">
            <a:solidFill>
              <a:srgbClr val="333333"/>
            </a:solidFill>
            <a:prstDash val="solid"/>
          </a:ln>
        </p:spPr>
      </p:sp>
      <p:sp>
        <p:nvSpPr>
          <p:cNvPr id="6" name="Text 4"/>
          <p:cNvSpPr/>
          <p:nvPr/>
        </p:nvSpPr>
        <p:spPr>
          <a:xfrm>
            <a:off x="502920" y="914400"/>
            <a:ext cx="411480" cy="457200"/>
          </a:xfrm>
          <a:prstGeom prst="rect">
            <a:avLst/>
          </a:prstGeom>
          <a:noFill/>
          <a:ln/>
        </p:spPr>
        <p:txBody>
          <a:bodyPr wrap="square" lIns="0" tIns="0" rIns="0" bIns="0" rtlCol="0" anchor="ctr"/>
          <a:lstStyle/>
          <a:p>
            <a:pPr marL="0" indent="0">
              <a:buNone/>
            </a:pPr>
            <a:r>
              <a:rPr lang="en-US" sz="2000" b="1" dirty="0">
                <a:solidFill>
                  <a:srgbClr val="00B4D8"/>
                </a:solidFill>
                <a:latin typeface="Arial Black" pitchFamily="34" charset="0"/>
                <a:ea typeface="Arial Black" pitchFamily="34" charset="-122"/>
                <a:cs typeface="Arial Black" pitchFamily="34" charset="-120"/>
              </a:rPr>
              <a:t>01</a:t>
            </a:r>
            <a:endParaRPr lang="en-US" sz="2000" dirty="0"/>
          </a:p>
        </p:txBody>
      </p:sp>
      <p:sp>
        <p:nvSpPr>
          <p:cNvPr id="7" name="Text 5"/>
          <p:cNvSpPr/>
          <p:nvPr/>
        </p:nvSpPr>
        <p:spPr>
          <a:xfrm>
            <a:off x="914400" y="941832"/>
            <a:ext cx="3383280" cy="347472"/>
          </a:xfrm>
          <a:prstGeom prst="rect">
            <a:avLst/>
          </a:prstGeom>
          <a:noFill/>
          <a:ln/>
        </p:spPr>
        <p:txBody>
          <a:bodyPr wrap="square" lIns="0" tIns="0" rIns="0" bIns="0" rtlCol="0" anchor="ctr"/>
          <a:lstStyle/>
          <a:p>
            <a:pPr marL="0" indent="0">
              <a:buNone/>
            </a:pPr>
            <a:r>
              <a:rPr lang="en-US" sz="1200" b="1" dirty="0">
                <a:solidFill>
                  <a:srgbClr val="00B4D8"/>
                </a:solidFill>
                <a:latin typeface="Arial" pitchFamily="34" charset="0"/>
                <a:ea typeface="Arial" pitchFamily="34" charset="-122"/>
                <a:cs typeface="Arial" pitchFamily="34" charset="-120"/>
              </a:rPr>
              <a:t>Prescription Dominance</a:t>
            </a:r>
            <a:endParaRPr lang="en-US" sz="1200" dirty="0"/>
          </a:p>
        </p:txBody>
      </p:sp>
      <p:sp>
        <p:nvSpPr>
          <p:cNvPr id="8" name="Text 6"/>
          <p:cNvSpPr/>
          <p:nvPr/>
        </p:nvSpPr>
        <p:spPr>
          <a:xfrm>
            <a:off x="502920" y="1325880"/>
            <a:ext cx="3794760" cy="685800"/>
          </a:xfrm>
          <a:prstGeom prst="rect">
            <a:avLst/>
          </a:prstGeom>
          <a:noFill/>
          <a:ln/>
        </p:spPr>
        <p:txBody>
          <a:bodyPr wrap="square" lIns="0" tIns="0" rIns="0" bIns="0" rtlCol="0" anchor="ctr"/>
          <a:lstStyle/>
          <a:p>
            <a:pPr marL="0" indent="0">
              <a:buNone/>
            </a:pPr>
            <a:r>
              <a:rPr lang="en-US" sz="1000" dirty="0">
                <a:solidFill>
                  <a:srgbClr val="CBD5E1"/>
                </a:solidFill>
                <a:latin typeface="Calibri" pitchFamily="34" charset="0"/>
                <a:ea typeface="Calibri" pitchFamily="34" charset="-122"/>
                <a:cs typeface="Calibri" pitchFamily="34" charset="-120"/>
              </a:rPr>
              <a:t>68.2% of all drugs require a prescription — the pharmaceutical market is heavily gated by medical professionals.</a:t>
            </a:r>
            <a:endParaRPr lang="en-US" sz="1000" dirty="0"/>
          </a:p>
        </p:txBody>
      </p:sp>
      <p:sp>
        <p:nvSpPr>
          <p:cNvPr id="9" name="Shape 7"/>
          <p:cNvSpPr/>
          <p:nvPr/>
        </p:nvSpPr>
        <p:spPr>
          <a:xfrm>
            <a:off x="4754880" y="868680"/>
            <a:ext cx="4023360" cy="1234440"/>
          </a:xfrm>
          <a:prstGeom prst="rect">
            <a:avLst/>
          </a:prstGeom>
          <a:solidFill>
            <a:srgbClr val="1F2937"/>
          </a:solidFill>
          <a:ln w="12700">
            <a:solidFill>
              <a:srgbClr val="333333"/>
            </a:solidFill>
            <a:prstDash val="solid"/>
          </a:ln>
          <a:effectLst>
            <a:outerShdw blurRad="101600" dist="38100" dir="8100000" algn="bl" rotWithShape="0">
              <a:srgbClr val="000000">
                <a:alpha val="25000"/>
              </a:srgbClr>
            </a:outerShdw>
          </a:effectLst>
        </p:spPr>
      </p:sp>
      <p:sp>
        <p:nvSpPr>
          <p:cNvPr id="10" name="Shape 8"/>
          <p:cNvSpPr/>
          <p:nvPr/>
        </p:nvSpPr>
        <p:spPr>
          <a:xfrm>
            <a:off x="4754880" y="868680"/>
            <a:ext cx="54864" cy="1234440"/>
          </a:xfrm>
          <a:prstGeom prst="rect">
            <a:avLst/>
          </a:prstGeom>
          <a:solidFill>
            <a:srgbClr val="10B981"/>
          </a:solidFill>
          <a:ln w="12700">
            <a:solidFill>
              <a:srgbClr val="333333"/>
            </a:solidFill>
            <a:prstDash val="solid"/>
          </a:ln>
        </p:spPr>
      </p:sp>
      <p:sp>
        <p:nvSpPr>
          <p:cNvPr id="11" name="Text 9"/>
          <p:cNvSpPr/>
          <p:nvPr/>
        </p:nvSpPr>
        <p:spPr>
          <a:xfrm>
            <a:off x="4892040" y="914400"/>
            <a:ext cx="411480" cy="457200"/>
          </a:xfrm>
          <a:prstGeom prst="rect">
            <a:avLst/>
          </a:prstGeom>
          <a:noFill/>
          <a:ln/>
        </p:spPr>
        <p:txBody>
          <a:bodyPr wrap="square" lIns="0" tIns="0" rIns="0" bIns="0" rtlCol="0" anchor="ctr"/>
          <a:lstStyle/>
          <a:p>
            <a:pPr marL="0" indent="0">
              <a:buNone/>
            </a:pPr>
            <a:r>
              <a:rPr lang="en-US" sz="2000" b="1" dirty="0">
                <a:solidFill>
                  <a:srgbClr val="10B981"/>
                </a:solidFill>
                <a:latin typeface="Arial Black" pitchFamily="34" charset="0"/>
                <a:ea typeface="Arial Black" pitchFamily="34" charset="-122"/>
                <a:cs typeface="Arial Black" pitchFamily="34" charset="-120"/>
              </a:rPr>
              <a:t>02</a:t>
            </a:r>
            <a:endParaRPr lang="en-US" sz="2000" dirty="0"/>
          </a:p>
        </p:txBody>
      </p:sp>
      <p:sp>
        <p:nvSpPr>
          <p:cNvPr id="12" name="Text 10"/>
          <p:cNvSpPr/>
          <p:nvPr/>
        </p:nvSpPr>
        <p:spPr>
          <a:xfrm>
            <a:off x="5303520" y="941832"/>
            <a:ext cx="3383280" cy="347472"/>
          </a:xfrm>
          <a:prstGeom prst="rect">
            <a:avLst/>
          </a:prstGeom>
          <a:noFill/>
          <a:ln/>
        </p:spPr>
        <p:txBody>
          <a:bodyPr wrap="square" lIns="0" tIns="0" rIns="0" bIns="0" rtlCol="0" anchor="ctr"/>
          <a:lstStyle/>
          <a:p>
            <a:pPr marL="0" indent="0">
              <a:buNone/>
            </a:pPr>
            <a:r>
              <a:rPr lang="en-US" sz="1200" b="1" dirty="0">
                <a:solidFill>
                  <a:srgbClr val="10B981"/>
                </a:solidFill>
                <a:latin typeface="Arial" pitchFamily="34" charset="0"/>
                <a:ea typeface="Arial" pitchFamily="34" charset="-122"/>
                <a:cs typeface="Arial" pitchFamily="34" charset="-120"/>
              </a:rPr>
              <a:t>Pregnancy Safety is Rare</a:t>
            </a:r>
            <a:endParaRPr lang="en-US" sz="1200" dirty="0"/>
          </a:p>
        </p:txBody>
      </p:sp>
      <p:sp>
        <p:nvSpPr>
          <p:cNvPr id="13" name="Text 11"/>
          <p:cNvSpPr/>
          <p:nvPr/>
        </p:nvSpPr>
        <p:spPr>
          <a:xfrm>
            <a:off x="4892040" y="1325880"/>
            <a:ext cx="3794760" cy="685800"/>
          </a:xfrm>
          <a:prstGeom prst="rect">
            <a:avLst/>
          </a:prstGeom>
          <a:noFill/>
          <a:ln/>
        </p:spPr>
        <p:txBody>
          <a:bodyPr wrap="square" lIns="0" tIns="0" rIns="0" bIns="0" rtlCol="0" anchor="ctr"/>
          <a:lstStyle/>
          <a:p>
            <a:pPr marL="0" indent="0">
              <a:buNone/>
            </a:pPr>
            <a:r>
              <a:rPr lang="en-US" sz="1000" dirty="0">
                <a:solidFill>
                  <a:srgbClr val="CBD5E1"/>
                </a:solidFill>
                <a:latin typeface="Calibri" pitchFamily="34" charset="0"/>
                <a:ea typeface="Calibri" pitchFamily="34" charset="-122"/>
                <a:cs typeface="Calibri" pitchFamily="34" charset="-120"/>
              </a:rPr>
              <a:t>Only 18 drugs (0.61%) are classified as completely safe during pregnancy (Cat A). 47% fall in 'Use with Caution'.</a:t>
            </a:r>
            <a:endParaRPr lang="en-US" sz="1000" dirty="0"/>
          </a:p>
        </p:txBody>
      </p:sp>
      <p:sp>
        <p:nvSpPr>
          <p:cNvPr id="14" name="Shape 12"/>
          <p:cNvSpPr/>
          <p:nvPr/>
        </p:nvSpPr>
        <p:spPr>
          <a:xfrm>
            <a:off x="365760" y="2286000"/>
            <a:ext cx="4023360" cy="1234440"/>
          </a:xfrm>
          <a:prstGeom prst="rect">
            <a:avLst/>
          </a:prstGeom>
          <a:solidFill>
            <a:srgbClr val="1F2937"/>
          </a:solidFill>
          <a:ln w="12700">
            <a:solidFill>
              <a:srgbClr val="333333"/>
            </a:solidFill>
            <a:prstDash val="solid"/>
          </a:ln>
          <a:effectLst>
            <a:outerShdw blurRad="101600" dist="38100" dir="8100000" algn="bl" rotWithShape="0">
              <a:srgbClr val="000000">
                <a:alpha val="25000"/>
              </a:srgbClr>
            </a:outerShdw>
          </a:effectLst>
        </p:spPr>
      </p:sp>
      <p:sp>
        <p:nvSpPr>
          <p:cNvPr id="15" name="Shape 13"/>
          <p:cNvSpPr/>
          <p:nvPr/>
        </p:nvSpPr>
        <p:spPr>
          <a:xfrm>
            <a:off x="365760" y="2286000"/>
            <a:ext cx="54864" cy="1234440"/>
          </a:xfrm>
          <a:prstGeom prst="rect">
            <a:avLst/>
          </a:prstGeom>
          <a:solidFill>
            <a:srgbClr val="F59E0B"/>
          </a:solidFill>
          <a:ln w="12700">
            <a:solidFill>
              <a:srgbClr val="333333"/>
            </a:solidFill>
            <a:prstDash val="solid"/>
          </a:ln>
        </p:spPr>
      </p:sp>
      <p:sp>
        <p:nvSpPr>
          <p:cNvPr id="16" name="Text 14"/>
          <p:cNvSpPr/>
          <p:nvPr/>
        </p:nvSpPr>
        <p:spPr>
          <a:xfrm>
            <a:off x="502920" y="2331720"/>
            <a:ext cx="411480" cy="457200"/>
          </a:xfrm>
          <a:prstGeom prst="rect">
            <a:avLst/>
          </a:prstGeom>
          <a:noFill/>
          <a:ln/>
        </p:spPr>
        <p:txBody>
          <a:bodyPr wrap="square" lIns="0" tIns="0" rIns="0" bIns="0" rtlCol="0" anchor="ctr"/>
          <a:lstStyle/>
          <a:p>
            <a:pPr marL="0" indent="0">
              <a:buNone/>
            </a:pPr>
            <a:r>
              <a:rPr lang="en-US" sz="2000" b="1" dirty="0">
                <a:solidFill>
                  <a:srgbClr val="F59E0B"/>
                </a:solidFill>
                <a:latin typeface="Arial Black" pitchFamily="34" charset="0"/>
                <a:ea typeface="Arial Black" pitchFamily="34" charset="-122"/>
                <a:cs typeface="Arial Black" pitchFamily="34" charset="-120"/>
              </a:rPr>
              <a:t>03</a:t>
            </a:r>
            <a:endParaRPr lang="en-US" sz="2000" dirty="0"/>
          </a:p>
        </p:txBody>
      </p:sp>
      <p:sp>
        <p:nvSpPr>
          <p:cNvPr id="17" name="Text 15"/>
          <p:cNvSpPr/>
          <p:nvPr/>
        </p:nvSpPr>
        <p:spPr>
          <a:xfrm>
            <a:off x="914400" y="2359152"/>
            <a:ext cx="3383280" cy="347472"/>
          </a:xfrm>
          <a:prstGeom prst="rect">
            <a:avLst/>
          </a:prstGeom>
          <a:noFill/>
          <a:ln/>
        </p:spPr>
        <p:txBody>
          <a:bodyPr wrap="square" lIns="0" tIns="0" rIns="0" bIns="0" rtlCol="0" anchor="ctr"/>
          <a:lstStyle/>
          <a:p>
            <a:pPr marL="0" indent="0">
              <a:buNone/>
            </a:pPr>
            <a:r>
              <a:rPr lang="en-US" sz="1200" b="1" dirty="0">
                <a:solidFill>
                  <a:srgbClr val="F59E0B"/>
                </a:solidFill>
                <a:latin typeface="Arial" pitchFamily="34" charset="0"/>
                <a:ea typeface="Arial" pitchFamily="34" charset="-122"/>
                <a:cs typeface="Arial" pitchFamily="34" charset="-120"/>
              </a:rPr>
              <a:t>Alcohol Risk is Pervasive</a:t>
            </a:r>
            <a:endParaRPr lang="en-US" sz="1200" dirty="0"/>
          </a:p>
        </p:txBody>
      </p:sp>
      <p:sp>
        <p:nvSpPr>
          <p:cNvPr id="18" name="Text 16"/>
          <p:cNvSpPr/>
          <p:nvPr/>
        </p:nvSpPr>
        <p:spPr>
          <a:xfrm>
            <a:off x="502920" y="2743200"/>
            <a:ext cx="3794760" cy="685800"/>
          </a:xfrm>
          <a:prstGeom prst="rect">
            <a:avLst/>
          </a:prstGeom>
          <a:noFill/>
          <a:ln/>
        </p:spPr>
        <p:txBody>
          <a:bodyPr wrap="square" lIns="0" tIns="0" rIns="0" bIns="0" rtlCol="0" anchor="ctr"/>
          <a:lstStyle/>
          <a:p>
            <a:pPr marL="0" indent="0">
              <a:buNone/>
            </a:pPr>
            <a:r>
              <a:rPr lang="en-US" sz="1000" dirty="0">
                <a:solidFill>
                  <a:srgbClr val="CBD5E1"/>
                </a:solidFill>
                <a:latin typeface="Calibri" pitchFamily="34" charset="0"/>
                <a:ea typeface="Calibri" pitchFamily="34" charset="-122"/>
                <a:cs typeface="Calibri" pitchFamily="34" charset="-120"/>
              </a:rPr>
              <a:t>Nearly 47% of all drugs have dangerous alcohol interactions, posing a significant public health concern.</a:t>
            </a:r>
            <a:endParaRPr lang="en-US" sz="1000" dirty="0"/>
          </a:p>
        </p:txBody>
      </p:sp>
      <p:sp>
        <p:nvSpPr>
          <p:cNvPr id="19" name="Shape 17"/>
          <p:cNvSpPr/>
          <p:nvPr/>
        </p:nvSpPr>
        <p:spPr>
          <a:xfrm>
            <a:off x="4754880" y="2286000"/>
            <a:ext cx="4023360" cy="1234440"/>
          </a:xfrm>
          <a:prstGeom prst="rect">
            <a:avLst/>
          </a:prstGeom>
          <a:solidFill>
            <a:srgbClr val="1F2937"/>
          </a:solidFill>
          <a:ln w="12700">
            <a:solidFill>
              <a:srgbClr val="333333"/>
            </a:solidFill>
            <a:prstDash val="solid"/>
          </a:ln>
          <a:effectLst>
            <a:outerShdw blurRad="101600" dist="38100" dir="8100000" algn="bl" rotWithShape="0">
              <a:srgbClr val="000000">
                <a:alpha val="25000"/>
              </a:srgbClr>
            </a:outerShdw>
          </a:effectLst>
        </p:spPr>
      </p:sp>
      <p:sp>
        <p:nvSpPr>
          <p:cNvPr id="20" name="Shape 18"/>
          <p:cNvSpPr/>
          <p:nvPr/>
        </p:nvSpPr>
        <p:spPr>
          <a:xfrm>
            <a:off x="4754880" y="2286000"/>
            <a:ext cx="54864" cy="1234440"/>
          </a:xfrm>
          <a:prstGeom prst="rect">
            <a:avLst/>
          </a:prstGeom>
          <a:solidFill>
            <a:srgbClr val="EF4444"/>
          </a:solidFill>
          <a:ln w="12700">
            <a:solidFill>
              <a:srgbClr val="333333"/>
            </a:solidFill>
            <a:prstDash val="solid"/>
          </a:ln>
        </p:spPr>
      </p:sp>
      <p:sp>
        <p:nvSpPr>
          <p:cNvPr id="21" name="Text 19"/>
          <p:cNvSpPr/>
          <p:nvPr/>
        </p:nvSpPr>
        <p:spPr>
          <a:xfrm>
            <a:off x="4892040" y="2331720"/>
            <a:ext cx="411480" cy="457200"/>
          </a:xfrm>
          <a:prstGeom prst="rect">
            <a:avLst/>
          </a:prstGeom>
          <a:noFill/>
          <a:ln/>
        </p:spPr>
        <p:txBody>
          <a:bodyPr wrap="square" lIns="0" tIns="0" rIns="0" bIns="0" rtlCol="0" anchor="ctr"/>
          <a:lstStyle/>
          <a:p>
            <a:pPr marL="0" indent="0">
              <a:buNone/>
            </a:pPr>
            <a:r>
              <a:rPr lang="en-US" sz="2000" b="1" dirty="0">
                <a:solidFill>
                  <a:srgbClr val="EF4444"/>
                </a:solidFill>
                <a:latin typeface="Arial Black" pitchFamily="34" charset="0"/>
                <a:ea typeface="Arial Black" pitchFamily="34" charset="-122"/>
                <a:cs typeface="Arial Black" pitchFamily="34" charset="-120"/>
              </a:rPr>
              <a:t>04</a:t>
            </a:r>
            <a:endParaRPr lang="en-US" sz="2000" dirty="0"/>
          </a:p>
        </p:txBody>
      </p:sp>
      <p:sp>
        <p:nvSpPr>
          <p:cNvPr id="22" name="Text 20"/>
          <p:cNvSpPr/>
          <p:nvPr/>
        </p:nvSpPr>
        <p:spPr>
          <a:xfrm>
            <a:off x="5303520" y="2359152"/>
            <a:ext cx="3383280" cy="347472"/>
          </a:xfrm>
          <a:prstGeom prst="rect">
            <a:avLst/>
          </a:prstGeom>
          <a:noFill/>
          <a:ln/>
        </p:spPr>
        <p:txBody>
          <a:bodyPr wrap="square" lIns="0" tIns="0" rIns="0" bIns="0" rtlCol="0" anchor="ctr"/>
          <a:lstStyle/>
          <a:p>
            <a:pPr marL="0" indent="0">
              <a:buNone/>
            </a:pPr>
            <a:r>
              <a:rPr lang="en-US" sz="1200" b="1" dirty="0">
                <a:solidFill>
                  <a:srgbClr val="EF4444"/>
                </a:solidFill>
                <a:latin typeface="Arial" pitchFamily="34" charset="0"/>
                <a:ea typeface="Arial" pitchFamily="34" charset="-122"/>
                <a:cs typeface="Arial" pitchFamily="34" charset="-120"/>
              </a:rPr>
              <a:t>Side Effects are Universal</a:t>
            </a:r>
            <a:endParaRPr lang="en-US" sz="1200" dirty="0"/>
          </a:p>
        </p:txBody>
      </p:sp>
      <p:sp>
        <p:nvSpPr>
          <p:cNvPr id="23" name="Text 21"/>
          <p:cNvSpPr/>
          <p:nvPr/>
        </p:nvSpPr>
        <p:spPr>
          <a:xfrm>
            <a:off x="4892040" y="2743200"/>
            <a:ext cx="3794760" cy="685800"/>
          </a:xfrm>
          <a:prstGeom prst="rect">
            <a:avLst/>
          </a:prstGeom>
          <a:noFill/>
          <a:ln/>
        </p:spPr>
        <p:txBody>
          <a:bodyPr wrap="square" lIns="0" tIns="0" rIns="0" bIns="0" rtlCol="0" anchor="ctr"/>
          <a:lstStyle/>
          <a:p>
            <a:pPr marL="0" indent="0">
              <a:buNone/>
            </a:pPr>
            <a:r>
              <a:rPr lang="en-US" sz="1000" dirty="0">
                <a:solidFill>
                  <a:srgbClr val="CBD5E1"/>
                </a:solidFill>
                <a:latin typeface="Calibri" pitchFamily="34" charset="0"/>
                <a:ea typeface="Calibri" pitchFamily="34" charset="-122"/>
                <a:cs typeface="Calibri" pitchFamily="34" charset="-120"/>
              </a:rPr>
              <a:t>95.77% of drugs have at least one documented side effect. Menopause drugs average 19 side effects per drug.</a:t>
            </a:r>
            <a:endParaRPr lang="en-US" sz="1000" dirty="0"/>
          </a:p>
        </p:txBody>
      </p:sp>
      <p:sp>
        <p:nvSpPr>
          <p:cNvPr id="24" name="Shape 22"/>
          <p:cNvSpPr/>
          <p:nvPr/>
        </p:nvSpPr>
        <p:spPr>
          <a:xfrm>
            <a:off x="365760" y="3703320"/>
            <a:ext cx="4023360" cy="1234440"/>
          </a:xfrm>
          <a:prstGeom prst="rect">
            <a:avLst/>
          </a:prstGeom>
          <a:solidFill>
            <a:srgbClr val="1F2937"/>
          </a:solidFill>
          <a:ln w="12700">
            <a:solidFill>
              <a:srgbClr val="333333"/>
            </a:solidFill>
            <a:prstDash val="solid"/>
          </a:ln>
          <a:effectLst>
            <a:outerShdw blurRad="101600" dist="38100" dir="8100000" algn="bl" rotWithShape="0">
              <a:srgbClr val="000000">
                <a:alpha val="25000"/>
              </a:srgbClr>
            </a:outerShdw>
          </a:effectLst>
        </p:spPr>
      </p:sp>
      <p:sp>
        <p:nvSpPr>
          <p:cNvPr id="25" name="Shape 23"/>
          <p:cNvSpPr/>
          <p:nvPr/>
        </p:nvSpPr>
        <p:spPr>
          <a:xfrm>
            <a:off x="365760" y="3703320"/>
            <a:ext cx="54864" cy="1234440"/>
          </a:xfrm>
          <a:prstGeom prst="rect">
            <a:avLst/>
          </a:prstGeom>
          <a:solidFill>
            <a:srgbClr val="8B5CF6"/>
          </a:solidFill>
          <a:ln w="12700">
            <a:solidFill>
              <a:srgbClr val="333333"/>
            </a:solidFill>
            <a:prstDash val="solid"/>
          </a:ln>
        </p:spPr>
      </p:sp>
      <p:sp>
        <p:nvSpPr>
          <p:cNvPr id="26" name="Text 24"/>
          <p:cNvSpPr/>
          <p:nvPr/>
        </p:nvSpPr>
        <p:spPr>
          <a:xfrm>
            <a:off x="502920" y="3749040"/>
            <a:ext cx="411480" cy="457200"/>
          </a:xfrm>
          <a:prstGeom prst="rect">
            <a:avLst/>
          </a:prstGeom>
          <a:noFill/>
          <a:ln/>
        </p:spPr>
        <p:txBody>
          <a:bodyPr wrap="square" lIns="0" tIns="0" rIns="0" bIns="0" rtlCol="0" anchor="ctr"/>
          <a:lstStyle/>
          <a:p>
            <a:pPr marL="0" indent="0">
              <a:buNone/>
            </a:pPr>
            <a:r>
              <a:rPr lang="en-US" sz="2000" b="1" dirty="0">
                <a:solidFill>
                  <a:srgbClr val="8B5CF6"/>
                </a:solidFill>
                <a:latin typeface="Arial Black" pitchFamily="34" charset="0"/>
                <a:ea typeface="Arial Black" pitchFamily="34" charset="-122"/>
                <a:cs typeface="Arial Black" pitchFamily="34" charset="-120"/>
              </a:rPr>
              <a:t>05</a:t>
            </a:r>
            <a:endParaRPr lang="en-US" sz="2000" dirty="0"/>
          </a:p>
        </p:txBody>
      </p:sp>
      <p:sp>
        <p:nvSpPr>
          <p:cNvPr id="27" name="Text 25"/>
          <p:cNvSpPr/>
          <p:nvPr/>
        </p:nvSpPr>
        <p:spPr>
          <a:xfrm>
            <a:off x="914400" y="3776472"/>
            <a:ext cx="3383280" cy="347472"/>
          </a:xfrm>
          <a:prstGeom prst="rect">
            <a:avLst/>
          </a:prstGeom>
          <a:noFill/>
          <a:ln/>
        </p:spPr>
        <p:txBody>
          <a:bodyPr wrap="square" lIns="0" tIns="0" rIns="0" bIns="0" rtlCol="0" anchor="ctr"/>
          <a:lstStyle/>
          <a:p>
            <a:pPr marL="0" indent="0">
              <a:buNone/>
            </a:pPr>
            <a:r>
              <a:rPr lang="en-US" sz="1200" b="1" dirty="0">
                <a:solidFill>
                  <a:srgbClr val="8B5CF6"/>
                </a:solidFill>
                <a:latin typeface="Arial" pitchFamily="34" charset="0"/>
                <a:ea typeface="Arial" pitchFamily="34" charset="-122"/>
                <a:cs typeface="Arial" pitchFamily="34" charset="-120"/>
              </a:rPr>
              <a:t>OTC Drugs Rated Higher</a:t>
            </a:r>
            <a:endParaRPr lang="en-US" sz="1200" dirty="0"/>
          </a:p>
        </p:txBody>
      </p:sp>
      <p:sp>
        <p:nvSpPr>
          <p:cNvPr id="28" name="Text 26"/>
          <p:cNvSpPr/>
          <p:nvPr/>
        </p:nvSpPr>
        <p:spPr>
          <a:xfrm>
            <a:off x="502920" y="4160520"/>
            <a:ext cx="3794760" cy="685800"/>
          </a:xfrm>
          <a:prstGeom prst="rect">
            <a:avLst/>
          </a:prstGeom>
          <a:noFill/>
          <a:ln/>
        </p:spPr>
        <p:txBody>
          <a:bodyPr wrap="square" lIns="0" tIns="0" rIns="0" bIns="0" rtlCol="0" anchor="ctr"/>
          <a:lstStyle/>
          <a:p>
            <a:pPr marL="0" indent="0">
              <a:buNone/>
            </a:pPr>
            <a:r>
              <a:rPr lang="en-US" sz="1000" dirty="0">
                <a:solidFill>
                  <a:srgbClr val="CBD5E1"/>
                </a:solidFill>
                <a:latin typeface="Calibri" pitchFamily="34" charset="0"/>
                <a:ea typeface="Calibri" pitchFamily="34" charset="-122"/>
                <a:cs typeface="Calibri" pitchFamily="34" charset="-120"/>
              </a:rPr>
              <a:t>Over-the-counter drugs (7.18 avg) score higher than prescription-only drugs (6.95), possibly due to lower severity of treated conditions.</a:t>
            </a:r>
            <a:endParaRPr lang="en-US" sz="1000" dirty="0"/>
          </a:p>
        </p:txBody>
      </p:sp>
      <p:sp>
        <p:nvSpPr>
          <p:cNvPr id="29" name="Shape 27"/>
          <p:cNvSpPr/>
          <p:nvPr/>
        </p:nvSpPr>
        <p:spPr>
          <a:xfrm>
            <a:off x="4754880" y="3703320"/>
            <a:ext cx="4023360" cy="1234440"/>
          </a:xfrm>
          <a:prstGeom prst="rect">
            <a:avLst/>
          </a:prstGeom>
          <a:solidFill>
            <a:srgbClr val="1F2937"/>
          </a:solidFill>
          <a:ln w="12700">
            <a:solidFill>
              <a:srgbClr val="333333"/>
            </a:solidFill>
            <a:prstDash val="solid"/>
          </a:ln>
          <a:effectLst>
            <a:outerShdw blurRad="101600" dist="38100" dir="8100000" algn="bl" rotWithShape="0">
              <a:srgbClr val="000000">
                <a:alpha val="25000"/>
              </a:srgbClr>
            </a:outerShdw>
          </a:effectLst>
        </p:spPr>
      </p:sp>
      <p:sp>
        <p:nvSpPr>
          <p:cNvPr id="30" name="Shape 28"/>
          <p:cNvSpPr/>
          <p:nvPr/>
        </p:nvSpPr>
        <p:spPr>
          <a:xfrm>
            <a:off x="4754880" y="3703320"/>
            <a:ext cx="54864" cy="1234440"/>
          </a:xfrm>
          <a:prstGeom prst="rect">
            <a:avLst/>
          </a:prstGeom>
          <a:solidFill>
            <a:srgbClr val="00B4D8"/>
          </a:solidFill>
          <a:ln w="12700">
            <a:solidFill>
              <a:srgbClr val="333333"/>
            </a:solidFill>
            <a:prstDash val="solid"/>
          </a:ln>
        </p:spPr>
      </p:sp>
      <p:sp>
        <p:nvSpPr>
          <p:cNvPr id="31" name="Text 29"/>
          <p:cNvSpPr/>
          <p:nvPr/>
        </p:nvSpPr>
        <p:spPr>
          <a:xfrm>
            <a:off x="4892040" y="3749040"/>
            <a:ext cx="411480" cy="457200"/>
          </a:xfrm>
          <a:prstGeom prst="rect">
            <a:avLst/>
          </a:prstGeom>
          <a:noFill/>
          <a:ln/>
        </p:spPr>
        <p:txBody>
          <a:bodyPr wrap="square" lIns="0" tIns="0" rIns="0" bIns="0" rtlCol="0" anchor="ctr"/>
          <a:lstStyle/>
          <a:p>
            <a:pPr marL="0" indent="0">
              <a:buNone/>
            </a:pPr>
            <a:r>
              <a:rPr lang="en-US" sz="2000" b="1" dirty="0">
                <a:solidFill>
                  <a:srgbClr val="00B4D8"/>
                </a:solidFill>
                <a:latin typeface="Arial Black" pitchFamily="34" charset="0"/>
                <a:ea typeface="Arial Black" pitchFamily="34" charset="-122"/>
                <a:cs typeface="Arial Black" pitchFamily="34" charset="-120"/>
              </a:rPr>
              <a:t>06</a:t>
            </a:r>
            <a:endParaRPr lang="en-US" sz="2000" dirty="0"/>
          </a:p>
        </p:txBody>
      </p:sp>
      <p:sp>
        <p:nvSpPr>
          <p:cNvPr id="32" name="Text 30"/>
          <p:cNvSpPr/>
          <p:nvPr/>
        </p:nvSpPr>
        <p:spPr>
          <a:xfrm>
            <a:off x="5303520" y="3776472"/>
            <a:ext cx="3383280" cy="347472"/>
          </a:xfrm>
          <a:prstGeom prst="rect">
            <a:avLst/>
          </a:prstGeom>
          <a:noFill/>
          <a:ln/>
        </p:spPr>
        <p:txBody>
          <a:bodyPr wrap="square" lIns="0" tIns="0" rIns="0" bIns="0" rtlCol="0" anchor="ctr"/>
          <a:lstStyle/>
          <a:p>
            <a:pPr marL="0" indent="0">
              <a:buNone/>
            </a:pPr>
            <a:r>
              <a:rPr lang="en-US" sz="1200" b="1" dirty="0">
                <a:solidFill>
                  <a:srgbClr val="00B4D8"/>
                </a:solidFill>
                <a:latin typeface="Arial" pitchFamily="34" charset="0"/>
                <a:ea typeface="Arial" pitchFamily="34" charset="-122"/>
                <a:cs typeface="Arial" pitchFamily="34" charset="-120"/>
              </a:rPr>
              <a:t>Eczema Has Best Ratings</a:t>
            </a:r>
            <a:endParaRPr lang="en-US" sz="1200" dirty="0"/>
          </a:p>
        </p:txBody>
      </p:sp>
      <p:sp>
        <p:nvSpPr>
          <p:cNvPr id="33" name="Text 31"/>
          <p:cNvSpPr/>
          <p:nvPr/>
        </p:nvSpPr>
        <p:spPr>
          <a:xfrm>
            <a:off x="4892040" y="4160520"/>
            <a:ext cx="3794760" cy="685800"/>
          </a:xfrm>
          <a:prstGeom prst="rect">
            <a:avLst/>
          </a:prstGeom>
          <a:noFill/>
          <a:ln/>
        </p:spPr>
        <p:txBody>
          <a:bodyPr wrap="square" lIns="0" tIns="0" rIns="0" bIns="0" rtlCol="0" anchor="ctr"/>
          <a:lstStyle/>
          <a:p>
            <a:pPr marL="0" indent="0">
              <a:buNone/>
            </a:pPr>
            <a:r>
              <a:rPr lang="en-US" sz="1000" dirty="0">
                <a:solidFill>
                  <a:srgbClr val="CBD5E1"/>
                </a:solidFill>
                <a:latin typeface="Calibri" pitchFamily="34" charset="0"/>
                <a:ea typeface="Calibri" pitchFamily="34" charset="-122"/>
                <a:cs typeface="Calibri" pitchFamily="34" charset="-120"/>
              </a:rPr>
              <a:t>Eczema treatment drugs have the highest average patient rating (8.75), while AIDS/HIV drugs rank among the lowest.</a:t>
            </a:r>
            <a:endParaRPr lang="en-US" sz="1000" dirty="0"/>
          </a:p>
        </p:txBody>
      </p:sp>
      <p:sp>
        <p:nvSpPr>
          <p:cNvPr id="34" name="Shape 32"/>
          <p:cNvSpPr/>
          <p:nvPr/>
        </p:nvSpPr>
        <p:spPr>
          <a:xfrm>
            <a:off x="0" y="5070348"/>
            <a:ext cx="9144000" cy="73152"/>
          </a:xfrm>
          <a:prstGeom prst="rect">
            <a:avLst/>
          </a:prstGeom>
          <a:solidFill>
            <a:srgbClr val="8B5CF6"/>
          </a:solidFill>
          <a:ln w="12700">
            <a:solidFill>
              <a:srgbClr val="333333"/>
            </a:solidFill>
            <a:prstDash val="solid"/>
          </a:ln>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0B4D8"/>
          </a:solidFill>
          <a:ln w="12700">
            <a:solidFill>
              <a:srgbClr val="333333"/>
            </a:solidFill>
            <a:prstDash val="solid"/>
          </a:ln>
        </p:spPr>
      </p:sp>
      <p:sp>
        <p:nvSpPr>
          <p:cNvPr id="3" name="Text 1"/>
          <p:cNvSpPr/>
          <p:nvPr/>
        </p:nvSpPr>
        <p:spPr>
          <a:xfrm>
            <a:off x="457200" y="182880"/>
            <a:ext cx="8229600" cy="594360"/>
          </a:xfrm>
          <a:prstGeom prst="rect">
            <a:avLst/>
          </a:prstGeom>
          <a:noFill/>
          <a:ln/>
        </p:spPr>
        <p:txBody>
          <a:bodyPr wrap="square" rtlCol="0" anchor="ctr"/>
          <a:lstStyle/>
          <a:p>
            <a:pPr marL="0" indent="0">
              <a:buNone/>
            </a:pPr>
            <a:r>
              <a:rPr lang="en-US" sz="3600" b="1" dirty="0">
                <a:solidFill>
                  <a:srgbClr val="FFFFFF"/>
                </a:solidFill>
                <a:latin typeface="Arial Black" pitchFamily="34" charset="0"/>
                <a:ea typeface="Arial Black" pitchFamily="34" charset="-122"/>
                <a:cs typeface="Arial Black" pitchFamily="34" charset="-120"/>
              </a:rPr>
              <a:t>Conclusion</a:t>
            </a:r>
            <a:endParaRPr lang="en-US" sz="3600" dirty="0"/>
          </a:p>
        </p:txBody>
      </p:sp>
      <p:sp>
        <p:nvSpPr>
          <p:cNvPr id="4" name="Shape 2"/>
          <p:cNvSpPr/>
          <p:nvPr/>
        </p:nvSpPr>
        <p:spPr>
          <a:xfrm>
            <a:off x="365760" y="914400"/>
            <a:ext cx="8412480" cy="1371600"/>
          </a:xfrm>
          <a:prstGeom prst="rect">
            <a:avLst/>
          </a:prstGeom>
          <a:solidFill>
            <a:srgbClr val="1F2937"/>
          </a:solidFill>
          <a:ln w="12700">
            <a:solidFill>
              <a:srgbClr val="333333"/>
            </a:solidFill>
            <a:prstDash val="solid"/>
          </a:ln>
          <a:effectLst>
            <a:outerShdw blurRad="101600" dist="38100" dir="8100000" algn="bl" rotWithShape="0">
              <a:srgbClr val="000000">
                <a:alpha val="25000"/>
              </a:srgbClr>
            </a:outerShdw>
          </a:effectLst>
        </p:spPr>
      </p:sp>
      <p:sp>
        <p:nvSpPr>
          <p:cNvPr id="5" name="Shape 3"/>
          <p:cNvSpPr/>
          <p:nvPr/>
        </p:nvSpPr>
        <p:spPr>
          <a:xfrm>
            <a:off x="365760" y="914400"/>
            <a:ext cx="64008" cy="1371600"/>
          </a:xfrm>
          <a:prstGeom prst="rect">
            <a:avLst/>
          </a:prstGeom>
          <a:solidFill>
            <a:srgbClr val="00B4D8"/>
          </a:solidFill>
          <a:ln w="12700">
            <a:solidFill>
              <a:srgbClr val="333333"/>
            </a:solidFill>
            <a:prstDash val="solid"/>
          </a:ln>
        </p:spPr>
      </p:sp>
      <p:sp>
        <p:nvSpPr>
          <p:cNvPr id="6" name="Text 4"/>
          <p:cNvSpPr/>
          <p:nvPr/>
        </p:nvSpPr>
        <p:spPr>
          <a:xfrm>
            <a:off x="548640" y="1005840"/>
            <a:ext cx="8046720" cy="1143000"/>
          </a:xfrm>
          <a:prstGeom prst="rect">
            <a:avLst/>
          </a:prstGeom>
          <a:noFill/>
          <a:ln/>
        </p:spPr>
        <p:txBody>
          <a:bodyPr wrap="square" lIns="0" tIns="0" rIns="0" bIns="0" rtlCol="0" anchor="ctr"/>
          <a:lstStyle/>
          <a:p>
            <a:pPr marL="0" indent="0">
              <a:buNone/>
            </a:pPr>
            <a:r>
              <a:rPr lang="en-US" sz="1150" dirty="0">
                <a:solidFill>
                  <a:srgbClr val="CBD5E1"/>
                </a:solidFill>
                <a:latin typeface="Calibri" pitchFamily="34" charset="0"/>
                <a:ea typeface="Calibri" pitchFamily="34" charset="-122"/>
                <a:cs typeface="Calibri" pitchFamily="34" charset="-120"/>
              </a:rPr>
              <a:t>This analysis reveals that the pharmaceutical landscape is complex, with significant implications for patient safety. The data shows that drug safety during pregnancy is extremely limited, alcohol interactions are widespread, and side effects are nearly universal. Power BI enabled us to transform raw data into an interactive, multi-page dashboard that makes these insights accessible and actionable.</a:t>
            </a:r>
            <a:endParaRPr lang="en-US" sz="1150" dirty="0"/>
          </a:p>
        </p:txBody>
      </p:sp>
      <p:sp>
        <p:nvSpPr>
          <p:cNvPr id="7" name="Text 5"/>
          <p:cNvSpPr/>
          <p:nvPr/>
        </p:nvSpPr>
        <p:spPr>
          <a:xfrm>
            <a:off x="365760" y="2423160"/>
            <a:ext cx="3657600" cy="320040"/>
          </a:xfrm>
          <a:prstGeom prst="rect">
            <a:avLst/>
          </a:prstGeom>
          <a:noFill/>
          <a:ln/>
        </p:spPr>
        <p:txBody>
          <a:bodyPr wrap="square" lIns="0" tIns="0" rIns="0" bIns="0" rtlCol="0" anchor="ctr"/>
          <a:lstStyle/>
          <a:p>
            <a:pPr marL="0" indent="0">
              <a:buNone/>
            </a:pPr>
            <a:r>
              <a:rPr lang="en-US" sz="1300" b="1" dirty="0">
                <a:solidFill>
                  <a:srgbClr val="FFFFFF"/>
                </a:solidFill>
                <a:latin typeface="Arial" pitchFamily="34" charset="0"/>
                <a:ea typeface="Arial" pitchFamily="34" charset="-122"/>
                <a:cs typeface="Arial" pitchFamily="34" charset="-120"/>
              </a:rPr>
              <a:t>Recommendations</a:t>
            </a:r>
            <a:endParaRPr lang="en-US" sz="1300" dirty="0"/>
          </a:p>
        </p:txBody>
      </p:sp>
      <p:sp>
        <p:nvSpPr>
          <p:cNvPr id="8" name="Shape 6"/>
          <p:cNvSpPr/>
          <p:nvPr/>
        </p:nvSpPr>
        <p:spPr>
          <a:xfrm>
            <a:off x="365760" y="2816352"/>
            <a:ext cx="4023360" cy="402336"/>
          </a:xfrm>
          <a:prstGeom prst="rect">
            <a:avLst/>
          </a:prstGeom>
          <a:solidFill>
            <a:srgbClr val="1F2937"/>
          </a:solidFill>
          <a:ln w="12700">
            <a:solidFill>
              <a:srgbClr val="333333"/>
            </a:solidFill>
            <a:prstDash val="solid"/>
          </a:ln>
        </p:spPr>
      </p:sp>
      <p:sp>
        <p:nvSpPr>
          <p:cNvPr id="9" name="Shape 7"/>
          <p:cNvSpPr/>
          <p:nvPr/>
        </p:nvSpPr>
        <p:spPr>
          <a:xfrm>
            <a:off x="365760" y="2816352"/>
            <a:ext cx="54864" cy="402336"/>
          </a:xfrm>
          <a:prstGeom prst="rect">
            <a:avLst/>
          </a:prstGeom>
          <a:solidFill>
            <a:srgbClr val="10B981"/>
          </a:solidFill>
          <a:ln w="12700">
            <a:solidFill>
              <a:srgbClr val="333333"/>
            </a:solidFill>
            <a:prstDash val="solid"/>
          </a:ln>
        </p:spPr>
      </p:sp>
      <p:sp>
        <p:nvSpPr>
          <p:cNvPr id="10" name="Text 8"/>
          <p:cNvSpPr/>
          <p:nvPr/>
        </p:nvSpPr>
        <p:spPr>
          <a:xfrm>
            <a:off x="502920" y="2834640"/>
            <a:ext cx="3794760" cy="365760"/>
          </a:xfrm>
          <a:prstGeom prst="rect">
            <a:avLst/>
          </a:prstGeom>
          <a:noFill/>
          <a:ln/>
        </p:spPr>
        <p:txBody>
          <a:bodyPr wrap="square" lIns="0" tIns="0" rIns="0" bIns="0" rtlCol="0" anchor="ctr"/>
          <a:lstStyle/>
          <a:p>
            <a:pPr marL="0" indent="0">
              <a:buNone/>
            </a:pPr>
            <a:r>
              <a:rPr lang="en-US" sz="950" dirty="0">
                <a:solidFill>
                  <a:srgbClr val="CBD5E1"/>
                </a:solidFill>
                <a:latin typeface="Calibri" pitchFamily="34" charset="0"/>
                <a:ea typeface="Calibri" pitchFamily="34" charset="-122"/>
                <a:cs typeface="Calibri" pitchFamily="34" charset="-120"/>
              </a:rPr>
              <a:t>Pregnant patients should consult doctors before taking any drug — only 18 are fully safe</a:t>
            </a:r>
            <a:endParaRPr lang="en-US" sz="950" dirty="0"/>
          </a:p>
        </p:txBody>
      </p:sp>
      <p:sp>
        <p:nvSpPr>
          <p:cNvPr id="11" name="Shape 9"/>
          <p:cNvSpPr/>
          <p:nvPr/>
        </p:nvSpPr>
        <p:spPr>
          <a:xfrm>
            <a:off x="365760" y="3291840"/>
            <a:ext cx="4023360" cy="402336"/>
          </a:xfrm>
          <a:prstGeom prst="rect">
            <a:avLst/>
          </a:prstGeom>
          <a:solidFill>
            <a:srgbClr val="1F2937"/>
          </a:solidFill>
          <a:ln w="12700">
            <a:solidFill>
              <a:srgbClr val="333333"/>
            </a:solidFill>
            <a:prstDash val="solid"/>
          </a:ln>
        </p:spPr>
      </p:sp>
      <p:sp>
        <p:nvSpPr>
          <p:cNvPr id="12" name="Shape 10"/>
          <p:cNvSpPr/>
          <p:nvPr/>
        </p:nvSpPr>
        <p:spPr>
          <a:xfrm>
            <a:off x="365760" y="3291840"/>
            <a:ext cx="54864" cy="402336"/>
          </a:xfrm>
          <a:prstGeom prst="rect">
            <a:avLst/>
          </a:prstGeom>
          <a:solidFill>
            <a:srgbClr val="F59E0B"/>
          </a:solidFill>
          <a:ln w="12700">
            <a:solidFill>
              <a:srgbClr val="333333"/>
            </a:solidFill>
            <a:prstDash val="solid"/>
          </a:ln>
        </p:spPr>
      </p:sp>
      <p:sp>
        <p:nvSpPr>
          <p:cNvPr id="13" name="Text 11"/>
          <p:cNvSpPr/>
          <p:nvPr/>
        </p:nvSpPr>
        <p:spPr>
          <a:xfrm>
            <a:off x="502920" y="3310128"/>
            <a:ext cx="3794760" cy="365760"/>
          </a:xfrm>
          <a:prstGeom prst="rect">
            <a:avLst/>
          </a:prstGeom>
          <a:noFill/>
          <a:ln/>
        </p:spPr>
        <p:txBody>
          <a:bodyPr wrap="square" lIns="0" tIns="0" rIns="0" bIns="0" rtlCol="0" anchor="ctr"/>
          <a:lstStyle/>
          <a:p>
            <a:pPr marL="0" indent="0">
              <a:buNone/>
            </a:pPr>
            <a:r>
              <a:rPr lang="en-US" sz="950" dirty="0">
                <a:solidFill>
                  <a:srgbClr val="CBD5E1"/>
                </a:solidFill>
                <a:latin typeface="Calibri" pitchFamily="34" charset="0"/>
                <a:ea typeface="Calibri" pitchFamily="34" charset="-122"/>
                <a:cs typeface="Calibri" pitchFamily="34" charset="-120"/>
              </a:rPr>
              <a:t>Avoid alcohol when on any medication — 47% of drugs have dangerous interactions</a:t>
            </a:r>
            <a:endParaRPr lang="en-US" sz="950" dirty="0"/>
          </a:p>
        </p:txBody>
      </p:sp>
      <p:sp>
        <p:nvSpPr>
          <p:cNvPr id="14" name="Shape 12"/>
          <p:cNvSpPr/>
          <p:nvPr/>
        </p:nvSpPr>
        <p:spPr>
          <a:xfrm>
            <a:off x="365760" y="3767328"/>
            <a:ext cx="4023360" cy="402336"/>
          </a:xfrm>
          <a:prstGeom prst="rect">
            <a:avLst/>
          </a:prstGeom>
          <a:solidFill>
            <a:srgbClr val="1F2937"/>
          </a:solidFill>
          <a:ln w="12700">
            <a:solidFill>
              <a:srgbClr val="333333"/>
            </a:solidFill>
            <a:prstDash val="solid"/>
          </a:ln>
        </p:spPr>
      </p:sp>
      <p:sp>
        <p:nvSpPr>
          <p:cNvPr id="15" name="Shape 13"/>
          <p:cNvSpPr/>
          <p:nvPr/>
        </p:nvSpPr>
        <p:spPr>
          <a:xfrm>
            <a:off x="365760" y="3767328"/>
            <a:ext cx="54864" cy="402336"/>
          </a:xfrm>
          <a:prstGeom prst="rect">
            <a:avLst/>
          </a:prstGeom>
          <a:solidFill>
            <a:srgbClr val="00B4D8"/>
          </a:solidFill>
          <a:ln w="12700">
            <a:solidFill>
              <a:srgbClr val="333333"/>
            </a:solidFill>
            <a:prstDash val="solid"/>
          </a:ln>
        </p:spPr>
      </p:sp>
      <p:sp>
        <p:nvSpPr>
          <p:cNvPr id="16" name="Text 14"/>
          <p:cNvSpPr/>
          <p:nvPr/>
        </p:nvSpPr>
        <p:spPr>
          <a:xfrm>
            <a:off x="502920" y="3785616"/>
            <a:ext cx="3794760" cy="365760"/>
          </a:xfrm>
          <a:prstGeom prst="rect">
            <a:avLst/>
          </a:prstGeom>
          <a:noFill/>
          <a:ln/>
        </p:spPr>
        <p:txBody>
          <a:bodyPr wrap="square" lIns="0" tIns="0" rIns="0" bIns="0" rtlCol="0" anchor="ctr"/>
          <a:lstStyle/>
          <a:p>
            <a:pPr marL="0" indent="0">
              <a:buNone/>
            </a:pPr>
            <a:r>
              <a:rPr lang="en-US" sz="950" dirty="0">
                <a:solidFill>
                  <a:srgbClr val="CBD5E1"/>
                </a:solidFill>
                <a:latin typeface="Calibri" pitchFamily="34" charset="0"/>
                <a:ea typeface="Calibri" pitchFamily="34" charset="-122"/>
                <a:cs typeface="Calibri" pitchFamily="34" charset="-120"/>
              </a:rPr>
              <a:t>OTC drugs have higher patient ratings but this doesn't mean they are safer</a:t>
            </a:r>
            <a:endParaRPr lang="en-US" sz="950" dirty="0"/>
          </a:p>
        </p:txBody>
      </p:sp>
      <p:sp>
        <p:nvSpPr>
          <p:cNvPr id="17" name="Shape 15"/>
          <p:cNvSpPr/>
          <p:nvPr/>
        </p:nvSpPr>
        <p:spPr>
          <a:xfrm>
            <a:off x="365760" y="4242816"/>
            <a:ext cx="4023360" cy="402336"/>
          </a:xfrm>
          <a:prstGeom prst="rect">
            <a:avLst/>
          </a:prstGeom>
          <a:solidFill>
            <a:srgbClr val="1F2937"/>
          </a:solidFill>
          <a:ln w="12700">
            <a:solidFill>
              <a:srgbClr val="333333"/>
            </a:solidFill>
            <a:prstDash val="solid"/>
          </a:ln>
        </p:spPr>
      </p:sp>
      <p:sp>
        <p:nvSpPr>
          <p:cNvPr id="18" name="Shape 16"/>
          <p:cNvSpPr/>
          <p:nvPr/>
        </p:nvSpPr>
        <p:spPr>
          <a:xfrm>
            <a:off x="365760" y="4242816"/>
            <a:ext cx="54864" cy="402336"/>
          </a:xfrm>
          <a:prstGeom prst="rect">
            <a:avLst/>
          </a:prstGeom>
          <a:solidFill>
            <a:srgbClr val="EF4444"/>
          </a:solidFill>
          <a:ln w="12700">
            <a:solidFill>
              <a:srgbClr val="333333"/>
            </a:solidFill>
            <a:prstDash val="solid"/>
          </a:ln>
        </p:spPr>
      </p:sp>
      <p:sp>
        <p:nvSpPr>
          <p:cNvPr id="19" name="Text 17"/>
          <p:cNvSpPr/>
          <p:nvPr/>
        </p:nvSpPr>
        <p:spPr>
          <a:xfrm>
            <a:off x="502920" y="4261104"/>
            <a:ext cx="3794760" cy="365760"/>
          </a:xfrm>
          <a:prstGeom prst="rect">
            <a:avLst/>
          </a:prstGeom>
          <a:noFill/>
          <a:ln/>
        </p:spPr>
        <p:txBody>
          <a:bodyPr wrap="square" lIns="0" tIns="0" rIns="0" bIns="0" rtlCol="0" anchor="ctr"/>
          <a:lstStyle/>
          <a:p>
            <a:pPr marL="0" indent="0">
              <a:buNone/>
            </a:pPr>
            <a:r>
              <a:rPr lang="en-US" sz="950" dirty="0">
                <a:solidFill>
                  <a:srgbClr val="CBD5E1"/>
                </a:solidFill>
                <a:latin typeface="Calibri" pitchFamily="34" charset="0"/>
                <a:ea typeface="Calibri" pitchFamily="34" charset="-122"/>
                <a:cs typeface="Calibri" pitchFamily="34" charset="-120"/>
              </a:rPr>
              <a:t>Mental health drugs (schizophrenia, bipolar) carry the highest side effect burden</a:t>
            </a:r>
            <a:endParaRPr lang="en-US" sz="950" dirty="0"/>
          </a:p>
        </p:txBody>
      </p:sp>
      <p:sp>
        <p:nvSpPr>
          <p:cNvPr id="20" name="Text 18"/>
          <p:cNvSpPr/>
          <p:nvPr/>
        </p:nvSpPr>
        <p:spPr>
          <a:xfrm>
            <a:off x="4754880" y="2423160"/>
            <a:ext cx="4023360" cy="320040"/>
          </a:xfrm>
          <a:prstGeom prst="rect">
            <a:avLst/>
          </a:prstGeom>
          <a:noFill/>
          <a:ln/>
        </p:spPr>
        <p:txBody>
          <a:bodyPr wrap="square" lIns="0" tIns="0" rIns="0" bIns="0" rtlCol="0" anchor="ctr"/>
          <a:lstStyle/>
          <a:p>
            <a:pPr marL="0" indent="0">
              <a:buNone/>
            </a:pPr>
            <a:r>
              <a:rPr lang="en-US" sz="1300" b="1" dirty="0">
                <a:solidFill>
                  <a:srgbClr val="FFFFFF"/>
                </a:solidFill>
                <a:latin typeface="Arial" pitchFamily="34" charset="0"/>
                <a:ea typeface="Arial" pitchFamily="34" charset="-122"/>
                <a:cs typeface="Arial" pitchFamily="34" charset="-120"/>
              </a:rPr>
              <a:t>Tools &amp; Stack</a:t>
            </a:r>
            <a:endParaRPr lang="en-US" sz="1300" dirty="0"/>
          </a:p>
        </p:txBody>
      </p:sp>
      <p:sp>
        <p:nvSpPr>
          <p:cNvPr id="21" name="Shape 19"/>
          <p:cNvSpPr/>
          <p:nvPr/>
        </p:nvSpPr>
        <p:spPr>
          <a:xfrm>
            <a:off x="4754880" y="2816352"/>
            <a:ext cx="4023360" cy="402336"/>
          </a:xfrm>
          <a:prstGeom prst="rect">
            <a:avLst/>
          </a:prstGeom>
          <a:solidFill>
            <a:srgbClr val="1F2937"/>
          </a:solidFill>
          <a:ln w="12700">
            <a:solidFill>
              <a:srgbClr val="333333"/>
            </a:solidFill>
            <a:prstDash val="solid"/>
          </a:ln>
        </p:spPr>
      </p:sp>
      <p:sp>
        <p:nvSpPr>
          <p:cNvPr id="22" name="Shape 20"/>
          <p:cNvSpPr/>
          <p:nvPr/>
        </p:nvSpPr>
        <p:spPr>
          <a:xfrm>
            <a:off x="4754880" y="2816352"/>
            <a:ext cx="54864" cy="402336"/>
          </a:xfrm>
          <a:prstGeom prst="rect">
            <a:avLst/>
          </a:prstGeom>
          <a:solidFill>
            <a:srgbClr val="00B4D8"/>
          </a:solidFill>
          <a:ln w="12700">
            <a:solidFill>
              <a:srgbClr val="333333"/>
            </a:solidFill>
            <a:prstDash val="solid"/>
          </a:ln>
        </p:spPr>
      </p:sp>
      <p:sp>
        <p:nvSpPr>
          <p:cNvPr id="23" name="Text 21"/>
          <p:cNvSpPr/>
          <p:nvPr/>
        </p:nvSpPr>
        <p:spPr>
          <a:xfrm>
            <a:off x="4892040" y="2852928"/>
            <a:ext cx="1645920" cy="329184"/>
          </a:xfrm>
          <a:prstGeom prst="rect">
            <a:avLst/>
          </a:prstGeom>
          <a:noFill/>
          <a:ln/>
        </p:spPr>
        <p:txBody>
          <a:bodyPr wrap="square" lIns="0" tIns="0" rIns="0" bIns="0" rtlCol="0" anchor="ctr"/>
          <a:lstStyle/>
          <a:p>
            <a:pPr marL="0" indent="0">
              <a:buNone/>
            </a:pPr>
            <a:r>
              <a:rPr lang="en-US" sz="1000" b="1" dirty="0">
                <a:solidFill>
                  <a:srgbClr val="00B4D8"/>
                </a:solidFill>
                <a:latin typeface="Arial" pitchFamily="34" charset="0"/>
                <a:ea typeface="Arial" pitchFamily="34" charset="-122"/>
                <a:cs typeface="Arial" pitchFamily="34" charset="-120"/>
              </a:rPr>
              <a:t>Python / Pandas</a:t>
            </a:r>
            <a:endParaRPr lang="en-US" sz="1000" dirty="0"/>
          </a:p>
        </p:txBody>
      </p:sp>
      <p:sp>
        <p:nvSpPr>
          <p:cNvPr id="24" name="Text 22"/>
          <p:cNvSpPr/>
          <p:nvPr/>
        </p:nvSpPr>
        <p:spPr>
          <a:xfrm>
            <a:off x="6492240" y="2871216"/>
            <a:ext cx="2194560" cy="329184"/>
          </a:xfrm>
          <a:prstGeom prst="rect">
            <a:avLst/>
          </a:prstGeom>
          <a:noFill/>
          <a:ln/>
        </p:spPr>
        <p:txBody>
          <a:bodyPr wrap="square" lIns="0" tIns="0" rIns="0" bIns="0" rtlCol="0" anchor="ctr"/>
          <a:lstStyle/>
          <a:p>
            <a:pPr marL="0" indent="0">
              <a:buNone/>
            </a:pPr>
            <a:r>
              <a:rPr lang="en-US" sz="950" dirty="0">
                <a:solidFill>
                  <a:srgbClr val="CBD5E1"/>
                </a:solidFill>
                <a:latin typeface="Calibri" pitchFamily="34" charset="0"/>
                <a:ea typeface="Calibri" pitchFamily="34" charset="-122"/>
                <a:cs typeface="Calibri" pitchFamily="34" charset="-120"/>
              </a:rPr>
              <a:t>Data cleaning &amp; null handling</a:t>
            </a:r>
            <a:endParaRPr lang="en-US" sz="950" dirty="0"/>
          </a:p>
        </p:txBody>
      </p:sp>
      <p:sp>
        <p:nvSpPr>
          <p:cNvPr id="29" name="Shape 27"/>
          <p:cNvSpPr/>
          <p:nvPr/>
        </p:nvSpPr>
        <p:spPr>
          <a:xfrm>
            <a:off x="4754880" y="3289554"/>
            <a:ext cx="4023360" cy="402336"/>
          </a:xfrm>
          <a:prstGeom prst="rect">
            <a:avLst/>
          </a:prstGeom>
          <a:solidFill>
            <a:srgbClr val="1F2937"/>
          </a:solidFill>
          <a:ln w="12700">
            <a:solidFill>
              <a:srgbClr val="333333"/>
            </a:solidFill>
            <a:prstDash val="solid"/>
          </a:ln>
        </p:spPr>
      </p:sp>
      <p:sp>
        <p:nvSpPr>
          <p:cNvPr id="30" name="Shape 28"/>
          <p:cNvSpPr/>
          <p:nvPr/>
        </p:nvSpPr>
        <p:spPr>
          <a:xfrm>
            <a:off x="4754880" y="3289554"/>
            <a:ext cx="54864" cy="402336"/>
          </a:xfrm>
          <a:prstGeom prst="rect">
            <a:avLst/>
          </a:prstGeom>
          <a:solidFill>
            <a:srgbClr val="F59E0B"/>
          </a:solidFill>
          <a:ln w="12700">
            <a:solidFill>
              <a:srgbClr val="333333"/>
            </a:solidFill>
            <a:prstDash val="solid"/>
          </a:ln>
        </p:spPr>
      </p:sp>
      <p:sp>
        <p:nvSpPr>
          <p:cNvPr id="31" name="Text 29"/>
          <p:cNvSpPr/>
          <p:nvPr/>
        </p:nvSpPr>
        <p:spPr>
          <a:xfrm>
            <a:off x="4892040" y="3327117"/>
            <a:ext cx="1645920" cy="329184"/>
          </a:xfrm>
          <a:prstGeom prst="rect">
            <a:avLst/>
          </a:prstGeom>
          <a:noFill/>
          <a:ln/>
        </p:spPr>
        <p:txBody>
          <a:bodyPr wrap="square" lIns="0" tIns="0" rIns="0" bIns="0" rtlCol="0" anchor="ctr"/>
          <a:lstStyle/>
          <a:p>
            <a:pPr marL="0" indent="0">
              <a:buNone/>
            </a:pPr>
            <a:r>
              <a:rPr lang="en-US" sz="1000" b="1" dirty="0">
                <a:solidFill>
                  <a:srgbClr val="F59E0B"/>
                </a:solidFill>
                <a:latin typeface="Arial" pitchFamily="34" charset="0"/>
                <a:ea typeface="Arial" pitchFamily="34" charset="-122"/>
                <a:cs typeface="Arial" pitchFamily="34" charset="-120"/>
              </a:rPr>
              <a:t>Power BI Desktop</a:t>
            </a:r>
            <a:endParaRPr lang="en-US" sz="1000" dirty="0"/>
          </a:p>
        </p:txBody>
      </p:sp>
      <p:sp>
        <p:nvSpPr>
          <p:cNvPr id="32" name="Text 30"/>
          <p:cNvSpPr/>
          <p:nvPr/>
        </p:nvSpPr>
        <p:spPr>
          <a:xfrm>
            <a:off x="6492240" y="3325803"/>
            <a:ext cx="2194560" cy="329184"/>
          </a:xfrm>
          <a:prstGeom prst="rect">
            <a:avLst/>
          </a:prstGeom>
          <a:noFill/>
          <a:ln/>
        </p:spPr>
        <p:txBody>
          <a:bodyPr wrap="square" lIns="0" tIns="0" rIns="0" bIns="0" rtlCol="0" anchor="ctr"/>
          <a:lstStyle/>
          <a:p>
            <a:pPr marL="0" indent="0">
              <a:buNone/>
            </a:pPr>
            <a:r>
              <a:rPr lang="en-US" sz="950" dirty="0">
                <a:solidFill>
                  <a:srgbClr val="CBD5E1"/>
                </a:solidFill>
                <a:latin typeface="Calibri" pitchFamily="34" charset="0"/>
                <a:ea typeface="Calibri" pitchFamily="34" charset="-122"/>
                <a:cs typeface="Calibri" pitchFamily="34" charset="-120"/>
              </a:rPr>
              <a:t>Interactive 4-page dashboard</a:t>
            </a:r>
            <a:endParaRPr lang="en-US" sz="950" dirty="0"/>
          </a:p>
        </p:txBody>
      </p:sp>
      <p:sp>
        <p:nvSpPr>
          <p:cNvPr id="33" name="Shape 31"/>
          <p:cNvSpPr/>
          <p:nvPr/>
        </p:nvSpPr>
        <p:spPr>
          <a:xfrm>
            <a:off x="4754880" y="3772553"/>
            <a:ext cx="4023360" cy="402336"/>
          </a:xfrm>
          <a:prstGeom prst="rect">
            <a:avLst/>
          </a:prstGeom>
          <a:solidFill>
            <a:srgbClr val="1F2937"/>
          </a:solidFill>
          <a:ln w="12700">
            <a:solidFill>
              <a:srgbClr val="333333"/>
            </a:solidFill>
            <a:prstDash val="solid"/>
          </a:ln>
        </p:spPr>
      </p:sp>
      <p:sp>
        <p:nvSpPr>
          <p:cNvPr id="34" name="Shape 32"/>
          <p:cNvSpPr/>
          <p:nvPr/>
        </p:nvSpPr>
        <p:spPr>
          <a:xfrm>
            <a:off x="4754880" y="3767328"/>
            <a:ext cx="54864" cy="402336"/>
          </a:xfrm>
          <a:prstGeom prst="rect">
            <a:avLst/>
          </a:prstGeom>
          <a:solidFill>
            <a:srgbClr val="8B5CF6"/>
          </a:solidFill>
          <a:ln w="12700">
            <a:solidFill>
              <a:srgbClr val="333333"/>
            </a:solidFill>
            <a:prstDash val="solid"/>
          </a:ln>
        </p:spPr>
      </p:sp>
      <p:sp>
        <p:nvSpPr>
          <p:cNvPr id="35" name="Text 33"/>
          <p:cNvSpPr/>
          <p:nvPr/>
        </p:nvSpPr>
        <p:spPr>
          <a:xfrm>
            <a:off x="4892040" y="3809127"/>
            <a:ext cx="1645920" cy="329184"/>
          </a:xfrm>
          <a:prstGeom prst="rect">
            <a:avLst/>
          </a:prstGeom>
          <a:noFill/>
          <a:ln/>
        </p:spPr>
        <p:txBody>
          <a:bodyPr wrap="square" lIns="0" tIns="0" rIns="0" bIns="0" rtlCol="0" anchor="ctr"/>
          <a:lstStyle/>
          <a:p>
            <a:pPr marL="0" indent="0">
              <a:buNone/>
            </a:pPr>
            <a:r>
              <a:rPr lang="en-US" sz="1000" b="1" dirty="0">
                <a:solidFill>
                  <a:srgbClr val="8B5CF6"/>
                </a:solidFill>
                <a:latin typeface="Arial" pitchFamily="34" charset="0"/>
                <a:ea typeface="Arial" pitchFamily="34" charset="-122"/>
                <a:cs typeface="Arial" pitchFamily="34" charset="-120"/>
              </a:rPr>
              <a:t>DAX Measures</a:t>
            </a:r>
            <a:endParaRPr lang="en-US" sz="1000" dirty="0"/>
          </a:p>
        </p:txBody>
      </p:sp>
      <p:sp>
        <p:nvSpPr>
          <p:cNvPr id="36" name="Text 34"/>
          <p:cNvSpPr/>
          <p:nvPr/>
        </p:nvSpPr>
        <p:spPr>
          <a:xfrm>
            <a:off x="6492240" y="3807834"/>
            <a:ext cx="2194560" cy="329184"/>
          </a:xfrm>
          <a:prstGeom prst="rect">
            <a:avLst/>
          </a:prstGeom>
          <a:noFill/>
          <a:ln/>
        </p:spPr>
        <p:txBody>
          <a:bodyPr wrap="square" lIns="0" tIns="0" rIns="0" bIns="0" rtlCol="0" anchor="ctr"/>
          <a:lstStyle/>
          <a:p>
            <a:pPr marL="0" indent="0">
              <a:buNone/>
            </a:pPr>
            <a:r>
              <a:rPr lang="en-US" sz="950" dirty="0">
                <a:solidFill>
                  <a:srgbClr val="CBD5E1"/>
                </a:solidFill>
                <a:latin typeface="Calibri" pitchFamily="34" charset="0"/>
                <a:ea typeface="Calibri" pitchFamily="34" charset="-122"/>
                <a:cs typeface="Calibri" pitchFamily="34" charset="-120"/>
              </a:rPr>
              <a:t>Dynamic KPI calculations</a:t>
            </a:r>
            <a:endParaRPr lang="en-US" sz="950" dirty="0"/>
          </a:p>
        </p:txBody>
      </p:sp>
      <p:sp>
        <p:nvSpPr>
          <p:cNvPr id="37" name="Shape 35"/>
          <p:cNvSpPr/>
          <p:nvPr/>
        </p:nvSpPr>
        <p:spPr>
          <a:xfrm>
            <a:off x="4754880" y="4242816"/>
            <a:ext cx="4023360" cy="402336"/>
          </a:xfrm>
          <a:prstGeom prst="rect">
            <a:avLst/>
          </a:prstGeom>
          <a:solidFill>
            <a:srgbClr val="1F2937"/>
          </a:solidFill>
          <a:ln w="12700">
            <a:solidFill>
              <a:srgbClr val="333333"/>
            </a:solidFill>
            <a:prstDash val="solid"/>
          </a:ln>
        </p:spPr>
      </p:sp>
      <p:sp>
        <p:nvSpPr>
          <p:cNvPr id="38" name="Shape 36"/>
          <p:cNvSpPr/>
          <p:nvPr/>
        </p:nvSpPr>
        <p:spPr>
          <a:xfrm>
            <a:off x="4762718" y="4261104"/>
            <a:ext cx="54864" cy="402336"/>
          </a:xfrm>
          <a:prstGeom prst="rect">
            <a:avLst/>
          </a:prstGeom>
          <a:solidFill>
            <a:srgbClr val="EF4444"/>
          </a:solidFill>
          <a:ln w="12700">
            <a:solidFill>
              <a:srgbClr val="333333"/>
            </a:solidFill>
            <a:prstDash val="solid"/>
          </a:ln>
        </p:spPr>
      </p:sp>
      <p:sp>
        <p:nvSpPr>
          <p:cNvPr id="39" name="Text 37"/>
          <p:cNvSpPr/>
          <p:nvPr/>
        </p:nvSpPr>
        <p:spPr>
          <a:xfrm>
            <a:off x="4892040" y="4284610"/>
            <a:ext cx="1645920" cy="329184"/>
          </a:xfrm>
          <a:prstGeom prst="rect">
            <a:avLst/>
          </a:prstGeom>
          <a:noFill/>
          <a:ln/>
        </p:spPr>
        <p:txBody>
          <a:bodyPr wrap="square" lIns="0" tIns="0" rIns="0" bIns="0" rtlCol="0" anchor="ctr"/>
          <a:lstStyle/>
          <a:p>
            <a:pPr marL="0" indent="0">
              <a:buNone/>
            </a:pPr>
            <a:r>
              <a:rPr lang="en-US" sz="1000" b="1" dirty="0">
                <a:solidFill>
                  <a:srgbClr val="EF4444"/>
                </a:solidFill>
                <a:latin typeface="Arial" pitchFamily="34" charset="0"/>
                <a:ea typeface="Arial" pitchFamily="34" charset="-122"/>
                <a:cs typeface="Arial" pitchFamily="34" charset="-120"/>
              </a:rPr>
              <a:t>Power Query</a:t>
            </a:r>
            <a:endParaRPr lang="en-US" sz="1000" dirty="0"/>
          </a:p>
        </p:txBody>
      </p:sp>
      <p:sp>
        <p:nvSpPr>
          <p:cNvPr id="40" name="Text 38"/>
          <p:cNvSpPr/>
          <p:nvPr/>
        </p:nvSpPr>
        <p:spPr>
          <a:xfrm>
            <a:off x="6492240" y="4276779"/>
            <a:ext cx="2194560" cy="329184"/>
          </a:xfrm>
          <a:prstGeom prst="rect">
            <a:avLst/>
          </a:prstGeom>
          <a:noFill/>
          <a:ln/>
        </p:spPr>
        <p:txBody>
          <a:bodyPr wrap="square" lIns="0" tIns="0" rIns="0" bIns="0" rtlCol="0" anchor="ctr"/>
          <a:lstStyle/>
          <a:p>
            <a:pPr marL="0" indent="0">
              <a:buNone/>
            </a:pPr>
            <a:r>
              <a:rPr lang="en-US" sz="950" dirty="0">
                <a:solidFill>
                  <a:srgbClr val="CBD5E1"/>
                </a:solidFill>
                <a:latin typeface="Calibri" pitchFamily="34" charset="0"/>
                <a:ea typeface="Calibri" pitchFamily="34" charset="-122"/>
                <a:cs typeface="Calibri" pitchFamily="34" charset="-120"/>
              </a:rPr>
              <a:t>Data type fixing &amp; transformation</a:t>
            </a:r>
            <a:endParaRPr lang="en-US" sz="950" dirty="0"/>
          </a:p>
        </p:txBody>
      </p:sp>
      <p:sp>
        <p:nvSpPr>
          <p:cNvPr id="41" name="Shape 39"/>
          <p:cNvSpPr/>
          <p:nvPr/>
        </p:nvSpPr>
        <p:spPr>
          <a:xfrm>
            <a:off x="0" y="5070348"/>
            <a:ext cx="9144000" cy="73152"/>
          </a:xfrm>
          <a:prstGeom prst="rect">
            <a:avLst/>
          </a:prstGeom>
          <a:solidFill>
            <a:srgbClr val="00B4D8"/>
          </a:solidFill>
          <a:ln w="12700">
            <a:solidFill>
              <a:srgbClr val="333333"/>
            </a:solidFill>
            <a:prstDash val="solid"/>
          </a:ln>
        </p:spPr>
      </p:sp>
      <p:sp>
        <p:nvSpPr>
          <p:cNvPr id="42" name="Text 40"/>
          <p:cNvSpPr/>
          <p:nvPr/>
        </p:nvSpPr>
        <p:spPr>
          <a:xfrm>
            <a:off x="-13063" y="4745094"/>
            <a:ext cx="9144000" cy="292608"/>
          </a:xfrm>
          <a:prstGeom prst="rect">
            <a:avLst/>
          </a:prstGeom>
          <a:noFill/>
          <a:ln/>
        </p:spPr>
        <p:txBody>
          <a:bodyPr wrap="square" rtlCol="0" anchor="ctr"/>
          <a:lstStyle/>
          <a:p>
            <a:pPr marL="0" indent="0" algn="ctr">
              <a:buNone/>
            </a:pPr>
            <a:r>
              <a:rPr lang="en-US" sz="1100" i="1" dirty="0">
                <a:solidFill>
                  <a:srgbClr val="94A3B8"/>
                </a:solidFill>
                <a:latin typeface="Calibri" pitchFamily="34" charset="0"/>
                <a:ea typeface="Calibri" pitchFamily="34" charset="-122"/>
                <a:cs typeface="Calibri" pitchFamily="34" charset="-120"/>
              </a:rPr>
              <a:t>Thank You</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67</TotalTime>
  <Words>1036</Words>
  <Application>Microsoft Office PowerPoint</Application>
  <PresentationFormat>On-screen Show (16:9)</PresentationFormat>
  <Paragraphs>200</Paragraphs>
  <Slides>10</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Arial Black</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Drug &amp; Medicine Analysis</dc:title>
  <dc:subject>PptxGenJS Presentation</dc:subject>
  <dc:creator>PptxGenJS</dc:creator>
  <cp:lastModifiedBy>RANJAN KUMAR DWIVEDY</cp:lastModifiedBy>
  <cp:revision>5</cp:revision>
  <dcterms:created xsi:type="dcterms:W3CDTF">2026-05-06T09:21:03Z</dcterms:created>
  <dcterms:modified xsi:type="dcterms:W3CDTF">2026-05-06T10:35:15Z</dcterms:modified>
</cp:coreProperties>
</file>